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04" r:id="rId1"/>
  </p:sldMasterIdLst>
  <p:notesMasterIdLst>
    <p:notesMasterId r:id="rId36"/>
  </p:notesMasterIdLst>
  <p:handoutMasterIdLst>
    <p:handoutMasterId r:id="rId37"/>
  </p:handoutMasterIdLst>
  <p:sldIdLst>
    <p:sldId id="267" r:id="rId2"/>
    <p:sldId id="398" r:id="rId3"/>
    <p:sldId id="330" r:id="rId4"/>
    <p:sldId id="329" r:id="rId5"/>
    <p:sldId id="331" r:id="rId6"/>
    <p:sldId id="332" r:id="rId7"/>
    <p:sldId id="364" r:id="rId8"/>
    <p:sldId id="333" r:id="rId9"/>
    <p:sldId id="414" r:id="rId10"/>
    <p:sldId id="415" r:id="rId11"/>
    <p:sldId id="361" r:id="rId12"/>
    <p:sldId id="362" r:id="rId13"/>
    <p:sldId id="335" r:id="rId14"/>
    <p:sldId id="363" r:id="rId15"/>
    <p:sldId id="427" r:id="rId16"/>
    <p:sldId id="336" r:id="rId17"/>
    <p:sldId id="338" r:id="rId18"/>
    <p:sldId id="339" r:id="rId19"/>
    <p:sldId id="342" r:id="rId20"/>
    <p:sldId id="343" r:id="rId21"/>
    <p:sldId id="384" r:id="rId22"/>
    <p:sldId id="346" r:id="rId23"/>
    <p:sldId id="418" r:id="rId24"/>
    <p:sldId id="421" r:id="rId25"/>
    <p:sldId id="425" r:id="rId26"/>
    <p:sldId id="347" r:id="rId27"/>
    <p:sldId id="385" r:id="rId28"/>
    <p:sldId id="365" r:id="rId29"/>
    <p:sldId id="366" r:id="rId30"/>
    <p:sldId id="345" r:id="rId31"/>
    <p:sldId id="349" r:id="rId32"/>
    <p:sldId id="400" r:id="rId33"/>
    <p:sldId id="416" r:id="rId34"/>
    <p:sldId id="387" r:id="rId35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0000"/>
    <a:srgbClr val="00CC00"/>
    <a:srgbClr val="000066"/>
    <a:srgbClr val="FFFF00"/>
    <a:srgbClr val="FF99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 autoAdjust="0"/>
    <p:restoredTop sz="93605"/>
  </p:normalViewPr>
  <p:slideViewPr>
    <p:cSldViewPr>
      <p:cViewPr varScale="1">
        <p:scale>
          <a:sx n="59" d="100"/>
          <a:sy n="59" d="100"/>
        </p:scale>
        <p:origin x="40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81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36985C-20B5-0243-B39D-EA784EE1D01D}" type="doc">
      <dgm:prSet loTypeId="urn:microsoft.com/office/officeart/2005/8/layout/orgChart1" loCatId="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88146B8-7695-2748-A7D9-881FE865B9F3}">
      <dgm:prSet phldrT="[Text]"/>
      <dgm:spPr/>
      <dgm:t>
        <a:bodyPr/>
        <a:lstStyle/>
        <a:p>
          <a:r>
            <a:rPr lang="en-US"/>
            <a:t>NBA</a:t>
          </a:r>
          <a:endParaRPr lang="en-US" dirty="0"/>
        </a:p>
      </dgm:t>
    </dgm:pt>
    <dgm:pt modelId="{C90AE395-8725-0743-8119-877A43BFF072}" type="parTrans" cxnId="{576A3AAE-71D9-EA41-A650-DC8F8592BAC7}">
      <dgm:prSet/>
      <dgm:spPr/>
      <dgm:t>
        <a:bodyPr/>
        <a:lstStyle/>
        <a:p>
          <a:endParaRPr lang="en-US"/>
        </a:p>
      </dgm:t>
    </dgm:pt>
    <dgm:pt modelId="{FA18AB5D-99CB-8C4B-8A44-09D19C54A7CB}" type="sibTrans" cxnId="{576A3AAE-71D9-EA41-A650-DC8F8592BAC7}">
      <dgm:prSet/>
      <dgm:spPr/>
      <dgm:t>
        <a:bodyPr/>
        <a:lstStyle/>
        <a:p>
          <a:endParaRPr lang="en-US"/>
        </a:p>
      </dgm:t>
    </dgm:pt>
    <dgm:pt modelId="{D7985C1D-6383-A14E-BDCD-4385E6EF5E7E}">
      <dgm:prSet phldrT="[Text]"/>
      <dgm:spPr/>
      <dgm:t>
        <a:bodyPr/>
        <a:lstStyle/>
        <a:p>
          <a:r>
            <a:rPr lang="en-US" dirty="0"/>
            <a:t>West Conference</a:t>
          </a:r>
        </a:p>
      </dgm:t>
    </dgm:pt>
    <dgm:pt modelId="{D3560930-1310-8047-A543-DA5B0B35CD2B}" type="parTrans" cxnId="{646350AD-D081-7246-95E2-D05FF7A31A67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9A198E1C-2CCB-8740-A15F-8F74D43F2B35}" type="sibTrans" cxnId="{646350AD-D081-7246-95E2-D05FF7A31A67}">
      <dgm:prSet/>
      <dgm:spPr/>
      <dgm:t>
        <a:bodyPr/>
        <a:lstStyle/>
        <a:p>
          <a:endParaRPr lang="en-US"/>
        </a:p>
      </dgm:t>
    </dgm:pt>
    <dgm:pt modelId="{E447D086-DEBD-DF46-9490-E12DACC1C196}">
      <dgm:prSet phldrT="[Text]"/>
      <dgm:spPr/>
      <dgm:t>
        <a:bodyPr/>
        <a:lstStyle/>
        <a:p>
          <a:r>
            <a:rPr lang="en-US" dirty="0"/>
            <a:t>East Conference</a:t>
          </a:r>
        </a:p>
      </dgm:t>
    </dgm:pt>
    <dgm:pt modelId="{61294FAC-F9A3-944F-883C-76CFC837D811}" type="parTrans" cxnId="{3D47E0FA-AA9A-404A-950B-B62D2F4DB56B}">
      <dgm:prSet>
        <dgm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2B530D55-90F2-AE45-847E-4F56DBEAABA3}" type="sibTrans" cxnId="{3D47E0FA-AA9A-404A-950B-B62D2F4DB56B}">
      <dgm:prSet/>
      <dgm:spPr/>
      <dgm:t>
        <a:bodyPr/>
        <a:lstStyle/>
        <a:p>
          <a:endParaRPr lang="en-US"/>
        </a:p>
      </dgm:t>
    </dgm:pt>
    <dgm:pt modelId="{F0344B95-6669-2946-898A-C484FD1DC633}" type="pres">
      <dgm:prSet presAssocID="{D136985C-20B5-0243-B39D-EA784EE1D01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565BDB7-CDB4-3B44-86A4-398A2D94ED04}" type="pres">
      <dgm:prSet presAssocID="{188146B8-7695-2748-A7D9-881FE865B9F3}" presName="hierRoot1" presStyleCnt="0">
        <dgm:presLayoutVars>
          <dgm:hierBranch val="init"/>
        </dgm:presLayoutVars>
      </dgm:prSet>
      <dgm:spPr/>
    </dgm:pt>
    <dgm:pt modelId="{4337ECF5-FB3A-734C-A1BD-6029B9E753A7}" type="pres">
      <dgm:prSet presAssocID="{188146B8-7695-2748-A7D9-881FE865B9F3}" presName="rootComposite1" presStyleCnt="0"/>
      <dgm:spPr/>
    </dgm:pt>
    <dgm:pt modelId="{E1A7725C-7F35-B64C-951C-8663C080980C}" type="pres">
      <dgm:prSet presAssocID="{188146B8-7695-2748-A7D9-881FE865B9F3}" presName="rootText1" presStyleLbl="node0" presStyleIdx="0" presStyleCnt="1">
        <dgm:presLayoutVars>
          <dgm:chPref val="3"/>
        </dgm:presLayoutVars>
      </dgm:prSet>
      <dgm:spPr/>
    </dgm:pt>
    <dgm:pt modelId="{1E19FE20-B361-E140-8901-609C12FBA82C}" type="pres">
      <dgm:prSet presAssocID="{188146B8-7695-2748-A7D9-881FE865B9F3}" presName="rootConnector1" presStyleLbl="node1" presStyleIdx="0" presStyleCnt="0"/>
      <dgm:spPr/>
    </dgm:pt>
    <dgm:pt modelId="{8FE08A85-FA4E-6145-82AF-4CB7BD814948}" type="pres">
      <dgm:prSet presAssocID="{188146B8-7695-2748-A7D9-881FE865B9F3}" presName="hierChild2" presStyleCnt="0"/>
      <dgm:spPr/>
    </dgm:pt>
    <dgm:pt modelId="{583C648F-0803-4D4D-98BF-DF5EB900A7D4}" type="pres">
      <dgm:prSet presAssocID="{D3560930-1310-8047-A543-DA5B0B35CD2B}" presName="Name37" presStyleLbl="parChTrans1D2" presStyleIdx="0" presStyleCnt="2"/>
      <dgm:spPr/>
    </dgm:pt>
    <dgm:pt modelId="{2D674BF8-22B1-D742-961D-9D127367AF91}" type="pres">
      <dgm:prSet presAssocID="{D7985C1D-6383-A14E-BDCD-4385E6EF5E7E}" presName="hierRoot2" presStyleCnt="0">
        <dgm:presLayoutVars>
          <dgm:hierBranch val="init"/>
        </dgm:presLayoutVars>
      </dgm:prSet>
      <dgm:spPr/>
    </dgm:pt>
    <dgm:pt modelId="{0DCBD205-9BB7-2D4E-B42F-D08521FCF0DE}" type="pres">
      <dgm:prSet presAssocID="{D7985C1D-6383-A14E-BDCD-4385E6EF5E7E}" presName="rootComposite" presStyleCnt="0"/>
      <dgm:spPr/>
    </dgm:pt>
    <dgm:pt modelId="{E6E9CE67-AD8C-754C-B8A2-E1FCAC87E403}" type="pres">
      <dgm:prSet presAssocID="{D7985C1D-6383-A14E-BDCD-4385E6EF5E7E}" presName="rootText" presStyleLbl="node2" presStyleIdx="0" presStyleCnt="2">
        <dgm:presLayoutVars>
          <dgm:chPref val="3"/>
        </dgm:presLayoutVars>
      </dgm:prSet>
      <dgm:spPr/>
    </dgm:pt>
    <dgm:pt modelId="{F5A4C07E-866A-FF46-9C4E-FFF5B0DCA7E2}" type="pres">
      <dgm:prSet presAssocID="{D7985C1D-6383-A14E-BDCD-4385E6EF5E7E}" presName="rootConnector" presStyleLbl="node2" presStyleIdx="0" presStyleCnt="2"/>
      <dgm:spPr/>
    </dgm:pt>
    <dgm:pt modelId="{7A2B20F9-C292-F449-B129-C2E08D72249F}" type="pres">
      <dgm:prSet presAssocID="{D7985C1D-6383-A14E-BDCD-4385E6EF5E7E}" presName="hierChild4" presStyleCnt="0"/>
      <dgm:spPr/>
    </dgm:pt>
    <dgm:pt modelId="{421C307B-D875-2240-8F08-413C72825C65}" type="pres">
      <dgm:prSet presAssocID="{D7985C1D-6383-A14E-BDCD-4385E6EF5E7E}" presName="hierChild5" presStyleCnt="0"/>
      <dgm:spPr/>
    </dgm:pt>
    <dgm:pt modelId="{F667148A-B821-B349-BD54-E1956550C362}" type="pres">
      <dgm:prSet presAssocID="{61294FAC-F9A3-944F-883C-76CFC837D811}" presName="Name37" presStyleLbl="parChTrans1D2" presStyleIdx="1" presStyleCnt="2"/>
      <dgm:spPr/>
    </dgm:pt>
    <dgm:pt modelId="{5BD728D4-6A57-064C-878F-4C419AAD0918}" type="pres">
      <dgm:prSet presAssocID="{E447D086-DEBD-DF46-9490-E12DACC1C196}" presName="hierRoot2" presStyleCnt="0">
        <dgm:presLayoutVars>
          <dgm:hierBranch val="init"/>
        </dgm:presLayoutVars>
      </dgm:prSet>
      <dgm:spPr/>
    </dgm:pt>
    <dgm:pt modelId="{D029E8FD-1B09-014F-8CCC-37C64D4CD305}" type="pres">
      <dgm:prSet presAssocID="{E447D086-DEBD-DF46-9490-E12DACC1C196}" presName="rootComposite" presStyleCnt="0"/>
      <dgm:spPr/>
    </dgm:pt>
    <dgm:pt modelId="{59C593D7-4B98-D943-B98E-FC875C98CCBD}" type="pres">
      <dgm:prSet presAssocID="{E447D086-DEBD-DF46-9490-E12DACC1C196}" presName="rootText" presStyleLbl="node2" presStyleIdx="1" presStyleCnt="2">
        <dgm:presLayoutVars>
          <dgm:chPref val="3"/>
        </dgm:presLayoutVars>
      </dgm:prSet>
      <dgm:spPr/>
    </dgm:pt>
    <dgm:pt modelId="{F145B297-0296-0946-BEC3-F81D738A1DA4}" type="pres">
      <dgm:prSet presAssocID="{E447D086-DEBD-DF46-9490-E12DACC1C196}" presName="rootConnector" presStyleLbl="node2" presStyleIdx="1" presStyleCnt="2"/>
      <dgm:spPr/>
    </dgm:pt>
    <dgm:pt modelId="{E2F12CA1-1252-6D41-A565-37C39EDB579F}" type="pres">
      <dgm:prSet presAssocID="{E447D086-DEBD-DF46-9490-E12DACC1C196}" presName="hierChild4" presStyleCnt="0"/>
      <dgm:spPr/>
    </dgm:pt>
    <dgm:pt modelId="{7A0D1DC9-6F2D-9244-959C-5CC37ACEDE2B}" type="pres">
      <dgm:prSet presAssocID="{E447D086-DEBD-DF46-9490-E12DACC1C196}" presName="hierChild5" presStyleCnt="0"/>
      <dgm:spPr/>
    </dgm:pt>
    <dgm:pt modelId="{423048C3-3B44-4F4D-B505-26ED3DFBC3A6}" type="pres">
      <dgm:prSet presAssocID="{188146B8-7695-2748-A7D9-881FE865B9F3}" presName="hierChild3" presStyleCnt="0"/>
      <dgm:spPr/>
    </dgm:pt>
  </dgm:ptLst>
  <dgm:cxnLst>
    <dgm:cxn modelId="{F7EACB23-6A11-D148-8CCA-8CC44142E342}" type="presOf" srcId="{E447D086-DEBD-DF46-9490-E12DACC1C196}" destId="{F145B297-0296-0946-BEC3-F81D738A1DA4}" srcOrd="1" destOrd="0" presId="urn:microsoft.com/office/officeart/2005/8/layout/orgChart1"/>
    <dgm:cxn modelId="{D33BB660-44D6-8148-B7C8-85FEE23C7026}" type="presOf" srcId="{188146B8-7695-2748-A7D9-881FE865B9F3}" destId="{1E19FE20-B361-E140-8901-609C12FBA82C}" srcOrd="1" destOrd="0" presId="urn:microsoft.com/office/officeart/2005/8/layout/orgChart1"/>
    <dgm:cxn modelId="{A5AA2643-266C-BA4E-96C4-EB48EFDE4416}" type="presOf" srcId="{D7985C1D-6383-A14E-BDCD-4385E6EF5E7E}" destId="{E6E9CE67-AD8C-754C-B8A2-E1FCAC87E403}" srcOrd="0" destOrd="0" presId="urn:microsoft.com/office/officeart/2005/8/layout/orgChart1"/>
    <dgm:cxn modelId="{0FA9DB4D-6191-0340-9CB7-5B67AA603E80}" type="presOf" srcId="{188146B8-7695-2748-A7D9-881FE865B9F3}" destId="{E1A7725C-7F35-B64C-951C-8663C080980C}" srcOrd="0" destOrd="0" presId="urn:microsoft.com/office/officeart/2005/8/layout/orgChart1"/>
    <dgm:cxn modelId="{C4930698-5055-3549-9D69-4F4F9F3D717B}" type="presOf" srcId="{D3560930-1310-8047-A543-DA5B0B35CD2B}" destId="{583C648F-0803-4D4D-98BF-DF5EB900A7D4}" srcOrd="0" destOrd="0" presId="urn:microsoft.com/office/officeart/2005/8/layout/orgChart1"/>
    <dgm:cxn modelId="{646350AD-D081-7246-95E2-D05FF7A31A67}" srcId="{188146B8-7695-2748-A7D9-881FE865B9F3}" destId="{D7985C1D-6383-A14E-BDCD-4385E6EF5E7E}" srcOrd="0" destOrd="0" parTransId="{D3560930-1310-8047-A543-DA5B0B35CD2B}" sibTransId="{9A198E1C-2CCB-8740-A15F-8F74D43F2B35}"/>
    <dgm:cxn modelId="{576A3AAE-71D9-EA41-A650-DC8F8592BAC7}" srcId="{D136985C-20B5-0243-B39D-EA784EE1D01D}" destId="{188146B8-7695-2748-A7D9-881FE865B9F3}" srcOrd="0" destOrd="0" parTransId="{C90AE395-8725-0743-8119-877A43BFF072}" sibTransId="{FA18AB5D-99CB-8C4B-8A44-09D19C54A7CB}"/>
    <dgm:cxn modelId="{B74C59B1-B350-7147-8497-240C866FD84A}" type="presOf" srcId="{D7985C1D-6383-A14E-BDCD-4385E6EF5E7E}" destId="{F5A4C07E-866A-FF46-9C4E-FFF5B0DCA7E2}" srcOrd="1" destOrd="0" presId="urn:microsoft.com/office/officeart/2005/8/layout/orgChart1"/>
    <dgm:cxn modelId="{549F39BB-FB4E-AF47-A8AA-6A37FE8E8361}" type="presOf" srcId="{61294FAC-F9A3-944F-883C-76CFC837D811}" destId="{F667148A-B821-B349-BD54-E1956550C362}" srcOrd="0" destOrd="0" presId="urn:microsoft.com/office/officeart/2005/8/layout/orgChart1"/>
    <dgm:cxn modelId="{CC11D4E4-EE72-8447-AE2B-8AD424443809}" type="presOf" srcId="{E447D086-DEBD-DF46-9490-E12DACC1C196}" destId="{59C593D7-4B98-D943-B98E-FC875C98CCBD}" srcOrd="0" destOrd="0" presId="urn:microsoft.com/office/officeart/2005/8/layout/orgChart1"/>
    <dgm:cxn modelId="{E9BB1BF8-0637-9344-89E6-7947B79FCA93}" type="presOf" srcId="{D136985C-20B5-0243-B39D-EA784EE1D01D}" destId="{F0344B95-6669-2946-898A-C484FD1DC633}" srcOrd="0" destOrd="0" presId="urn:microsoft.com/office/officeart/2005/8/layout/orgChart1"/>
    <dgm:cxn modelId="{3D47E0FA-AA9A-404A-950B-B62D2F4DB56B}" srcId="{188146B8-7695-2748-A7D9-881FE865B9F3}" destId="{E447D086-DEBD-DF46-9490-E12DACC1C196}" srcOrd="1" destOrd="0" parTransId="{61294FAC-F9A3-944F-883C-76CFC837D811}" sibTransId="{2B530D55-90F2-AE45-847E-4F56DBEAABA3}"/>
    <dgm:cxn modelId="{5A94B656-7799-2240-8BF1-A088CD79248A}" type="presParOf" srcId="{F0344B95-6669-2946-898A-C484FD1DC633}" destId="{6565BDB7-CDB4-3B44-86A4-398A2D94ED04}" srcOrd="0" destOrd="0" presId="urn:microsoft.com/office/officeart/2005/8/layout/orgChart1"/>
    <dgm:cxn modelId="{7FA98DE9-C4A5-9846-AAE2-F57531F525AF}" type="presParOf" srcId="{6565BDB7-CDB4-3B44-86A4-398A2D94ED04}" destId="{4337ECF5-FB3A-734C-A1BD-6029B9E753A7}" srcOrd="0" destOrd="0" presId="urn:microsoft.com/office/officeart/2005/8/layout/orgChart1"/>
    <dgm:cxn modelId="{8823E997-3C1A-E34C-9E6F-AB49060F34D7}" type="presParOf" srcId="{4337ECF5-FB3A-734C-A1BD-6029B9E753A7}" destId="{E1A7725C-7F35-B64C-951C-8663C080980C}" srcOrd="0" destOrd="0" presId="urn:microsoft.com/office/officeart/2005/8/layout/orgChart1"/>
    <dgm:cxn modelId="{E65249A8-5937-0648-8216-BCDDECF7AA92}" type="presParOf" srcId="{4337ECF5-FB3A-734C-A1BD-6029B9E753A7}" destId="{1E19FE20-B361-E140-8901-609C12FBA82C}" srcOrd="1" destOrd="0" presId="urn:microsoft.com/office/officeart/2005/8/layout/orgChart1"/>
    <dgm:cxn modelId="{661D18C7-3B79-7F46-9145-316B15EEC1E4}" type="presParOf" srcId="{6565BDB7-CDB4-3B44-86A4-398A2D94ED04}" destId="{8FE08A85-FA4E-6145-82AF-4CB7BD814948}" srcOrd="1" destOrd="0" presId="urn:microsoft.com/office/officeart/2005/8/layout/orgChart1"/>
    <dgm:cxn modelId="{CEB46C17-0144-0F4D-8617-99DB3D96073D}" type="presParOf" srcId="{8FE08A85-FA4E-6145-82AF-4CB7BD814948}" destId="{583C648F-0803-4D4D-98BF-DF5EB900A7D4}" srcOrd="0" destOrd="0" presId="urn:microsoft.com/office/officeart/2005/8/layout/orgChart1"/>
    <dgm:cxn modelId="{8583C833-23D4-6E44-99A3-DE0BBC86E475}" type="presParOf" srcId="{8FE08A85-FA4E-6145-82AF-4CB7BD814948}" destId="{2D674BF8-22B1-D742-961D-9D127367AF91}" srcOrd="1" destOrd="0" presId="urn:microsoft.com/office/officeart/2005/8/layout/orgChart1"/>
    <dgm:cxn modelId="{EC219332-7783-4741-A863-FEAAC3DEE416}" type="presParOf" srcId="{2D674BF8-22B1-D742-961D-9D127367AF91}" destId="{0DCBD205-9BB7-2D4E-B42F-D08521FCF0DE}" srcOrd="0" destOrd="0" presId="urn:microsoft.com/office/officeart/2005/8/layout/orgChart1"/>
    <dgm:cxn modelId="{D5D11277-CA9E-E24B-A934-EB32AF7E81F2}" type="presParOf" srcId="{0DCBD205-9BB7-2D4E-B42F-D08521FCF0DE}" destId="{E6E9CE67-AD8C-754C-B8A2-E1FCAC87E403}" srcOrd="0" destOrd="0" presId="urn:microsoft.com/office/officeart/2005/8/layout/orgChart1"/>
    <dgm:cxn modelId="{003A455D-447B-5A46-86DC-B5B667811B69}" type="presParOf" srcId="{0DCBD205-9BB7-2D4E-B42F-D08521FCF0DE}" destId="{F5A4C07E-866A-FF46-9C4E-FFF5B0DCA7E2}" srcOrd="1" destOrd="0" presId="urn:microsoft.com/office/officeart/2005/8/layout/orgChart1"/>
    <dgm:cxn modelId="{FA2832CB-DAB4-8149-B1E9-29D33D018253}" type="presParOf" srcId="{2D674BF8-22B1-D742-961D-9D127367AF91}" destId="{7A2B20F9-C292-F449-B129-C2E08D72249F}" srcOrd="1" destOrd="0" presId="urn:microsoft.com/office/officeart/2005/8/layout/orgChart1"/>
    <dgm:cxn modelId="{6CB8B747-5FAC-2A48-A96D-26F9A264392B}" type="presParOf" srcId="{2D674BF8-22B1-D742-961D-9D127367AF91}" destId="{421C307B-D875-2240-8F08-413C72825C65}" srcOrd="2" destOrd="0" presId="urn:microsoft.com/office/officeart/2005/8/layout/orgChart1"/>
    <dgm:cxn modelId="{136CB528-D92B-5746-98FB-BE9C5678D1EC}" type="presParOf" srcId="{8FE08A85-FA4E-6145-82AF-4CB7BD814948}" destId="{F667148A-B821-B349-BD54-E1956550C362}" srcOrd="2" destOrd="0" presId="urn:microsoft.com/office/officeart/2005/8/layout/orgChart1"/>
    <dgm:cxn modelId="{9EE66F17-8034-994F-B679-5F079D53D564}" type="presParOf" srcId="{8FE08A85-FA4E-6145-82AF-4CB7BD814948}" destId="{5BD728D4-6A57-064C-878F-4C419AAD0918}" srcOrd="3" destOrd="0" presId="urn:microsoft.com/office/officeart/2005/8/layout/orgChart1"/>
    <dgm:cxn modelId="{1C191E68-80AF-A14A-AF3F-B2CE5FC07AA2}" type="presParOf" srcId="{5BD728D4-6A57-064C-878F-4C419AAD0918}" destId="{D029E8FD-1B09-014F-8CCC-37C64D4CD305}" srcOrd="0" destOrd="0" presId="urn:microsoft.com/office/officeart/2005/8/layout/orgChart1"/>
    <dgm:cxn modelId="{F7C33AB4-4071-4642-B9B4-6D7ACA1A61DE}" type="presParOf" srcId="{D029E8FD-1B09-014F-8CCC-37C64D4CD305}" destId="{59C593D7-4B98-D943-B98E-FC875C98CCBD}" srcOrd="0" destOrd="0" presId="urn:microsoft.com/office/officeart/2005/8/layout/orgChart1"/>
    <dgm:cxn modelId="{1E5910E3-B2DD-D845-BF3D-7BFDB459DDC7}" type="presParOf" srcId="{D029E8FD-1B09-014F-8CCC-37C64D4CD305}" destId="{F145B297-0296-0946-BEC3-F81D738A1DA4}" srcOrd="1" destOrd="0" presId="urn:microsoft.com/office/officeart/2005/8/layout/orgChart1"/>
    <dgm:cxn modelId="{DAB79747-3269-EF43-BBFC-371C544B4921}" type="presParOf" srcId="{5BD728D4-6A57-064C-878F-4C419AAD0918}" destId="{E2F12CA1-1252-6D41-A565-37C39EDB579F}" srcOrd="1" destOrd="0" presId="urn:microsoft.com/office/officeart/2005/8/layout/orgChart1"/>
    <dgm:cxn modelId="{E18D0AE7-3526-5942-8776-5593C87BFA75}" type="presParOf" srcId="{5BD728D4-6A57-064C-878F-4C419AAD0918}" destId="{7A0D1DC9-6F2D-9244-959C-5CC37ACEDE2B}" srcOrd="2" destOrd="0" presId="urn:microsoft.com/office/officeart/2005/8/layout/orgChart1"/>
    <dgm:cxn modelId="{F354D514-0338-D94A-BA9D-911BBD71164C}" type="presParOf" srcId="{6565BDB7-CDB4-3B44-86A4-398A2D94ED04}" destId="{423048C3-3B44-4F4D-B505-26ED3DFBC3A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7148A-B821-B349-BD54-E1956550C362}">
      <dsp:nvSpPr>
        <dsp:cNvPr id="0" name=""/>
        <dsp:cNvSpPr/>
      </dsp:nvSpPr>
      <dsp:spPr>
        <a:xfrm>
          <a:off x="3619500" y="850320"/>
          <a:ext cx="1027804" cy="3567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8379"/>
              </a:lnTo>
              <a:lnTo>
                <a:pt x="1027804" y="178379"/>
              </a:lnTo>
              <a:lnTo>
                <a:pt x="1027804" y="356758"/>
              </a:lnTo>
            </a:path>
          </a:pathLst>
        </a:custGeom>
        <a:noFill/>
        <a:ln w="6350" cap="rnd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583C648F-0803-4D4D-98BF-DF5EB900A7D4}">
      <dsp:nvSpPr>
        <dsp:cNvPr id="0" name=""/>
        <dsp:cNvSpPr/>
      </dsp:nvSpPr>
      <dsp:spPr>
        <a:xfrm>
          <a:off x="2591695" y="850320"/>
          <a:ext cx="1027804" cy="356758"/>
        </a:xfrm>
        <a:custGeom>
          <a:avLst/>
          <a:gdLst/>
          <a:ahLst/>
          <a:cxnLst/>
          <a:rect l="0" t="0" r="0" b="0"/>
          <a:pathLst>
            <a:path>
              <a:moveTo>
                <a:pt x="1027804" y="0"/>
              </a:moveTo>
              <a:lnTo>
                <a:pt x="1027804" y="178379"/>
              </a:lnTo>
              <a:lnTo>
                <a:pt x="0" y="178379"/>
              </a:lnTo>
              <a:lnTo>
                <a:pt x="0" y="356758"/>
              </a:lnTo>
            </a:path>
          </a:pathLst>
        </a:custGeom>
        <a:noFill/>
        <a:ln w="6350" cap="rnd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/>
      </dsp:spPr>
      <dsp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dsp:style>
    </dsp:sp>
    <dsp:sp modelId="{E1A7725C-7F35-B64C-951C-8663C080980C}">
      <dsp:nvSpPr>
        <dsp:cNvPr id="0" name=""/>
        <dsp:cNvSpPr/>
      </dsp:nvSpPr>
      <dsp:spPr>
        <a:xfrm>
          <a:off x="2770075" y="895"/>
          <a:ext cx="1698849" cy="84942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5000" dist="25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NBA</a:t>
          </a:r>
          <a:endParaRPr lang="en-US" sz="2800" kern="1200" dirty="0"/>
        </a:p>
      </dsp:txBody>
      <dsp:txXfrm>
        <a:off x="2770075" y="895"/>
        <a:ext cx="1698849" cy="849424"/>
      </dsp:txXfrm>
    </dsp:sp>
    <dsp:sp modelId="{E6E9CE67-AD8C-754C-B8A2-E1FCAC87E403}">
      <dsp:nvSpPr>
        <dsp:cNvPr id="0" name=""/>
        <dsp:cNvSpPr/>
      </dsp:nvSpPr>
      <dsp:spPr>
        <a:xfrm>
          <a:off x="1742270" y="1207079"/>
          <a:ext cx="1698849" cy="84942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5000" dist="25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West Conference</a:t>
          </a:r>
        </a:p>
      </dsp:txBody>
      <dsp:txXfrm>
        <a:off x="1742270" y="1207079"/>
        <a:ext cx="1698849" cy="849424"/>
      </dsp:txXfrm>
    </dsp:sp>
    <dsp:sp modelId="{59C593D7-4B98-D943-B98E-FC875C98CCBD}">
      <dsp:nvSpPr>
        <dsp:cNvPr id="0" name=""/>
        <dsp:cNvSpPr/>
      </dsp:nvSpPr>
      <dsp:spPr>
        <a:xfrm>
          <a:off x="3797879" y="1207079"/>
          <a:ext cx="1698849" cy="84942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5000" dist="25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East Conference</a:t>
          </a:r>
        </a:p>
      </dsp:txBody>
      <dsp:txXfrm>
        <a:off x="3797879" y="1207079"/>
        <a:ext cx="1698849" cy="849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3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4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5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fld id="{20971BA2-DEA2-4152-8DD0-2AB1EB9C61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278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fld id="{532E4D31-353D-4948-9AC1-D8168A298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191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09178211-5928-4652-99CC-5846248F690F}" type="slidenum">
              <a:rPr lang="en-US" sz="1300">
                <a:latin typeface="Times New Roman" pitchFamily="18" charset="0"/>
                <a:ea typeface="ＭＳ Ｐゴシック" pitchFamily="34" charset="-128"/>
              </a:rPr>
              <a:pPr algn="r" defTabSz="966788" eaLnBrk="0" hangingPunct="0"/>
              <a:t>1</a:t>
            </a:fld>
            <a:endParaRPr lang="en-US" sz="13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215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00" y="1122363"/>
            <a:ext cx="10668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800" y="3602038"/>
            <a:ext cx="10668000" cy="2341562"/>
          </a:xfrm>
        </p:spPr>
        <p:txBody>
          <a:bodyPr/>
          <a:lstStyle>
            <a:lvl1pPr marL="0" indent="0" algn="ctr">
              <a:buNone/>
              <a:defRPr sz="2400" b="0" i="0">
                <a:latin typeface="Candara" panose="020E0502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19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987552"/>
          </a:xfrm>
        </p:spPr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vert="horz" lIns="54864" tIns="9144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006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295400"/>
            <a:ext cx="5384800" cy="5504688"/>
          </a:xfrm>
        </p:spPr>
        <p:txBody>
          <a:bodyPr lIns="91440"/>
          <a:lstStyle>
            <a:lvl1pPr marL="233363" indent="-222250" eaLnBrk="1" latinLnBrk="0" hangingPunct="1">
              <a:tabLst/>
              <a:defRPr sz="2800"/>
            </a:lvl1pPr>
            <a:lvl2pPr marL="458788" indent="-225425" eaLnBrk="1" latinLnBrk="0" hangingPunct="1">
              <a:tabLst/>
              <a:defRPr sz="2400"/>
            </a:lvl2pPr>
            <a:lvl3pPr marL="628650" indent="-169863" eaLnBrk="1" latinLnBrk="0" hangingPunct="1">
              <a:tabLst/>
              <a:defRPr sz="2000"/>
            </a:lvl3pPr>
            <a:lvl4pPr marL="1087438" indent="-292100" eaLnBrk="1" latinLnBrk="0" hangingPunct="1">
              <a:tabLst/>
              <a:defRPr sz="1800"/>
            </a:lvl4pPr>
            <a:lvl5pPr marL="1492250" indent="-203200" eaLnBrk="1" latinLnBrk="0" hangingPunct="1">
              <a:tabLst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95400"/>
            <a:ext cx="5384800" cy="5504688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928D94-5AF3-417D-8161-8A72D3D0BE7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95009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1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023338"/>
            <a:ext cx="5386917" cy="4377462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  <a:endParaRPr kumimoji="0"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295401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2023338"/>
            <a:ext cx="5389033" cy="4377462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8B3E32-0AB1-4669-BD06-674DD0B92D7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955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928D94-5AF3-417D-8161-8A72D3D0BE7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057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7ADD18-B385-43CA-A028-60B8683F8D7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502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600200"/>
            <a:ext cx="10363200" cy="2247900"/>
          </a:xfrm>
        </p:spPr>
        <p:txBody>
          <a:bodyPr/>
          <a:lstStyle>
            <a:lvl1pPr>
              <a:spcBef>
                <a:spcPts val="1800"/>
              </a:spcBef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200" y="4000500"/>
            <a:ext cx="10363200" cy="2247900"/>
          </a:xfrm>
        </p:spPr>
        <p:txBody>
          <a:bodyPr/>
          <a:lstStyle>
            <a:lvl1pPr>
              <a:spcBef>
                <a:spcPts val="1800"/>
              </a:spcBef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CE916C1-9D63-436E-A529-8488414E1E0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10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19201"/>
            <a:ext cx="10972800" cy="5334001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9195" y="6583680"/>
            <a:ext cx="978485" cy="274320"/>
          </a:xfrm>
          <a:prstGeom prst="rect">
            <a:avLst/>
          </a:prstGeom>
        </p:spPr>
        <p:txBody>
          <a:bodyPr vert="horz" bIns="0" rtlCol="0" anchor="ctr" anchorCtr="0"/>
          <a:lstStyle>
            <a:lvl1pPr algn="r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pPr>
              <a:defRPr/>
            </a:pPr>
            <a:fld id="{61928D94-5AF3-417D-8161-8A72D3D0BE7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35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i="0" kern="1200">
          <a:solidFill>
            <a:schemeClr val="tx1"/>
          </a:solidFill>
          <a:effectLst/>
          <a:latin typeface="Candara" panose="020E0502030303020204" pitchFamily="34" charset="0"/>
          <a:ea typeface="+mj-ea"/>
          <a:cs typeface="Calibri" panose="020F0502020204030204" pitchFamily="34" charset="0"/>
        </a:defRPr>
      </a:lvl1pPr>
      <a:extLst/>
    </p:titleStyle>
    <p:bodyStyle>
      <a:lvl1pPr marL="350838" indent="-339725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kumimoji="0" sz="32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1pPr>
      <a:lvl2pPr marL="628650" indent="-277813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kumimoji="0" sz="28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2pPr>
      <a:lvl3pPr marL="863600" indent="-234950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tabLst/>
        <a:defRPr kumimoji="0" sz="24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3pPr>
      <a:lvl4pPr marL="1087438" indent="-223838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tabLst/>
        <a:defRPr kumimoji="0" sz="20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4pPr>
      <a:lvl5pPr marL="1604963" indent="-223838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Wingdings" pitchFamily="2" charset="2"/>
        <a:buChar char="§"/>
        <a:tabLst/>
        <a:defRPr kumimoji="0" lang="en-US" sz="2000" kern="1200" smtClean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5400" dirty="0">
                <a:ea typeface="ＭＳ Ｐゴシック" pitchFamily="34" charset="-128"/>
              </a:rPr>
              <a:t>Persistence: Fast File System and Journaling</a:t>
            </a:r>
          </a:p>
        </p:txBody>
      </p:sp>
      <p:sp>
        <p:nvSpPr>
          <p:cNvPr id="18436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a typeface="ＭＳ Ｐゴシック" pitchFamily="34" charset="-128"/>
              </a:rPr>
              <a:t>Dr. Probir Roy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B00886-D739-364A-BC85-78A650705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648201"/>
            <a:ext cx="7162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Some slides are modified from </a:t>
            </a:r>
          </a:p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* Dr.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Shengquan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Wang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Operating Systems: Three Easy Pieces, by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Remzi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H.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Arpaci-Dusseau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and Andrea C.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Arpaci-Dusseau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Operating System Concepts, 8th edition, by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Silberschatz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, Galvin, Gagne, John Wiley &amp; Sons, 2009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Problems of </a:t>
            </a:r>
            <a:r>
              <a:rPr lang="en-US" dirty="0" err="1"/>
              <a:t>vsfs</a:t>
            </a:r>
            <a:r>
              <a:rPr lang="en-US" dirty="0"/>
              <a:t>: poor performance (1)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only delivered only 2% of overall disk bandwidth since the data blocks may be very far away from their </a:t>
            </a:r>
            <a:r>
              <a:rPr lang="en-US" dirty="0" err="1"/>
              <a:t>inodes</a:t>
            </a:r>
            <a:r>
              <a:rPr lang="en-US" dirty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56842B-2271-2B4A-9410-E54E0A960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352800"/>
            <a:ext cx="8997327" cy="196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3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Problems of </a:t>
            </a:r>
            <a:r>
              <a:rPr lang="en-US" dirty="0" err="1"/>
              <a:t>vsfs</a:t>
            </a:r>
            <a:r>
              <a:rPr lang="en-US" dirty="0"/>
              <a:t>: poor performance (2)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Files are also fragmented and reading a fragmented file is slow, e.g.</a:t>
            </a:r>
          </a:p>
          <a:p>
            <a:pPr lvl="1"/>
            <a:r>
              <a:rPr lang="en-US" dirty="0"/>
              <a:t>A1  A2  B1  B2  C1  C2  D1  D2</a:t>
            </a:r>
          </a:p>
          <a:p>
            <a:pPr lvl="1"/>
            <a:r>
              <a:rPr lang="en-US" dirty="0"/>
              <a:t>A1  A2   ---   ---  C1  C2   ---   ---</a:t>
            </a:r>
          </a:p>
          <a:p>
            <a:pPr lvl="1"/>
            <a:r>
              <a:rPr lang="en-US" dirty="0"/>
              <a:t>A1  A2  E1  E2  C1  C2  E3  E4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428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Fast file system (FFS)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Questions</a:t>
            </a:r>
          </a:p>
        </p:txBody>
      </p:sp>
      <p:sp>
        <p:nvSpPr>
          <p:cNvPr id="768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How can we organize file system data structures so as to improve performance?</a:t>
            </a:r>
          </a:p>
          <a:p>
            <a:r>
              <a:rPr lang="en-US" dirty="0">
                <a:ea typeface="ＭＳ Ｐゴシック" pitchFamily="34" charset="-128"/>
              </a:rPr>
              <a:t>What types of allocation policies do we need on top of those data structures?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ＭＳ Ｐゴシック" pitchFamily="34" charset="-128"/>
              </a:rPr>
              <a:t>FFS: disk awareness is the solution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A group at Berkeley decided to build a better, faster file system, which they cleverly called the Fast File System (FFS). </a:t>
            </a:r>
          </a:p>
          <a:p>
            <a:r>
              <a:rPr lang="en-US" dirty="0">
                <a:ea typeface="ＭＳ Ｐゴシック" pitchFamily="34" charset="-128"/>
              </a:rPr>
              <a:t>The idea was to design the file system structures and allocation policies to be “disk aware” and thus improve performance.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Motivational example: NBA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09600" y="3810000"/>
            <a:ext cx="10972800" cy="274320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Games:</a:t>
            </a:r>
          </a:p>
          <a:p>
            <a:pPr lvl="1"/>
            <a:r>
              <a:rPr lang="en-US" dirty="0"/>
              <a:t>Intra-conference: 3-4 games between two teams;</a:t>
            </a:r>
          </a:p>
          <a:p>
            <a:pPr lvl="1"/>
            <a:r>
              <a:rPr lang="en-US" dirty="0"/>
              <a:t>Inter-conference: 2 games between two teams.</a:t>
            </a:r>
          </a:p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Reduce travel time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916C1-9D63-436E-A529-8488414E1E09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965600488"/>
              </p:ext>
            </p:extLst>
          </p:nvPr>
        </p:nvGraphicFramePr>
        <p:xfrm>
          <a:off x="2441326" y="1359389"/>
          <a:ext cx="7239000" cy="205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6001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Organizing structure: the cylinder group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FFS divides the disk into a bunch of groups known as cylinder groups.</a:t>
            </a:r>
          </a:p>
          <a:p>
            <a:r>
              <a:rPr lang="en-US" dirty="0"/>
              <a:t>A disk with 8 cylinder groups as follows:</a:t>
            </a:r>
          </a:p>
          <a:p>
            <a:pPr lvl="1"/>
            <a:r>
              <a:rPr lang="en-US" dirty="0"/>
              <a:t>Group0 | Group1 | Group2 | Group3 | Group4 | Group5 | Group6 | Group7</a:t>
            </a:r>
          </a:p>
          <a:p>
            <a:r>
              <a:rPr lang="en-US" dirty="0"/>
              <a:t>Each group as follows:</a:t>
            </a:r>
          </a:p>
          <a:p>
            <a:pPr lvl="1"/>
            <a:r>
              <a:rPr lang="en-US" dirty="0"/>
              <a:t>Super Block | </a:t>
            </a:r>
            <a:r>
              <a:rPr lang="en-US" dirty="0" err="1"/>
              <a:t>Inode</a:t>
            </a:r>
            <a:r>
              <a:rPr lang="en-US" dirty="0"/>
              <a:t> Bitmap | Data Bitmap | </a:t>
            </a:r>
            <a:r>
              <a:rPr lang="en-US" dirty="0" err="1"/>
              <a:t>Inodes</a:t>
            </a:r>
            <a:r>
              <a:rPr lang="en-US" dirty="0"/>
              <a:t> | Data blocks</a:t>
            </a:r>
          </a:p>
          <a:p>
            <a:pPr lvl="1"/>
            <a:r>
              <a:rPr lang="en-US" dirty="0"/>
              <a:t>Super Blocks are redundant in all groups.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91999"/>
            <a:ext cx="9144000" cy="507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6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Organizing structure: the block group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that modern drives do not export enough information for the file system to truly understand whether a particular cylinder is in use.</a:t>
            </a:r>
          </a:p>
          <a:p>
            <a:r>
              <a:rPr lang="en-US" dirty="0"/>
              <a:t>Disks export a logical address space of blocks and hide details of their geometry from clients. </a:t>
            </a:r>
          </a:p>
          <a:p>
            <a:r>
              <a:rPr lang="en-US" dirty="0"/>
              <a:t>Thus, modern file systems (such as Linux ext2, ext3, and ext4) instead organize the drive into block groups, each of which is just a consecutive portion of the disk’s address space.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563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Policies: how to allocate files and directories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basic idea is simple: </a:t>
            </a:r>
          </a:p>
          <a:p>
            <a:pPr lvl="1"/>
            <a:r>
              <a:rPr lang="en-US" dirty="0"/>
              <a:t>Keep related stuff together and keep unrelated stuff far apart.</a:t>
            </a:r>
          </a:p>
          <a:p>
            <a:r>
              <a:rPr lang="en-US" dirty="0"/>
              <a:t>For directories: find the group with </a:t>
            </a:r>
          </a:p>
          <a:p>
            <a:pPr lvl="1"/>
            <a:r>
              <a:rPr lang="en-US" dirty="0"/>
              <a:t>a low number of allocated directories to balance directories across groups;</a:t>
            </a:r>
          </a:p>
          <a:p>
            <a:pPr lvl="1"/>
            <a:r>
              <a:rPr lang="en-US" dirty="0"/>
              <a:t>a high number of free </a:t>
            </a:r>
            <a:r>
              <a:rPr lang="en-US" dirty="0" err="1"/>
              <a:t>inodes</a:t>
            </a:r>
            <a:r>
              <a:rPr lang="en-US" dirty="0"/>
              <a:t> to subsequently be able to allocate a bunch of files.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682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Policies: how to allocate files and directories (cont’d)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files:</a:t>
            </a:r>
          </a:p>
          <a:p>
            <a:pPr lvl="1"/>
            <a:r>
              <a:rPr lang="en-US" dirty="0"/>
              <a:t>Allocate the data blocks of a file in the same group as its </a:t>
            </a:r>
            <a:r>
              <a:rPr lang="en-US" dirty="0" err="1"/>
              <a:t>inode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Places all files that are in the same directory in the group of the directory they are in.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Four files: /dir1/1.txt, /dir1/2.txt, /dir1/3.txt, and /dir99/4.txt</a:t>
            </a:r>
          </a:p>
          <a:p>
            <a:pPr lvl="1"/>
            <a:r>
              <a:rPr lang="en-US" dirty="0"/>
              <a:t>FFS will put the first three near one another (same group) and the fourth far away (in some other group).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531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large files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a different rule, a large file would entirely fill its first block group (and maybe others). </a:t>
            </a:r>
          </a:p>
          <a:p>
            <a:r>
              <a:rPr lang="en-US" dirty="0"/>
              <a:t>Issues: </a:t>
            </a:r>
          </a:p>
          <a:p>
            <a:pPr lvl="1"/>
            <a:r>
              <a:rPr lang="en-US" dirty="0"/>
              <a:t>It prevents subsequent “related” files from being placed within this block group, and thus may hurt subsequent file-access locality.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10972800" cy="987552"/>
          </a:xfrm>
        </p:spPr>
        <p:txBody>
          <a:bodyPr/>
          <a:lstStyle/>
          <a:p>
            <a:r>
              <a:rPr lang="en-US" dirty="0"/>
              <a:t>Solution for large files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19201"/>
            <a:ext cx="10972800" cy="5334001"/>
          </a:xfrm>
        </p:spPr>
        <p:txBody>
          <a:bodyPr>
            <a:normAutofit/>
          </a:bodyPr>
          <a:lstStyle/>
          <a:p>
            <a:r>
              <a:rPr lang="en-US" dirty="0"/>
              <a:t>FFS tried to distributed the file to more blocks evenly.</a:t>
            </a:r>
          </a:p>
          <a:p>
            <a:r>
              <a:rPr lang="en-US" dirty="0"/>
              <a:t>This might hurt the performance for sequential access.</a:t>
            </a:r>
          </a:p>
          <a:p>
            <a:pPr lvl="1"/>
            <a:r>
              <a:rPr lang="en-US" dirty="0"/>
              <a:t>It can be mitigated with carefully choosing the chuck size into each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939195" y="6583680"/>
            <a:ext cx="978485" cy="274320"/>
          </a:xfrm>
        </p:spPr>
        <p:txBody>
          <a:bodyPr/>
          <a:lstStyle/>
          <a:p>
            <a:fld id="{0ABBFD83-D066-42D5-9975-574F38680AD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0901" name="Text Box 6"/>
          <p:cNvSpPr txBox="1">
            <a:spLocks noChangeArrowheads="1"/>
          </p:cNvSpPr>
          <p:nvPr/>
        </p:nvSpPr>
        <p:spPr bwMode="auto">
          <a:xfrm>
            <a:off x="2133601" y="4267200"/>
            <a:ext cx="942887" cy="369332"/>
          </a:xfrm>
          <a:prstGeom prst="rect">
            <a:avLst/>
          </a:prstGeom>
          <a:noFill/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</a:rPr>
              <a:t>Original</a:t>
            </a:r>
          </a:p>
        </p:txBody>
      </p:sp>
      <p:sp>
        <p:nvSpPr>
          <p:cNvPr id="80902" name="Text Box 7"/>
          <p:cNvSpPr txBox="1">
            <a:spLocks noChangeArrowheads="1"/>
          </p:cNvSpPr>
          <p:nvPr/>
        </p:nvSpPr>
        <p:spPr bwMode="auto">
          <a:xfrm>
            <a:off x="2201863" y="5424487"/>
            <a:ext cx="944489" cy="369332"/>
          </a:xfrm>
          <a:prstGeom prst="rect">
            <a:avLst/>
          </a:prstGeom>
          <a:noFill/>
          <a:ln w="9525">
            <a:solidFill>
              <a:srgbClr val="DDDDDD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US"/>
            </a:defPPr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latin typeface="Candara" panose="020E0502030303020204" pitchFamily="34" charset="0"/>
              </a:rPr>
              <a:t>Revised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2133600" y="4648201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Group0 | Group1 | Group2 | Group3 | Group4 | Group5 | Group6 | Group7</a:t>
            </a:r>
          </a:p>
          <a:p>
            <a:r>
              <a:rPr lang="en-US" dirty="0">
                <a:latin typeface="Candara" panose="020E0502030303020204" pitchFamily="34" charset="0"/>
              </a:rPr>
              <a:t>               01234567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09800" y="5791201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Group0 | Group1 | Group2 | Group3 | Group4 | Group5 | Group6 | Group7</a:t>
            </a:r>
          </a:p>
          <a:p>
            <a:r>
              <a:rPr lang="en-US" dirty="0">
                <a:latin typeface="Candara" panose="020E0502030303020204" pitchFamily="34" charset="0"/>
              </a:rPr>
              <a:t>     67                             01                              23                               45</a:t>
            </a:r>
          </a:p>
        </p:txBody>
      </p:sp>
    </p:spTree>
    <p:extLst>
      <p:ext uri="{BB962C8B-B14F-4D97-AF65-F5344CB8AC3E}">
        <p14:creationId xmlns:p14="http://schemas.microsoft.com/office/powerpoint/2010/main" val="3953932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ffs.py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./ffs.py -f in.example1 -M -c</a:t>
            </a:r>
          </a:p>
          <a:p>
            <a:r>
              <a:rPr lang="en-US" dirty="0"/>
              <a:t>./ffs.py -f </a:t>
            </a:r>
            <a:r>
              <a:rPr lang="en-US" dirty="0" err="1"/>
              <a:t>in.largefile</a:t>
            </a:r>
            <a:r>
              <a:rPr lang="en-US" dirty="0"/>
              <a:t> -L 4  -M -c </a:t>
            </a:r>
          </a:p>
          <a:p>
            <a:r>
              <a:rPr lang="en-US" dirty="0"/>
              <a:t>./ffs.py -f </a:t>
            </a:r>
            <a:r>
              <a:rPr lang="en-US" dirty="0" err="1"/>
              <a:t>in.manyfiles</a:t>
            </a:r>
            <a:r>
              <a:rPr lang="en-US" dirty="0"/>
              <a:t> -M -c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113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Trade-off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that the average seek time for a disk is 10 </a:t>
            </a:r>
            <a:r>
              <a:rPr lang="en-US" dirty="0" err="1"/>
              <a:t>ms</a:t>
            </a:r>
            <a:r>
              <a:rPr lang="en-US" dirty="0"/>
              <a:t> and the disk transfers data at 40 MB/s.</a:t>
            </a:r>
          </a:p>
          <a:p>
            <a:r>
              <a:rPr lang="en-US" dirty="0"/>
              <a:t>To achieve 50% of peak disk performance, we would thus need to spend 10 </a:t>
            </a:r>
            <a:r>
              <a:rPr lang="en-US" dirty="0" err="1"/>
              <a:t>ms</a:t>
            </a:r>
            <a:r>
              <a:rPr lang="en-US" dirty="0"/>
              <a:t> transferring data for every 10 </a:t>
            </a:r>
            <a:r>
              <a:rPr lang="en-US" dirty="0" err="1"/>
              <a:t>ms</a:t>
            </a:r>
            <a:r>
              <a:rPr lang="en-US" dirty="0"/>
              <a:t> seek.</a:t>
            </a:r>
          </a:p>
          <a:p>
            <a:r>
              <a:rPr lang="en-US" dirty="0"/>
              <a:t>How big does a chunk have to be in order to spend 10 </a:t>
            </a:r>
            <a:r>
              <a:rPr lang="en-US" dirty="0" err="1"/>
              <a:t>ms</a:t>
            </a:r>
            <a:r>
              <a:rPr lang="en-US" dirty="0"/>
              <a:t> in transfer?</a:t>
            </a:r>
          </a:p>
          <a:p>
            <a:pPr lvl="1"/>
            <a:r>
              <a:rPr lang="en-US" dirty="0"/>
              <a:t>40 MB/s * 10 </a:t>
            </a:r>
            <a:r>
              <a:rPr lang="en-US" dirty="0" err="1"/>
              <a:t>ms</a:t>
            </a:r>
            <a:r>
              <a:rPr lang="en-US" dirty="0"/>
              <a:t> = 409 KB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Fast file system (FFS)</a:t>
            </a:r>
          </a:p>
          <a:p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Journaling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Data persistency</a:t>
            </a:r>
          </a:p>
        </p:txBody>
      </p:sp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Goal of a file system: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Persistency</a:t>
            </a:r>
          </a:p>
          <a:p>
            <a:r>
              <a:rPr lang="en-US" dirty="0">
                <a:ea typeface="ＭＳ Ｐゴシック" pitchFamily="34" charset="-128"/>
              </a:rPr>
              <a:t>What about system crashes or power losses?</a:t>
            </a:r>
          </a:p>
          <a:p>
            <a:pPr lvl="1"/>
            <a:r>
              <a:rPr lang="en-US" dirty="0"/>
              <a:t>Updating a persistent data structure can be quite tricky.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10972800" cy="987552"/>
          </a:xfrm>
        </p:spPr>
        <p:txBody>
          <a:bodyPr/>
          <a:lstStyle/>
          <a:p>
            <a:r>
              <a:rPr lang="en-US" dirty="0"/>
              <a:t>Example of a file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590800"/>
            <a:ext cx="10972800" cy="39624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Inode</a:t>
            </a:r>
            <a:r>
              <a:rPr lang="en-US" dirty="0"/>
              <a:t> (Iv1)</a:t>
            </a:r>
          </a:p>
          <a:p>
            <a:pPr lvl="1"/>
            <a:r>
              <a:rPr lang="en-US" dirty="0"/>
              <a:t>owner: </a:t>
            </a:r>
            <a:r>
              <a:rPr lang="en-US" dirty="0" err="1"/>
              <a:t>foobar</a:t>
            </a:r>
            <a:endParaRPr lang="en-US" dirty="0"/>
          </a:p>
          <a:p>
            <a:pPr lvl="1"/>
            <a:r>
              <a:rPr lang="en-US" dirty="0"/>
              <a:t>permissions: read-only</a:t>
            </a:r>
          </a:p>
          <a:p>
            <a:pPr lvl="1"/>
            <a:r>
              <a:rPr lang="en-US" dirty="0"/>
              <a:t>size: 1</a:t>
            </a:r>
          </a:p>
          <a:p>
            <a:pPr lvl="1"/>
            <a:r>
              <a:rPr lang="en-US" dirty="0"/>
              <a:t>pointer: 4; </a:t>
            </a:r>
          </a:p>
          <a:p>
            <a:pPr lvl="1"/>
            <a:r>
              <a:rPr lang="en-US" dirty="0"/>
              <a:t>pointer: null; </a:t>
            </a:r>
          </a:p>
          <a:p>
            <a:pPr lvl="1"/>
            <a:r>
              <a:rPr lang="en-US" dirty="0"/>
              <a:t>pointer: null; </a:t>
            </a:r>
          </a:p>
          <a:p>
            <a:pPr lvl="1"/>
            <a:r>
              <a:rPr lang="en-US" dirty="0"/>
              <a:t>pointer: 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939195" y="6583680"/>
            <a:ext cx="978485" cy="274320"/>
          </a:xfrm>
        </p:spPr>
        <p:txBody>
          <a:bodyPr/>
          <a:lstStyle/>
          <a:p>
            <a:fld id="{0ABBFD83-D066-42D5-9975-574F38680AD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133600" y="1371601"/>
            <a:ext cx="82296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+mn-lt"/>
              </a:rPr>
              <a:t>i</a:t>
            </a:r>
            <a:r>
              <a:rPr lang="en-US" sz="2400" dirty="0">
                <a:latin typeface="+mn-lt"/>
              </a:rPr>
              <a:t>-bitmap | d-bitmap | </a:t>
            </a:r>
            <a:r>
              <a:rPr lang="en-US" sz="2400" dirty="0" err="1">
                <a:latin typeface="+mn-lt"/>
              </a:rPr>
              <a:t>inodes</a:t>
            </a:r>
            <a:r>
              <a:rPr lang="en-US" sz="2400" dirty="0">
                <a:latin typeface="+mn-lt"/>
              </a:rPr>
              <a:t>             | data blocks</a:t>
            </a:r>
          </a:p>
          <a:p>
            <a:r>
              <a:rPr lang="en-US" sz="2400" dirty="0">
                <a:latin typeface="+mn-lt"/>
              </a:rPr>
              <a:t>010000  </a:t>
            </a:r>
            <a:r>
              <a:rPr lang="en-US" sz="2800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|  000010 </a:t>
            </a:r>
            <a:r>
              <a:rPr lang="en-US" dirty="0">
                <a:latin typeface="+mn-lt"/>
              </a:rPr>
              <a:t>  </a:t>
            </a:r>
            <a:r>
              <a:rPr lang="en-US" sz="1050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| -- Iv1 -- -- -- -- | -- -- -- -- D1 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10972800" cy="987552"/>
          </a:xfrm>
        </p:spPr>
        <p:txBody>
          <a:bodyPr/>
          <a:lstStyle/>
          <a:p>
            <a:r>
              <a:rPr lang="en-US" dirty="0"/>
              <a:t>Append to the file</a:t>
            </a:r>
          </a:p>
        </p:txBody>
      </p:sp>
      <p:sp>
        <p:nvSpPr>
          <p:cNvPr id="87042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819400"/>
            <a:ext cx="10972800" cy="3733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d-bitmap: 000010 -&gt; 000011 (B2)</a:t>
            </a:r>
          </a:p>
          <a:p>
            <a:r>
              <a:rPr lang="en-US" dirty="0" err="1"/>
              <a:t>inode</a:t>
            </a:r>
            <a:r>
              <a:rPr lang="en-US" dirty="0"/>
              <a:t> (Iv2)</a:t>
            </a:r>
          </a:p>
          <a:p>
            <a:pPr lvl="1"/>
            <a:r>
              <a:rPr lang="en-US" dirty="0"/>
              <a:t>owner: </a:t>
            </a:r>
            <a:r>
              <a:rPr lang="en-US" dirty="0" err="1"/>
              <a:t>foobar</a:t>
            </a:r>
            <a:endParaRPr lang="en-US" dirty="0"/>
          </a:p>
          <a:p>
            <a:pPr lvl="1"/>
            <a:r>
              <a:rPr lang="en-US" dirty="0"/>
              <a:t>permissions: read-only</a:t>
            </a:r>
          </a:p>
          <a:p>
            <a:pPr lvl="1"/>
            <a:r>
              <a:rPr lang="en-US" dirty="0"/>
              <a:t>size: 2</a:t>
            </a:r>
          </a:p>
          <a:p>
            <a:pPr lvl="1"/>
            <a:r>
              <a:rPr lang="en-US" dirty="0"/>
              <a:t>pointer: 4;     pointer: 5;     pointer: null;     pointer: null</a:t>
            </a:r>
          </a:p>
          <a:p>
            <a:r>
              <a:rPr lang="en-US" dirty="0"/>
              <a:t>Data blocks: D1 and D2</a:t>
            </a:r>
          </a:p>
          <a:p>
            <a:r>
              <a:rPr lang="en-US" dirty="0"/>
              <a:t>Three updates</a:t>
            </a:r>
          </a:p>
          <a:p>
            <a:pPr lvl="1"/>
            <a:r>
              <a:rPr lang="en-US" dirty="0"/>
              <a:t>B2, Iv2, and D2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939195" y="6583680"/>
            <a:ext cx="978485" cy="274320"/>
          </a:xfrm>
        </p:spPr>
        <p:txBody>
          <a:bodyPr/>
          <a:lstStyle/>
          <a:p>
            <a:fld id="{0ABBFD83-D066-42D5-9975-574F38680AD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133600" y="1200091"/>
            <a:ext cx="82296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-bitmap | d-bitmap | </a:t>
            </a:r>
            <a:r>
              <a:rPr lang="en-US" sz="2000" dirty="0" err="1">
                <a:latin typeface="+mn-lt"/>
              </a:rPr>
              <a:t>inodes</a:t>
            </a:r>
            <a:r>
              <a:rPr lang="en-US" sz="2000" dirty="0">
                <a:latin typeface="+mn-lt"/>
              </a:rPr>
              <a:t>             | data blocks</a:t>
            </a:r>
          </a:p>
          <a:p>
            <a:r>
              <a:rPr lang="en-US" sz="2000" dirty="0">
                <a:latin typeface="+mn-lt"/>
              </a:rPr>
              <a:t>010000  </a:t>
            </a:r>
            <a:r>
              <a:rPr lang="en-US" sz="24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|  000010 </a:t>
            </a:r>
            <a:r>
              <a:rPr lang="en-US" dirty="0">
                <a:latin typeface="+mn-lt"/>
              </a:rPr>
              <a:t> </a:t>
            </a:r>
            <a:r>
              <a:rPr lang="en-US" sz="10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| -- Iv1 -- -- -- --</a:t>
            </a:r>
            <a:r>
              <a:rPr lang="en-US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| -- -- -- -- D1 –</a:t>
            </a:r>
          </a:p>
          <a:p>
            <a:r>
              <a:rPr lang="en-US" sz="2000" dirty="0">
                <a:latin typeface="+mn-lt"/>
              </a:rPr>
              <a:t>010000  </a:t>
            </a:r>
            <a:r>
              <a:rPr lang="en-US" sz="24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|  000011   | -- Iv2</a:t>
            </a:r>
            <a:r>
              <a:rPr lang="en-US" sz="11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-- -- -- --</a:t>
            </a:r>
            <a:r>
              <a:rPr lang="en-US" sz="16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| -- -- -- -- D1  D2</a:t>
            </a:r>
          </a:p>
        </p:txBody>
      </p:sp>
      <p:sp>
        <p:nvSpPr>
          <p:cNvPr id="87044" name="Rectangle 7"/>
          <p:cNvSpPr>
            <a:spLocks noChangeArrowheads="1"/>
          </p:cNvSpPr>
          <p:nvPr/>
        </p:nvSpPr>
        <p:spPr bwMode="auto">
          <a:xfrm>
            <a:off x="3352800" y="1962090"/>
            <a:ext cx="914400" cy="304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7045" name="Rectangle 8"/>
          <p:cNvSpPr>
            <a:spLocks noChangeArrowheads="1"/>
          </p:cNvSpPr>
          <p:nvPr/>
        </p:nvSpPr>
        <p:spPr bwMode="auto">
          <a:xfrm>
            <a:off x="4648200" y="1962090"/>
            <a:ext cx="457200" cy="304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7046" name="Rectangle 9"/>
          <p:cNvSpPr>
            <a:spLocks noChangeArrowheads="1"/>
          </p:cNvSpPr>
          <p:nvPr/>
        </p:nvSpPr>
        <p:spPr bwMode="auto">
          <a:xfrm>
            <a:off x="7239000" y="1962090"/>
            <a:ext cx="457200" cy="304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505200" y="2266890"/>
            <a:ext cx="4539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n-lt"/>
                <a:ea typeface="ＭＳ Ｐゴシック" pitchFamily="34" charset="-128"/>
              </a:rPr>
              <a:t>B2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crash during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67000"/>
            <a:ext cx="10972800" cy="388620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system may crash or lose power between any two writes</a:t>
            </a:r>
          </a:p>
          <a:p>
            <a:pPr lvl="1"/>
            <a:r>
              <a:rPr lang="en-US" dirty="0"/>
              <a:t>The on-disk state may only partially get updated. </a:t>
            </a:r>
          </a:p>
          <a:p>
            <a:r>
              <a:rPr lang="en-US" dirty="0"/>
              <a:t>How many crash scenarios for B2, Iv2, and D2?</a:t>
            </a:r>
          </a:p>
          <a:p>
            <a:pPr lvl="1"/>
            <a:r>
              <a:rPr lang="en-US" dirty="0"/>
              <a:t>Only B2 or D2 or Iv2 is updated: 3 scenarios </a:t>
            </a:r>
          </a:p>
          <a:p>
            <a:pPr lvl="1"/>
            <a:r>
              <a:rPr lang="en-US" dirty="0"/>
              <a:t>Only B2 or D2 or Iv2 is not updated: 3 scenarios </a:t>
            </a:r>
          </a:p>
          <a:p>
            <a:r>
              <a:rPr lang="en-US" dirty="0"/>
              <a:t>Given that crashes can occur at arbitrary points in time</a:t>
            </a:r>
          </a:p>
          <a:p>
            <a:pPr lvl="1"/>
            <a:r>
              <a:rPr lang="en-US" dirty="0"/>
              <a:t>How do we ensure the file system keeps the on-disk image in a reasonable state?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4D9102-B550-0348-81F3-F2887C1CC953}"/>
              </a:ext>
            </a:extLst>
          </p:cNvPr>
          <p:cNvSpPr/>
          <p:nvPr/>
        </p:nvSpPr>
        <p:spPr>
          <a:xfrm>
            <a:off x="2133600" y="1200091"/>
            <a:ext cx="82296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+mn-lt"/>
              </a:rPr>
              <a:t>i</a:t>
            </a:r>
            <a:r>
              <a:rPr lang="en-US" sz="2000" dirty="0">
                <a:latin typeface="+mn-lt"/>
              </a:rPr>
              <a:t>-bitmap | d-bitmap | </a:t>
            </a:r>
            <a:r>
              <a:rPr lang="en-US" sz="2000" dirty="0" err="1">
                <a:latin typeface="+mn-lt"/>
              </a:rPr>
              <a:t>inodes</a:t>
            </a:r>
            <a:r>
              <a:rPr lang="en-US" sz="2000" dirty="0">
                <a:latin typeface="+mn-lt"/>
              </a:rPr>
              <a:t>             | data blocks</a:t>
            </a:r>
          </a:p>
          <a:p>
            <a:r>
              <a:rPr lang="en-US" sz="2000" dirty="0">
                <a:latin typeface="+mn-lt"/>
              </a:rPr>
              <a:t>010000  </a:t>
            </a:r>
            <a:r>
              <a:rPr lang="en-US" sz="24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|  000010 </a:t>
            </a:r>
            <a:r>
              <a:rPr lang="en-US" dirty="0">
                <a:latin typeface="+mn-lt"/>
              </a:rPr>
              <a:t> </a:t>
            </a:r>
            <a:r>
              <a:rPr lang="en-US" sz="10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| -- Iv1 -- -- -- --</a:t>
            </a:r>
            <a:r>
              <a:rPr lang="en-US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| -- -- -- -- D1 –</a:t>
            </a:r>
          </a:p>
          <a:p>
            <a:r>
              <a:rPr lang="en-US" sz="2000" dirty="0">
                <a:latin typeface="+mn-lt"/>
              </a:rPr>
              <a:t>010000  </a:t>
            </a:r>
            <a:r>
              <a:rPr lang="en-US" sz="24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|  000011   | -- Iv2</a:t>
            </a:r>
            <a:r>
              <a:rPr lang="en-US" sz="11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-- -- -- --</a:t>
            </a:r>
            <a:r>
              <a:rPr lang="en-US" sz="16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| -- -- -- -- D1  D2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AD5028FE-8764-8E49-99C9-38F52B03F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962090"/>
            <a:ext cx="914400" cy="304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044C5FB8-A656-9740-AB4E-52E955428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962090"/>
            <a:ext cx="457200" cy="304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A033BA7D-A023-CD4B-8FEB-8907BBF4E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962090"/>
            <a:ext cx="457200" cy="304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52069F-9E78-354B-83CD-DCE6DA56A48B}"/>
              </a:ext>
            </a:extLst>
          </p:cNvPr>
          <p:cNvSpPr/>
          <p:nvPr/>
        </p:nvSpPr>
        <p:spPr>
          <a:xfrm>
            <a:off x="3505200" y="2266890"/>
            <a:ext cx="4539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n-lt"/>
                <a:ea typeface="ＭＳ Ｐゴシック" pitchFamily="34" charset="-128"/>
              </a:rPr>
              <a:t>B2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087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Consistent update problem</a:t>
            </a:r>
          </a:p>
        </p:txBody>
      </p:sp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What we’d like to do ideally is move the file system from one </a:t>
            </a:r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consistent</a:t>
            </a:r>
            <a:r>
              <a:rPr lang="en-US" dirty="0">
                <a:ea typeface="ＭＳ Ｐゴシック" pitchFamily="34" charset="-128"/>
              </a:rPr>
              <a:t> state to another.</a:t>
            </a:r>
          </a:p>
          <a:p>
            <a:r>
              <a:rPr lang="en-US" dirty="0">
                <a:ea typeface="ＭＳ Ｐゴシック" pitchFamily="34" charset="-128"/>
              </a:rPr>
              <a:t>But we can’t do this easily because the disk only commits one write at a time, and crashes may occur between these updates.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Similar to atomic operations.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solution: </a:t>
            </a:r>
            <a:r>
              <a:rPr lang="en-US" dirty="0" err="1"/>
              <a:t>fsck</a:t>
            </a:r>
            <a:endParaRPr lang="en-US" dirty="0"/>
          </a:p>
        </p:txBody>
      </p:sp>
      <p:sp>
        <p:nvSpPr>
          <p:cNvPr id="901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UNIX tool for find such inconsistencies and repairing them.</a:t>
            </a:r>
          </a:p>
          <a:p>
            <a:r>
              <a:rPr lang="en-US" dirty="0"/>
              <a:t>Let inconsistencies happen and then fix them later (when rebooting).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421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 dirty="0" err="1"/>
              <a:t>fsck</a:t>
            </a:r>
            <a:r>
              <a:rPr lang="en-US" dirty="0"/>
              <a:t> does on </a:t>
            </a:r>
            <a:r>
              <a:rPr lang="en-US" dirty="0" err="1"/>
              <a:t>inode</a:t>
            </a:r>
            <a:r>
              <a:rPr lang="en-US" dirty="0"/>
              <a:t>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fsck</a:t>
            </a:r>
            <a:r>
              <a:rPr lang="en-US" dirty="0"/>
              <a:t> makes sure that each allocated </a:t>
            </a:r>
            <a:r>
              <a:rPr lang="en-US" dirty="0" err="1"/>
              <a:t>inode</a:t>
            </a:r>
            <a:r>
              <a:rPr lang="en-US" dirty="0"/>
              <a:t> has a valid type field (e.g., regular file, directory, symbolic link, etc.). </a:t>
            </a:r>
          </a:p>
          <a:p>
            <a:pPr lvl="1"/>
            <a:r>
              <a:rPr lang="en-US" dirty="0"/>
              <a:t>If there are problems with the </a:t>
            </a:r>
            <a:r>
              <a:rPr lang="en-US" dirty="0" err="1"/>
              <a:t>inode</a:t>
            </a:r>
            <a:r>
              <a:rPr lang="en-US" dirty="0"/>
              <a:t> fields that are not easily fixed, the </a:t>
            </a:r>
            <a:r>
              <a:rPr lang="en-US" dirty="0" err="1"/>
              <a:t>inode</a:t>
            </a:r>
            <a:r>
              <a:rPr lang="en-US" dirty="0"/>
              <a:t> is considered suspect and cleared by </a:t>
            </a:r>
            <a:r>
              <a:rPr lang="en-US" dirty="0" err="1"/>
              <a:t>fsck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inode</a:t>
            </a:r>
            <a:r>
              <a:rPr lang="en-US" dirty="0"/>
              <a:t> bitmap is correspondingly updated.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432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 dirty="0" err="1"/>
              <a:t>fsck</a:t>
            </a:r>
            <a:r>
              <a:rPr lang="en-US" dirty="0"/>
              <a:t> does on directories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fsck</a:t>
            </a:r>
            <a:r>
              <a:rPr lang="en-US" dirty="0"/>
              <a:t> performs additional integrity checks on the contents of each directory, making sure that</a:t>
            </a:r>
          </a:p>
          <a:p>
            <a:pPr lvl="1"/>
            <a:r>
              <a:rPr lang="en-US" dirty="0"/>
              <a:t>“.” and “..” are the first entries, </a:t>
            </a:r>
          </a:p>
          <a:p>
            <a:pPr lvl="1"/>
            <a:r>
              <a:rPr lang="en-US" dirty="0"/>
              <a:t>each </a:t>
            </a:r>
            <a:r>
              <a:rPr lang="en-US" dirty="0" err="1"/>
              <a:t>inode</a:t>
            </a:r>
            <a:r>
              <a:rPr lang="en-US" dirty="0"/>
              <a:t> referred to in a directory entry is allocated.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94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fsck</a:t>
            </a:r>
            <a:r>
              <a:rPr lang="en-US" dirty="0"/>
              <a:t>: cons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Note, such an approach can’t fix all problems: </a:t>
            </a:r>
          </a:p>
          <a:p>
            <a:pPr lvl="1"/>
            <a:r>
              <a:rPr lang="en-US" dirty="0"/>
              <a:t>Sometimes the file system looks consistent but the </a:t>
            </a:r>
            <a:r>
              <a:rPr lang="en-US" dirty="0" err="1"/>
              <a:t>inode</a:t>
            </a:r>
            <a:r>
              <a:rPr lang="en-US" dirty="0"/>
              <a:t> points to garbage data after the crash.</a:t>
            </a:r>
          </a:p>
          <a:p>
            <a:r>
              <a:rPr lang="en-US" dirty="0"/>
              <a:t>Very slow for a large disk.</a:t>
            </a:r>
          </a:p>
          <a:p>
            <a:r>
              <a:rPr lang="en-US" dirty="0"/>
              <a:t>What a waste to scan the entire disk just to see if one of those three writes didn’t complete!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ext3 file system</a:t>
            </a:r>
          </a:p>
        </p:txBody>
      </p:sp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uses journaling</a:t>
            </a:r>
          </a:p>
          <a:p>
            <a:pPr lvl="1"/>
            <a:r>
              <a:rPr lang="en-US" dirty="0"/>
              <a:t>Also known as write-ahead logging</a:t>
            </a:r>
          </a:p>
          <a:p>
            <a:r>
              <a:rPr lang="en-US" dirty="0"/>
              <a:t>The idea is from the world of database management systems.</a:t>
            </a:r>
          </a:p>
          <a:p>
            <a:pPr lvl="1"/>
            <a:r>
              <a:rPr lang="en-US" dirty="0"/>
              <a:t>Before over-writing the structures in place, write down a little note (somewhere else on the disk) describing what you are about to do. </a:t>
            </a:r>
          </a:p>
          <a:p>
            <a:pPr lvl="1"/>
            <a:r>
              <a:rPr lang="en-US" dirty="0"/>
              <a:t>Writing this little note is the “write ahead” part.</a:t>
            </a:r>
          </a:p>
          <a:p>
            <a:pPr lvl="1"/>
            <a:r>
              <a:rPr lang="en-US" dirty="0"/>
              <a:t>We write it to a structure we call the “log”.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269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Journaling: more</a:t>
            </a:r>
          </a:p>
        </p:txBody>
      </p:sp>
      <p:sp>
        <p:nvSpPr>
          <p:cNvPr id="911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crash takes places during the update of the structures, you can go back and look at the note you made and try again.</a:t>
            </a:r>
          </a:p>
          <a:p>
            <a:pPr lvl="1"/>
            <a:r>
              <a:rPr lang="en-US" dirty="0"/>
              <a:t>Thus, you will know exactly what to fix (and how to fix it) after a crash, instead of having to scan the entire disk.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BBFD83-D066-42D5-9975-574F38680AD6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746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92162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ext2 -&gt; ext3</a:t>
            </a:r>
          </a:p>
          <a:p>
            <a:pPr lvl="1"/>
            <a:r>
              <a:rPr lang="en-US" dirty="0"/>
              <a:t>ext2: Superblock | Group0 | ... | </a:t>
            </a:r>
            <a:r>
              <a:rPr lang="en-US" dirty="0" err="1"/>
              <a:t>GroupN</a:t>
            </a:r>
            <a:endParaRPr lang="en-US" dirty="0"/>
          </a:p>
          <a:p>
            <a:pPr lvl="1"/>
            <a:r>
              <a:rPr lang="en-US" dirty="0"/>
              <a:t>ext3: Superblock | </a:t>
            </a:r>
            <a:r>
              <a:rPr lang="en-US" dirty="0">
                <a:solidFill>
                  <a:srgbClr val="FF0000"/>
                </a:solidFill>
              </a:rPr>
              <a:t>Journal</a:t>
            </a:r>
            <a:r>
              <a:rPr lang="en-US" dirty="0"/>
              <a:t> | Group0 | ... | </a:t>
            </a:r>
            <a:r>
              <a:rPr lang="en-US" dirty="0" err="1"/>
              <a:t>GroupN</a:t>
            </a:r>
            <a:endParaRPr lang="en-US" dirty="0"/>
          </a:p>
          <a:p>
            <a:r>
              <a:rPr lang="en-US" dirty="0"/>
              <a:t>We wish to write the </a:t>
            </a:r>
            <a:r>
              <a:rPr lang="en-US" dirty="0" err="1"/>
              <a:t>inode</a:t>
            </a:r>
            <a:r>
              <a:rPr lang="en-US" dirty="0"/>
              <a:t> (Iv2), bitmap (B2), and data block (D2) to disk, the log (a.k.a. journal) is:</a:t>
            </a:r>
          </a:p>
          <a:p>
            <a:pPr lvl="1"/>
            <a:r>
              <a:rPr lang="en-US" dirty="0" err="1"/>
              <a:t>TxBegin</a:t>
            </a:r>
            <a:r>
              <a:rPr lang="en-US" dirty="0"/>
              <a:t> | Iv2 | B2 | D2 | </a:t>
            </a:r>
            <a:r>
              <a:rPr lang="en-US" dirty="0" err="1"/>
              <a:t>TxEnd</a:t>
            </a:r>
            <a:endParaRPr lang="en-US" dirty="0"/>
          </a:p>
          <a:p>
            <a:pPr lvl="1"/>
            <a:r>
              <a:rPr lang="en-US" dirty="0"/>
              <a:t>5 blocks</a:t>
            </a:r>
          </a:p>
          <a:p>
            <a:pPr lvl="1"/>
            <a:r>
              <a:rPr lang="en-US" dirty="0" err="1"/>
              <a:t>TxBegin</a:t>
            </a:r>
            <a:r>
              <a:rPr lang="en-US" dirty="0"/>
              <a:t>: information about the pending update to the file system and some kind of transaction identifier (TID).</a:t>
            </a:r>
          </a:p>
          <a:p>
            <a:pPr lvl="1"/>
            <a:r>
              <a:rPr lang="en-US" dirty="0" err="1"/>
              <a:t>TxEnd</a:t>
            </a:r>
            <a:r>
              <a:rPr lang="en-US" dirty="0"/>
              <a:t>: a marker of the end of this transaction, and will also contain the TID.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164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journaling protocol (preliminary version)</a:t>
            </a:r>
          </a:p>
        </p:txBody>
      </p:sp>
      <p:sp>
        <p:nvSpPr>
          <p:cNvPr id="92162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Journal write: </a:t>
            </a:r>
          </a:p>
          <a:p>
            <a:pPr lvl="1"/>
            <a:r>
              <a:rPr lang="en-US" dirty="0"/>
              <a:t>Write the transaction (</a:t>
            </a:r>
            <a:r>
              <a:rPr lang="en-US" dirty="0" err="1"/>
              <a:t>TxBegin</a:t>
            </a:r>
            <a:r>
              <a:rPr lang="en-US" dirty="0"/>
              <a:t>, Iv2, B2, D2, and </a:t>
            </a:r>
            <a:r>
              <a:rPr lang="en-US" dirty="0" err="1"/>
              <a:t>TxEnd</a:t>
            </a:r>
            <a:r>
              <a:rPr lang="en-US" dirty="0"/>
              <a:t>) to the log; </a:t>
            </a:r>
          </a:p>
          <a:p>
            <a:pPr lvl="1"/>
            <a:r>
              <a:rPr lang="en-US" dirty="0"/>
              <a:t>Wait for these writes to complete </a:t>
            </a:r>
          </a:p>
          <a:p>
            <a:r>
              <a:rPr lang="en-US" dirty="0"/>
              <a:t>Checkpoint: </a:t>
            </a:r>
          </a:p>
          <a:p>
            <a:pPr lvl="1"/>
            <a:r>
              <a:rPr lang="en-US" dirty="0"/>
              <a:t>Write the update (Iv2, B2, D2) to the file system proper</a:t>
            </a:r>
          </a:p>
          <a:p>
            <a:pPr lvl="1"/>
            <a:r>
              <a:rPr lang="en-US" dirty="0"/>
              <a:t>Wait for these writes to complete</a:t>
            </a:r>
          </a:p>
          <a:p>
            <a:r>
              <a:rPr lang="en-US" dirty="0"/>
              <a:t>Free:</a:t>
            </a:r>
          </a:p>
          <a:p>
            <a:pPr lvl="1"/>
            <a:r>
              <a:rPr lang="en-US" dirty="0"/>
              <a:t>Mark the transaction free in the journal.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a crash occurs during the</a:t>
            </a:r>
            <a:br>
              <a:rPr lang="en-US" dirty="0"/>
            </a:br>
            <a:r>
              <a:rPr lang="en-US" dirty="0"/>
              <a:t>writes to the journal?</a:t>
            </a:r>
          </a:p>
        </p:txBody>
      </p:sp>
      <p:sp>
        <p:nvSpPr>
          <p:cNvPr id="9318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Due to disk scheduling under parallel writing, we have the following journal:</a:t>
            </a:r>
          </a:p>
          <a:p>
            <a:pPr lvl="1"/>
            <a:r>
              <a:rPr lang="en-US" dirty="0" err="1"/>
              <a:t>TxBegin</a:t>
            </a:r>
            <a:r>
              <a:rPr lang="en-US" dirty="0"/>
              <a:t> (TID=1) | Iv2 | B2 | ??? | </a:t>
            </a:r>
            <a:r>
              <a:rPr lang="en-US" dirty="0" err="1"/>
              <a:t>TxEnd</a:t>
            </a:r>
            <a:r>
              <a:rPr lang="en-US" dirty="0"/>
              <a:t> (TID=1) </a:t>
            </a:r>
          </a:p>
          <a:p>
            <a:pPr lvl="1"/>
            <a:r>
              <a:rPr lang="en-US" dirty="0"/>
              <a:t>Look like a valid transaction.</a:t>
            </a:r>
          </a:p>
          <a:p>
            <a:r>
              <a:rPr lang="en-US" dirty="0"/>
              <a:t>Two steps:</a:t>
            </a:r>
          </a:p>
          <a:p>
            <a:pPr lvl="1"/>
            <a:r>
              <a:rPr lang="en-US" dirty="0" err="1"/>
              <a:t>TxBegin</a:t>
            </a:r>
            <a:r>
              <a:rPr lang="en-US" dirty="0"/>
              <a:t> (TID=1)  | Iv2 | B2 | D2 |</a:t>
            </a:r>
          </a:p>
          <a:p>
            <a:pPr lvl="1"/>
            <a:r>
              <a:rPr lang="en-US" dirty="0" err="1"/>
              <a:t>TxBegin</a:t>
            </a:r>
            <a:r>
              <a:rPr lang="en-US" dirty="0"/>
              <a:t> (TID=1)  | Iv2 | B2 | D2 | </a:t>
            </a:r>
            <a:r>
              <a:rPr lang="en-US" dirty="0" err="1"/>
              <a:t>TxEnd</a:t>
            </a:r>
            <a:r>
              <a:rPr lang="en-US" dirty="0"/>
              <a:t> (TID=1) </a:t>
            </a:r>
          </a:p>
          <a:p>
            <a:r>
              <a:rPr lang="en-US" dirty="0"/>
              <a:t>The atomicity guarantee of writing </a:t>
            </a:r>
            <a:r>
              <a:rPr lang="en-US" dirty="0" err="1"/>
              <a:t>TxEnd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The disk guarantees that any 512B write will either happen or not (and never be half-written).</a:t>
            </a:r>
          </a:p>
          <a:p>
            <a:pPr lvl="1"/>
            <a:r>
              <a:rPr lang="en-US" dirty="0"/>
              <a:t>One should make it a single 512-byte block.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journaling protocol (revised version)</a:t>
            </a:r>
          </a:p>
        </p:txBody>
      </p:sp>
      <p:sp>
        <p:nvSpPr>
          <p:cNvPr id="92162" name="Rectangle 4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3200" dirty="0"/>
              <a:t>Journal write: </a:t>
            </a:r>
          </a:p>
          <a:p>
            <a:pPr lvl="1"/>
            <a:r>
              <a:rPr lang="en-US" sz="2800" dirty="0"/>
              <a:t>Write 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 err="1">
                <a:solidFill>
                  <a:srgbClr val="FF0000"/>
                </a:solidFill>
              </a:rPr>
              <a:t>TxBegin</a:t>
            </a:r>
            <a:r>
              <a:rPr lang="en-US" sz="2800" dirty="0">
                <a:solidFill>
                  <a:srgbClr val="FF0000"/>
                </a:solidFill>
              </a:rPr>
              <a:t>, Iv2, B2, D2) </a:t>
            </a:r>
            <a:r>
              <a:rPr lang="en-US" sz="2800" dirty="0"/>
              <a:t>to the log;</a:t>
            </a:r>
          </a:p>
          <a:p>
            <a:pPr lvl="1"/>
            <a:r>
              <a:rPr lang="en-US" sz="2800" dirty="0"/>
              <a:t>Wait for completion;</a:t>
            </a:r>
          </a:p>
          <a:p>
            <a:r>
              <a:rPr lang="en-US" sz="3200" dirty="0"/>
              <a:t>Journal commit: </a:t>
            </a:r>
          </a:p>
          <a:p>
            <a:pPr lvl="1"/>
            <a:r>
              <a:rPr lang="en-US" sz="2800" dirty="0"/>
              <a:t>Write the transaction commit block 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 err="1">
                <a:solidFill>
                  <a:srgbClr val="FF0000"/>
                </a:solidFill>
              </a:rPr>
              <a:t>TxEnd</a:t>
            </a:r>
            <a:r>
              <a:rPr lang="en-US" sz="2800" dirty="0">
                <a:solidFill>
                  <a:srgbClr val="FF0000"/>
                </a:solidFill>
              </a:rPr>
              <a:t>) </a:t>
            </a:r>
            <a:r>
              <a:rPr lang="en-US" sz="2800" dirty="0"/>
              <a:t>to the log; </a:t>
            </a:r>
          </a:p>
          <a:p>
            <a:pPr lvl="1"/>
            <a:r>
              <a:rPr lang="en-US" sz="2800" dirty="0"/>
              <a:t>Wait for for completion;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Checkpoint: </a:t>
            </a:r>
          </a:p>
          <a:p>
            <a:pPr lvl="1"/>
            <a:r>
              <a:rPr lang="en-US" sz="2800" dirty="0"/>
              <a:t>Write the update </a:t>
            </a:r>
            <a:r>
              <a:rPr lang="en-US" sz="2800" dirty="0">
                <a:solidFill>
                  <a:srgbClr val="FF0000"/>
                </a:solidFill>
              </a:rPr>
              <a:t>(Iv2,B2,D2) </a:t>
            </a:r>
            <a:r>
              <a:rPr lang="en-US" sz="2800" dirty="0"/>
              <a:t>to the final location.</a:t>
            </a:r>
          </a:p>
          <a:p>
            <a:r>
              <a:rPr lang="en-US" sz="3200" dirty="0"/>
              <a:t>Free:</a:t>
            </a:r>
          </a:p>
          <a:p>
            <a:pPr lvl="1"/>
            <a:r>
              <a:rPr lang="en-US" sz="2800" dirty="0"/>
              <a:t>Mark the transaction free in the journal.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2224B-C18D-4170-8032-8F3016FA1EB7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4608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Journaling Timeline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F2224B-C18D-4170-8032-8F3016FA1EB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59514"/>
            <a:ext cx="9144000" cy="450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1924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the crash happens before the transaction is written safely to the log, </a:t>
            </a:r>
          </a:p>
          <a:p>
            <a:pPr lvl="1"/>
            <a:r>
              <a:rPr lang="en-US" dirty="0"/>
              <a:t>That pending update is simply skipped. </a:t>
            </a:r>
          </a:p>
          <a:p>
            <a:r>
              <a:rPr lang="en-US" dirty="0"/>
              <a:t>If the crash happens after the transaction has committed to the log, but before the checkpoint is complete, </a:t>
            </a:r>
          </a:p>
          <a:p>
            <a:pPr lvl="1"/>
            <a:r>
              <a:rPr lang="en-US" dirty="0"/>
              <a:t>When the system boots, the file system recovery process will scan the log and look for transactions that have committed to the disk but have not yet been freed;</a:t>
            </a:r>
          </a:p>
          <a:p>
            <a:pPr lvl="1"/>
            <a:r>
              <a:rPr lang="en-US" dirty="0"/>
              <a:t>Replay each transaction;</a:t>
            </a:r>
          </a:p>
          <a:p>
            <a:pPr lvl="1"/>
            <a:r>
              <a:rPr lang="en-US" dirty="0"/>
              <a:t>Mark the transaction free if it is completed.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BFD83-D066-42D5-9975-574F38680AD6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990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>
        <a:ln w="38100">
          <a:solidFill>
            <a:srgbClr val="008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 vert="horz" lIns="91440" tIns="0" rIns="45720" bIns="0" rtlCol="0" anchor="t">
        <a:normAutofit/>
        <a:scene3d>
          <a:camera prst="orthographicFront"/>
          <a:lightRig rig="threePt" dir="t">
            <a:rot lat="0" lon="0" rev="4800000"/>
          </a:lightRig>
        </a:scene3d>
        <a:sp3d prstMaterial="matte">
          <a:bevelT w="50800" h="10160"/>
        </a:sp3d>
      </a:bodyPr>
      <a:lstStyle>
        <a:defPPr algn="ctr">
          <a:defRPr sz="3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urse-2019-09" id="{B316ACE2-95DC-AC4D-9B1C-A91C775734BE}" vid="{64A54FAB-7894-1E4A-B404-E7ABACBA122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course-2019-09</Template>
  <TotalTime>9266</TotalTime>
  <Words>2007</Words>
  <Application>Microsoft Office PowerPoint</Application>
  <PresentationFormat>Widescreen</PresentationFormat>
  <Paragraphs>233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ＭＳ Ｐゴシック</vt:lpstr>
      <vt:lpstr>Arial</vt:lpstr>
      <vt:lpstr>Calibri</vt:lpstr>
      <vt:lpstr>Candara</vt:lpstr>
      <vt:lpstr>Comic Sans MS</vt:lpstr>
      <vt:lpstr>Times New Roman</vt:lpstr>
      <vt:lpstr>Wingdings</vt:lpstr>
      <vt:lpstr>Wingdings 2</vt:lpstr>
      <vt:lpstr>Module</vt:lpstr>
      <vt:lpstr>Persistence: Fast File System and Journaling</vt:lpstr>
      <vt:lpstr>Problems of vsfs: poor performance (1)</vt:lpstr>
      <vt:lpstr>Problems of vsfs: poor performance (2)</vt:lpstr>
      <vt:lpstr>Outline</vt:lpstr>
      <vt:lpstr>Questions</vt:lpstr>
      <vt:lpstr>FFS: disk awareness is the solution</vt:lpstr>
      <vt:lpstr>Motivational example: NBA</vt:lpstr>
      <vt:lpstr>Organizing structure: the cylinder group</vt:lpstr>
      <vt:lpstr>PowerPoint Presentation</vt:lpstr>
      <vt:lpstr>Organizing structure: the block group</vt:lpstr>
      <vt:lpstr>Policies: how to allocate files and directories</vt:lpstr>
      <vt:lpstr>Policies: how to allocate files and directories (cont’d)</vt:lpstr>
      <vt:lpstr>Issues with large files</vt:lpstr>
      <vt:lpstr>Solution for large files</vt:lpstr>
      <vt:lpstr>ffs.py</vt:lpstr>
      <vt:lpstr>Trade-off</vt:lpstr>
      <vt:lpstr>Outline</vt:lpstr>
      <vt:lpstr>Data persistency</vt:lpstr>
      <vt:lpstr>Example of a file</vt:lpstr>
      <vt:lpstr>Append to the file</vt:lpstr>
      <vt:lpstr>System crash during update</vt:lpstr>
      <vt:lpstr>Consistent update problem</vt:lpstr>
      <vt:lpstr>Old solution: fsck</vt:lpstr>
      <vt:lpstr>What fsck does on inode state</vt:lpstr>
      <vt:lpstr>What fsck does on directories</vt:lpstr>
      <vt:lpstr>fsck: cons</vt:lpstr>
      <vt:lpstr>Linux ext3 file system</vt:lpstr>
      <vt:lpstr>Journaling: more</vt:lpstr>
      <vt:lpstr>An example</vt:lpstr>
      <vt:lpstr>Data journaling protocol (preliminary version)</vt:lpstr>
      <vt:lpstr>What if a crash occurs during the writes to the journal?</vt:lpstr>
      <vt:lpstr>Data journaling protocol (revised version)</vt:lpstr>
      <vt:lpstr>Data Journaling Timeline</vt:lpstr>
      <vt:lpstr>Recovery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Roy, Probir</cp:lastModifiedBy>
  <cp:revision>1416</cp:revision>
  <cp:lastPrinted>2008-01-09T20:50:56Z</cp:lastPrinted>
  <dcterms:created xsi:type="dcterms:W3CDTF">2010-09-02T17:38:46Z</dcterms:created>
  <dcterms:modified xsi:type="dcterms:W3CDTF">2025-12-03T18:11:41Z</dcterms:modified>
</cp:coreProperties>
</file>