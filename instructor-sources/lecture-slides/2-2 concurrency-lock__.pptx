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9" r:id="rId1"/>
  </p:sldMasterIdLst>
  <p:notesMasterIdLst>
    <p:notesMasterId r:id="rId38"/>
  </p:notesMasterIdLst>
  <p:handoutMasterIdLst>
    <p:handoutMasterId r:id="rId39"/>
  </p:handoutMasterIdLst>
  <p:sldIdLst>
    <p:sldId id="259" r:id="rId2"/>
    <p:sldId id="264" r:id="rId3"/>
    <p:sldId id="341" r:id="rId4"/>
    <p:sldId id="273" r:id="rId5"/>
    <p:sldId id="313" r:id="rId6"/>
    <p:sldId id="272" r:id="rId7"/>
    <p:sldId id="282" r:id="rId8"/>
    <p:sldId id="365" r:id="rId9"/>
    <p:sldId id="395" r:id="rId10"/>
    <p:sldId id="283" r:id="rId11"/>
    <p:sldId id="386" r:id="rId12"/>
    <p:sldId id="327" r:id="rId13"/>
    <p:sldId id="328" r:id="rId14"/>
    <p:sldId id="342" r:id="rId15"/>
    <p:sldId id="343" r:id="rId16"/>
    <p:sldId id="337" r:id="rId17"/>
    <p:sldId id="294" r:id="rId18"/>
    <p:sldId id="295" r:id="rId19"/>
    <p:sldId id="314" r:id="rId20"/>
    <p:sldId id="299" r:id="rId21"/>
    <p:sldId id="366" r:id="rId22"/>
    <p:sldId id="359" r:id="rId23"/>
    <p:sldId id="360" r:id="rId24"/>
    <p:sldId id="304" r:id="rId25"/>
    <p:sldId id="350" r:id="rId26"/>
    <p:sldId id="305" r:id="rId27"/>
    <p:sldId id="312" r:id="rId28"/>
    <p:sldId id="315" r:id="rId29"/>
    <p:sldId id="296" r:id="rId30"/>
    <p:sldId id="297" r:id="rId31"/>
    <p:sldId id="301" r:id="rId32"/>
    <p:sldId id="349" r:id="rId33"/>
    <p:sldId id="362" r:id="rId34"/>
    <p:sldId id="368" r:id="rId35"/>
    <p:sldId id="369" r:id="rId36"/>
    <p:sldId id="371" r:id="rId37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0000"/>
    <a:srgbClr val="00CC00"/>
    <a:srgbClr val="FFFF00"/>
    <a:srgbClr val="0000CC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/>
    <p:restoredTop sz="93605"/>
  </p:normalViewPr>
  <p:slideViewPr>
    <p:cSldViewPr>
      <p:cViewPr varScale="1">
        <p:scale>
          <a:sx n="62" d="100"/>
          <a:sy n="62" d="100"/>
        </p:scale>
        <p:origin x="113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F987A6E6-3EBC-4305-89B4-EDA698419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574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6BC69F9F-A9A7-42DA-9997-328AE4CDF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55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A770CB-1696-45DA-A850-CB3972FF6B91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8212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08C826-8737-4735-80FB-C89ABB8EE9A0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48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DF8350-8034-458F-AC78-5DC7E0981639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7606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611210-8658-4A26-ACD3-51C0D4A649D5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213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B8C99817-392B-4356-8015-97F00408A27F}" type="slidenum">
              <a:rPr lang="en-US" sz="1300">
                <a:latin typeface="Times New Roman" pitchFamily="18" charset="0"/>
              </a:rPr>
              <a:pPr algn="r" defTabSz="966788" eaLnBrk="0" hangingPunct="0"/>
              <a:t>12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8864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1C69FBF1-F1CE-4C95-8C6B-9BB0F36681E1}" type="slidenum">
              <a:rPr lang="en-US" sz="1300">
                <a:latin typeface="Times New Roman" pitchFamily="18" charset="0"/>
              </a:rPr>
              <a:pPr algn="r" defTabSz="966788" eaLnBrk="0" hangingPunct="0"/>
              <a:t>27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423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C69F9F-A9A7-42DA-9997-328AE4CDF8A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5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C69F9F-A9A7-42DA-9997-328AE4CDF8A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57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1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C57EBC-2E04-4ABF-8AC0-D35D1FD8CF8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751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7770E2-4255-4207-88FD-7AB97E31A00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B2F1E-0879-4050-A437-486F058275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4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C7FB1-B430-4A29-B775-F3BDFE928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3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2AC57EBC-2E04-4ABF-8AC0-D35D1FD8CF8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3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tif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>
                <a:ea typeface="ＭＳ Ｐゴシック" pitchFamily="34" charset="-128"/>
              </a:rPr>
              <a:t>Concurrency</a:t>
            </a:r>
            <a:r>
              <a:rPr lang="en-US" sz="5400">
                <a:ea typeface="ＭＳ Ｐゴシック" pitchFamily="34" charset="-128"/>
              </a:rPr>
              <a:t>: Lock</a:t>
            </a:r>
            <a:endParaRPr lang="en-US" sz="5400" dirty="0">
              <a:ea typeface="ＭＳ Ｐゴシック" pitchFamily="34" charset="-128"/>
            </a:endParaRPr>
          </a:p>
        </p:txBody>
      </p:sp>
      <p:sp>
        <p:nvSpPr>
          <p:cNvPr id="1945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  <a:p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2867D-4392-DE4B-885B-152E646A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 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</a:t>
            </a:r>
            <a:r>
              <a:rPr lang="en-US" sz="1600" dirty="0">
                <a:ea typeface="ＭＳ Ｐゴシック" pitchFamily="34" charset="-128"/>
              </a:rPr>
              <a:t>Dr. </a:t>
            </a:r>
            <a:r>
              <a:rPr lang="en-US" sz="1600" dirty="0" err="1">
                <a:ea typeface="ＭＳ Ｐゴシック" pitchFamily="34" charset="-128"/>
              </a:rPr>
              <a:t>Shengquan</a:t>
            </a:r>
            <a:r>
              <a:rPr lang="en-US" sz="1600" dirty="0">
                <a:ea typeface="ＭＳ Ｐゴシック" pitchFamily="34" charset="-128"/>
              </a:rPr>
              <a:t> Wang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concurrency terms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section </a:t>
            </a:r>
            <a:r>
              <a:rPr lang="en-US" dirty="0"/>
              <a:t>is a segment of code, in which multiple threads may be changing shared variables (or more generally, a shared resource).</a:t>
            </a:r>
          </a:p>
          <a:p>
            <a:pPr lvl="1"/>
            <a:r>
              <a:rPr lang="en-US" dirty="0"/>
              <a:t>Such as “counter++” in previous example.</a:t>
            </a:r>
          </a:p>
          <a:p>
            <a:r>
              <a:rPr lang="en-US" dirty="0"/>
              <a:t>Multiple threads executing the critical section can result in a </a:t>
            </a:r>
            <a:r>
              <a:rPr lang="en-US" dirty="0">
                <a:solidFill>
                  <a:srgbClr val="FF0000"/>
                </a:solidFill>
              </a:rPr>
              <a:t>race condition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Such as two threads’ executing “counter++” </a:t>
            </a:r>
          </a:p>
          <a:p>
            <a:r>
              <a:rPr lang="en-US" dirty="0">
                <a:solidFill>
                  <a:srgbClr val="FF0000"/>
                </a:solidFill>
              </a:rPr>
              <a:t>Mutual exclusion</a:t>
            </a:r>
            <a:r>
              <a:rPr lang="en-US" dirty="0"/>
              <a:t>: If one thread’s PC is already inside its critical section, the others will be prevented from entering theirs.</a:t>
            </a:r>
          </a:p>
          <a:p>
            <a:pPr lvl="1"/>
            <a:r>
              <a:rPr lang="en-US" dirty="0"/>
              <a:t>One kind of </a:t>
            </a:r>
            <a:r>
              <a:rPr lang="en-US" dirty="0">
                <a:solidFill>
                  <a:srgbClr val="FF0000"/>
                </a:solidFill>
              </a:rPr>
              <a:t>synchronization</a:t>
            </a:r>
            <a:r>
              <a:rPr lang="en-US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crux: how to provide support for synchronization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support do we need to get the desired results</a:t>
            </a:r>
          </a:p>
          <a:p>
            <a:pPr lvl="1"/>
            <a:r>
              <a:rPr lang="en-US" dirty="0"/>
              <a:t>from the hardware in order to build useful synchronization primitives? </a:t>
            </a:r>
          </a:p>
          <a:p>
            <a:pPr lvl="1"/>
            <a:r>
              <a:rPr lang="en-US" dirty="0"/>
              <a:t>from the OS? </a:t>
            </a:r>
          </a:p>
          <a:p>
            <a:r>
              <a:rPr lang="en-US" dirty="0"/>
              <a:t>How can we build these primitives correctly and efficiently?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Implementation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45157" name="Rectangle 5"/>
          <p:cNvSpPr>
            <a:spLocks noChangeArrowheads="1"/>
          </p:cNvSpPr>
          <p:nvPr/>
        </p:nvSpPr>
        <p:spPr bwMode="auto">
          <a:xfrm>
            <a:off x="2286000" y="2438400"/>
            <a:ext cx="2895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lIns="182880" tIns="182880" rIns="182880" bIns="182880" anchor="ctr"/>
          <a:lstStyle/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…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entry section;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660066"/>
                </a:solidFill>
                <a:latin typeface="Candara" panose="020E0502030303020204" pitchFamily="34" charset="0"/>
              </a:rPr>
              <a:t>critical section;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exit section;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…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248400" y="2438400"/>
            <a:ext cx="2895600" cy="2209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lIns="182880" tIns="182880" rIns="182880" bIns="182880" anchor="ctr"/>
          <a:lstStyle/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…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entry section;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660066"/>
                </a:solidFill>
                <a:latin typeface="Candara" panose="020E0502030303020204" pitchFamily="34" charset="0"/>
              </a:rPr>
              <a:t>counter++;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exit section;</a:t>
            </a:r>
          </a:p>
          <a:p>
            <a:pPr>
              <a:tabLst>
                <a:tab pos="34607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</a:rPr>
              <a:t>…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Basics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</a:t>
            </a:r>
          </a:p>
        </p:txBody>
      </p:sp>
      <p:sp>
        <p:nvSpPr>
          <p:cNvPr id="36866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instance, consider critical section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counter++; </a:t>
            </a:r>
          </a:p>
          <a:p>
            <a:r>
              <a:rPr lang="en-US" dirty="0"/>
              <a:t>Then use a lock:</a:t>
            </a:r>
          </a:p>
          <a:p>
            <a:pPr marL="403225" lvl="1" indent="0">
              <a:buNone/>
            </a:pPr>
            <a:r>
              <a:rPr lang="en-US" dirty="0" err="1">
                <a:solidFill>
                  <a:srgbClr val="7030A0"/>
                </a:solidFill>
              </a:rPr>
              <a:t>lock_t</a:t>
            </a:r>
            <a:r>
              <a:rPr lang="en-US" dirty="0">
                <a:solidFill>
                  <a:srgbClr val="7030A0"/>
                </a:solidFill>
              </a:rPr>
              <a:t> mutex; </a:t>
            </a:r>
            <a:r>
              <a:rPr lang="en-US" dirty="0"/>
              <a:t>// some globally-allocated lock</a:t>
            </a:r>
          </a:p>
          <a:p>
            <a:pPr marL="403225" lvl="1" indent="0">
              <a:buNone/>
            </a:pPr>
            <a:r>
              <a:rPr lang="en-US" dirty="0">
                <a:solidFill>
                  <a:srgbClr val="7030A0"/>
                </a:solidFill>
              </a:rPr>
              <a:t>...</a:t>
            </a:r>
          </a:p>
          <a:p>
            <a:pPr marL="403225" lvl="1" indent="0">
              <a:buNone/>
            </a:pPr>
            <a:r>
              <a:rPr lang="en-US" dirty="0">
                <a:solidFill>
                  <a:srgbClr val="7030A0"/>
                </a:solidFill>
              </a:rPr>
              <a:t>lock(&amp;</a:t>
            </a:r>
            <a:r>
              <a:rPr lang="en-US" dirty="0" err="1">
                <a:solidFill>
                  <a:srgbClr val="7030A0"/>
                </a:solidFill>
              </a:rPr>
              <a:t>mutex</a:t>
            </a:r>
            <a:r>
              <a:rPr lang="en-US" dirty="0">
                <a:solidFill>
                  <a:srgbClr val="7030A0"/>
                </a:solidFill>
              </a:rPr>
              <a:t>);</a:t>
            </a:r>
          </a:p>
          <a:p>
            <a:pPr marL="403225" lvl="1" indent="0">
              <a:buNone/>
            </a:pPr>
            <a:r>
              <a:rPr lang="en-US" dirty="0">
                <a:solidFill>
                  <a:srgbClr val="7030A0"/>
                </a:solidFill>
              </a:rPr>
              <a:t>counter++;</a:t>
            </a:r>
          </a:p>
          <a:p>
            <a:pPr marL="403225" lvl="1" indent="0">
              <a:buNone/>
            </a:pPr>
            <a:r>
              <a:rPr lang="en-US" dirty="0">
                <a:solidFill>
                  <a:srgbClr val="7030A0"/>
                </a:solidFill>
              </a:rPr>
              <a:t>unlock(&amp;</a:t>
            </a:r>
            <a:r>
              <a:rPr lang="en-US" dirty="0" err="1">
                <a:solidFill>
                  <a:srgbClr val="7030A0"/>
                </a:solidFill>
              </a:rPr>
              <a:t>mutex</a:t>
            </a:r>
            <a:r>
              <a:rPr lang="en-US" dirty="0">
                <a:solidFill>
                  <a:srgbClr val="7030A0"/>
                </a:solidFill>
              </a:rPr>
              <a:t>);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</a:t>
            </a:r>
          </a:p>
        </p:txBody>
      </p:sp>
      <p:sp>
        <p:nvSpPr>
          <p:cNvPr id="38914" name="Rectangle 5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mutex variable acts like a "lock" protecting access to a shared data resource.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87A17-6A1C-4D18-A1F2-D9DA74D72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837"/>
            <a:ext cx="2133600" cy="990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</a:t>
            </a:r>
          </a:p>
        </p:txBody>
      </p:sp>
      <p:pic>
        <p:nvPicPr>
          <p:cNvPr id="1026" name="Picture 2" descr="Image result for waiting for Lavatory In airplane">
            <a:extLst>
              <a:ext uri="{FF2B5EF4-FFF2-40B4-BE49-F238E27FC236}">
                <a16:creationId xmlns:a16="http://schemas.microsoft.com/office/drawing/2014/main" id="{31DFBB6B-2CA1-45CC-96A4-8CDF1157E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431254"/>
            <a:ext cx="309562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09E18B-8363-4B20-A455-04A00ADF09C6}"/>
              </a:ext>
            </a:extLst>
          </p:cNvPr>
          <p:cNvSpPr/>
          <p:nvPr/>
        </p:nvSpPr>
        <p:spPr>
          <a:xfrm>
            <a:off x="7238338" y="4958485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rPr>
              <a:t>Source: Google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lock()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Calling the routine lock(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&amp;mutex</a:t>
            </a:r>
            <a:r>
              <a:rPr lang="en-US" dirty="0"/>
              <a:t>) tries to acquire the lock mutex: </a:t>
            </a:r>
          </a:p>
          <a:p>
            <a:pPr lvl="1"/>
            <a:r>
              <a:rPr lang="en-US" dirty="0"/>
              <a:t>If no other thread holds the lock (i.e., it is free), the thread will acquire the lock (owner) and enter the critical section. </a:t>
            </a:r>
          </a:p>
          <a:p>
            <a:pPr lvl="1"/>
            <a:r>
              <a:rPr lang="en-US" dirty="0"/>
              <a:t>If another thread then calls lock(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&amp;mutex</a:t>
            </a:r>
            <a:r>
              <a:rPr lang="en-US" dirty="0"/>
              <a:t>) on that same lock mutex, it will not return while the lock is held by another thread.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AA2BC-1E3A-FD49-974A-2BF20F626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837"/>
            <a:ext cx="2133600" cy="990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unlock()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the owner of the lock calls unlock(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&amp;mutex</a:t>
            </a:r>
            <a:r>
              <a:rPr lang="en-US" dirty="0"/>
              <a:t>), the lock is now available again: </a:t>
            </a:r>
          </a:p>
          <a:p>
            <a:pPr lvl="1"/>
            <a:r>
              <a:rPr lang="en-US" dirty="0"/>
              <a:t>If no other threads are waiting for the lock, the state of the lock is simply changed to free. </a:t>
            </a:r>
          </a:p>
          <a:p>
            <a:pPr lvl="1"/>
            <a:r>
              <a:rPr lang="en-US" dirty="0"/>
              <a:t>If there are waiting threads (stuck in lock(</a:t>
            </a:r>
            <a:r>
              <a:rPr lang="en-US" dirty="0">
                <a:solidFill>
                  <a:srgbClr val="000000"/>
                </a:solidFill>
                <a:ea typeface="ＭＳ Ｐゴシック" pitchFamily="34" charset="-128"/>
              </a:rPr>
              <a:t>&amp;mutex</a:t>
            </a:r>
            <a:r>
              <a:rPr lang="en-US" dirty="0"/>
              <a:t>)), one of them will eventually notice this change of the lock’s state, acquire the lock, and enter the critical section.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88CFC89-5964-3A43-96A9-D23B6DD2A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837"/>
            <a:ext cx="2133600" cy="990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mutex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73654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Pthread</a:t>
            </a:r>
            <a:r>
              <a:rPr lang="en-US" dirty="0"/>
              <a:t> locks</a:t>
            </a:r>
          </a:p>
        </p:txBody>
      </p:sp>
      <p:sp>
        <p:nvSpPr>
          <p:cNvPr id="40962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pthread_mutex_t</a:t>
            </a:r>
            <a:r>
              <a:rPr lang="en-US" dirty="0"/>
              <a:t> mutex</a:t>
            </a:r>
          </a:p>
          <a:p>
            <a:r>
              <a:rPr lang="en-US" dirty="0" err="1"/>
              <a:t>pthread_mutex_init</a:t>
            </a:r>
            <a:r>
              <a:rPr lang="en-US" dirty="0"/>
              <a:t>(mutex, </a:t>
            </a:r>
            <a:r>
              <a:rPr lang="en-US" dirty="0" err="1"/>
              <a:t>attr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attr</a:t>
            </a:r>
            <a:r>
              <a:rPr lang="en-US" dirty="0"/>
              <a:t>, mutex object attributes (</a:t>
            </a:r>
            <a:r>
              <a:rPr lang="en-US" dirty="0" err="1"/>
              <a:t>defaut</a:t>
            </a:r>
            <a:r>
              <a:rPr lang="en-US" dirty="0"/>
              <a:t>: NULL).</a:t>
            </a:r>
          </a:p>
          <a:p>
            <a:r>
              <a:rPr lang="en-US" dirty="0" err="1"/>
              <a:t>pthread_mutex_destroy</a:t>
            </a:r>
            <a:r>
              <a:rPr lang="en-US" dirty="0"/>
              <a:t>(mutex)</a:t>
            </a:r>
          </a:p>
          <a:p>
            <a:r>
              <a:rPr lang="en-US" dirty="0" err="1"/>
              <a:t>pthread_mutex_lock</a:t>
            </a:r>
            <a:r>
              <a:rPr lang="en-US" dirty="0"/>
              <a:t>(mutex)</a:t>
            </a:r>
          </a:p>
          <a:p>
            <a:pPr lvl="1"/>
            <a:r>
              <a:rPr lang="en-US" dirty="0"/>
              <a:t>Attempts to lock a mutex;</a:t>
            </a:r>
          </a:p>
          <a:p>
            <a:pPr lvl="1"/>
            <a:r>
              <a:rPr lang="en-US" dirty="0"/>
              <a:t>The thread blocks if the mutex is already locked by another thread.</a:t>
            </a:r>
          </a:p>
          <a:p>
            <a:r>
              <a:rPr lang="en-US" dirty="0" err="1"/>
              <a:t>pthread_mutex_trylock</a:t>
            </a:r>
            <a:r>
              <a:rPr lang="en-US" dirty="0"/>
              <a:t>(mutex)</a:t>
            </a:r>
          </a:p>
          <a:p>
            <a:pPr lvl="1"/>
            <a:r>
              <a:rPr lang="en-US" dirty="0"/>
              <a:t>Attempts to lock a mutex;</a:t>
            </a:r>
          </a:p>
          <a:p>
            <a:pPr lvl="1"/>
            <a:r>
              <a:rPr lang="en-US" dirty="0"/>
              <a:t>Return with a "busy" error code if the mutex is already locked</a:t>
            </a:r>
          </a:p>
          <a:p>
            <a:r>
              <a:rPr lang="en-US" dirty="0" err="1"/>
              <a:t>pthread_mutex_unlock</a:t>
            </a:r>
            <a:r>
              <a:rPr lang="en-US" dirty="0"/>
              <a:t>(mutex);</a:t>
            </a:r>
          </a:p>
          <a:p>
            <a:pPr lvl="1"/>
            <a:r>
              <a:rPr lang="en-US" dirty="0"/>
              <a:t>Unlock a mutex if called by the owning thread.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computing.llnl.gov</a:t>
            </a:r>
            <a:r>
              <a:rPr lang="en-US" dirty="0"/>
              <a:t>/tutorials/</a:t>
            </a:r>
            <a:r>
              <a:rPr lang="en-US" dirty="0" err="1"/>
              <a:t>pthreads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26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Example</a:t>
            </a: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505200" y="2514600"/>
            <a:ext cx="5334000" cy="2514600"/>
          </a:xfr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>
            <a:normAutofit lnSpcReduction="10000"/>
          </a:bodyPr>
          <a:lstStyle/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pthread_mutex_t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pthread_mutex_init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(&amp;lock,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…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pthread_mutex_lock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(&amp;lock);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counter++;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pthread_mutex_unlock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(&amp;lock);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Corrected example “</a:t>
            </a:r>
            <a:r>
              <a:rPr lang="en-US" dirty="0" err="1">
                <a:ea typeface="ＭＳ Ｐゴシック" pitchFamily="34" charset="-128"/>
              </a:rPr>
              <a:t>thread.c</a:t>
            </a:r>
            <a:r>
              <a:rPr lang="en-US" dirty="0">
                <a:ea typeface="ＭＳ Ｐゴシック" pitchFamily="34" charset="-128"/>
              </a:rPr>
              <a:t>”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3581400" y="1309116"/>
            <a:ext cx="4724400" cy="5029200"/>
          </a:xfr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91440" bIns="91440" rtlCol="0">
            <a:noAutofit/>
          </a:bodyPr>
          <a:lstStyle/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pthread_mutex_t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4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void *worker(void *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arg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)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for (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&lt; loops; 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++)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    </a:t>
            </a:r>
            <a:r>
              <a:rPr lang="en-US" sz="2400" dirty="0" err="1">
                <a:solidFill>
                  <a:srgbClr val="FF0000"/>
                </a:solidFill>
                <a:ea typeface="ＭＳ Ｐゴシック" pitchFamily="34" charset="-128"/>
              </a:rPr>
              <a:t>pthread_mutex_lock</a:t>
            </a: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(&amp;lock);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    counter++;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    </a:t>
            </a:r>
            <a:r>
              <a:rPr lang="en-US" sz="2400" dirty="0" err="1">
                <a:solidFill>
                  <a:srgbClr val="FF0000"/>
                </a:solidFill>
                <a:ea typeface="ＭＳ Ｐゴシック" pitchFamily="34" charset="-128"/>
              </a:rPr>
              <a:t>pthread_mutex_unlock</a:t>
            </a: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   return NULL;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Corrected example</a:t>
            </a:r>
            <a:br>
              <a:rPr lang="en-US" dirty="0"/>
            </a:br>
            <a:r>
              <a:rPr lang="en-US" dirty="0"/>
              <a:t> “</a:t>
            </a:r>
            <a:r>
              <a:rPr lang="en-US" dirty="0" err="1"/>
              <a:t>thread.c</a:t>
            </a:r>
            <a:r>
              <a:rPr lang="en-US" dirty="0"/>
              <a:t>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16F18F2-28B0-3A42-B2A2-CB42543B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525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C92A7-7CB5-1F47-B0EE-B3B79247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5438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Another example: bank account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4419600" cy="5181600"/>
          </a:xfr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91440" bIns="91440" rtlCol="0">
            <a:normAutofit fontScale="92500" lnSpcReduction="20000"/>
          </a:bodyPr>
          <a:lstStyle/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pthread_mutex_t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pthread_mutex_init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(&amp;lock,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void withdraw(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amount)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assert(amount &lt; 0);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FF0000"/>
                </a:solidFill>
                <a:ea typeface="ＭＳ Ｐゴシック" pitchFamily="34" charset="-128"/>
              </a:rPr>
              <a:t>pthread_mutex_lock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(&amp;lock);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balance = balance + amount;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FF0000"/>
                </a:solidFill>
                <a:ea typeface="ＭＳ Ｐゴシック" pitchFamily="34" charset="-128"/>
              </a:rPr>
              <a:t>pthread_mutex_unlock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void deposit(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amount)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	assert(amount &lt; 0);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FF0000"/>
                </a:solidFill>
                <a:ea typeface="ＭＳ Ｐゴシック" pitchFamily="34" charset="-128"/>
              </a:rPr>
              <a:t>pthread_mutex_lock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(&amp;lock);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balance = balance - amount;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FF0000"/>
                </a:solidFill>
                <a:ea typeface="ＭＳ Ｐゴシック" pitchFamily="34" charset="-128"/>
              </a:rPr>
              <a:t>pthread_mutex_unlock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8131" name="TextBox 1"/>
          <p:cNvSpPr txBox="1">
            <a:spLocks noChangeArrowheads="1"/>
          </p:cNvSpPr>
          <p:nvPr/>
        </p:nvSpPr>
        <p:spPr bwMode="auto">
          <a:xfrm>
            <a:off x="7010400" y="3429001"/>
            <a:ext cx="3276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Use one lock for two critical sections!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The crux: How to build a lock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How can we build an efficient lock? </a:t>
            </a:r>
          </a:p>
          <a:p>
            <a:r>
              <a:rPr lang="en-US" dirty="0">
                <a:ea typeface="ＭＳ Ｐゴシック" pitchFamily="34" charset="-128"/>
              </a:rPr>
              <a:t>What hardware support? </a:t>
            </a:r>
          </a:p>
          <a:p>
            <a:r>
              <a:rPr lang="en-US" dirty="0">
                <a:ea typeface="ＭＳ Ｐゴシック" pitchFamily="34" charset="-128"/>
              </a:rPr>
              <a:t>What OS support?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locks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Mutual exclusion</a:t>
            </a:r>
          </a:p>
          <a:p>
            <a:pPr lvl="1"/>
            <a:r>
              <a:rPr lang="en-US" dirty="0"/>
              <a:t>Basically, does the lock work, preventing multiple threads from entering a critical section?</a:t>
            </a:r>
          </a:p>
          <a:p>
            <a:r>
              <a:rPr lang="en-US" dirty="0"/>
              <a:t>Fairness</a:t>
            </a:r>
          </a:p>
          <a:p>
            <a:pPr lvl="1"/>
            <a:r>
              <a:rPr lang="en-US" dirty="0"/>
              <a:t>Does each thread contending for the lock get a fair shot at acquiring it once it is free? </a:t>
            </a:r>
          </a:p>
          <a:p>
            <a:pPr lvl="1"/>
            <a:r>
              <a:rPr lang="en-US" dirty="0"/>
              <a:t>Does any thread contending for the lock starve while doing so, thus never obtaining it?</a:t>
            </a:r>
          </a:p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When a single thread is running and grabs and releases the lock, what is the overhead of doing so?</a:t>
            </a:r>
          </a:p>
          <a:p>
            <a:pPr lvl="1"/>
            <a:r>
              <a:rPr lang="en-US" dirty="0"/>
              <a:t>When multiple threads are contending for the lock on a single CPU, are there performance concerns?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Basics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Software solution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First attempt without hardware support</a:t>
            </a:r>
          </a:p>
        </p:txBody>
      </p:sp>
      <p:sp>
        <p:nvSpPr>
          <p:cNvPr id="522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Use a simple variable to indicate whether some thread has possession of a lock.</a:t>
            </a:r>
          </a:p>
          <a:p>
            <a:pPr marL="400050" lvl="1" indent="0">
              <a:buNone/>
            </a:pPr>
            <a:endParaRPr lang="en-US" dirty="0">
              <a:ea typeface="ＭＳ Ｐゴシック" pitchFamily="34" charset="-128"/>
            </a:endParaRP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typedef struct __</a:t>
            </a:r>
            <a:r>
              <a:rPr lang="en-US" dirty="0" err="1">
                <a:solidFill>
                  <a:srgbClr val="660066"/>
                </a:solidFill>
                <a:ea typeface="ＭＳ Ｐゴシック" pitchFamily="34" charset="-128"/>
              </a:rPr>
              <a:t>lock_t</a:t>
            </a: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 { </a:t>
            </a: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	      int flag; </a:t>
            </a: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} </a:t>
            </a:r>
            <a:r>
              <a:rPr lang="en-US" dirty="0" err="1">
                <a:solidFill>
                  <a:srgbClr val="660066"/>
                </a:solidFill>
                <a:ea typeface="ＭＳ Ｐゴシック" pitchFamily="34" charset="-128"/>
              </a:rPr>
              <a:t>lock_t</a:t>
            </a: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;</a:t>
            </a:r>
          </a:p>
          <a:p>
            <a:pPr marL="800100" lvl="2" indent="0">
              <a:spcBef>
                <a:spcPct val="0"/>
              </a:spcBef>
              <a:buNone/>
            </a:pPr>
            <a:endParaRPr lang="en-US" dirty="0">
              <a:solidFill>
                <a:srgbClr val="660066"/>
              </a:solidFill>
              <a:ea typeface="ＭＳ Ｐゴシック" pitchFamily="34" charset="-128"/>
            </a:endParaRP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void </a:t>
            </a:r>
            <a:r>
              <a:rPr lang="en-US" dirty="0" err="1">
                <a:solidFill>
                  <a:srgbClr val="660066"/>
                </a:solidFill>
                <a:ea typeface="ＭＳ Ｐゴシック" pitchFamily="34" charset="-128"/>
              </a:rPr>
              <a:t>init</a:t>
            </a: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(</a:t>
            </a:r>
            <a:r>
              <a:rPr lang="en-US" dirty="0" err="1">
                <a:solidFill>
                  <a:srgbClr val="660066"/>
                </a:solidFill>
                <a:ea typeface="ＭＳ Ｐゴシック" pitchFamily="34" charset="-128"/>
              </a:rPr>
              <a:t>lock_t</a:t>
            </a: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 *lock) {</a:t>
            </a: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	      lock-&gt;flag = 0;  // 0: unlocked, 1: locked</a:t>
            </a:r>
          </a:p>
          <a:p>
            <a:pPr marL="800100" lvl="2" indent="0">
              <a:spcBef>
                <a:spcPct val="0"/>
              </a:spcBef>
              <a:buNone/>
            </a:pPr>
            <a:r>
              <a:rPr lang="en-US" dirty="0">
                <a:solidFill>
                  <a:srgbClr val="660066"/>
                </a:solidFill>
                <a:ea typeface="ＭＳ Ｐゴシック" pitchFamily="34" charset="-128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ＭＳ Ｐゴシック" pitchFamily="34" charset="-128"/>
              </a:rPr>
              <a:t>First attempt without hardware support (cont’d)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90600" y="1219200"/>
            <a:ext cx="5715000" cy="536448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typedef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__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flag;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                 // 0: unlocked, 1: locked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while (lock-&gt;flag == 1)  // TEST the flag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	;                                  // spin-wait (do nothing)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1;                  // now SET it!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unlock(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7086600" y="1219200"/>
            <a:ext cx="2362200" cy="23622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…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lock(&amp;lock);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…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unlock(&amp;lock);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Problem 1: interleaved operations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Rectangle 154"/>
          <p:cNvSpPr>
            <a:spLocks noChangeArrowheads="1"/>
          </p:cNvSpPr>
          <p:nvPr/>
        </p:nvSpPr>
        <p:spPr bwMode="auto">
          <a:xfrm>
            <a:off x="1600200" y="2057399"/>
            <a:ext cx="3962400" cy="403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lock()</a:t>
            </a:r>
            <a:b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</a:b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   </a:t>
            </a:r>
            <a:r>
              <a:rPr lang="en-US" sz="2000" dirty="0">
                <a:latin typeface="Candara" panose="020E0502030303020204" pitchFamily="34" charset="0"/>
              </a:rPr>
              <a:t>while (lock-&gt;flag == 1)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	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// flag==0: it is unlocked, continue 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[interrupt, switch to thread 1] </a:t>
            </a: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lock-&gt;flag = 1; // lock it too! </a:t>
            </a: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</p:txBody>
      </p:sp>
      <p:sp>
        <p:nvSpPr>
          <p:cNvPr id="6" name="Rectangle 155"/>
          <p:cNvSpPr>
            <a:spLocks noChangeArrowheads="1"/>
          </p:cNvSpPr>
          <p:nvPr/>
        </p:nvSpPr>
        <p:spPr bwMode="auto">
          <a:xfrm>
            <a:off x="5867400" y="2057399"/>
            <a:ext cx="3810000" cy="403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lock()</a:t>
            </a:r>
            <a:b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</a:b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    </a:t>
            </a:r>
            <a:r>
              <a:rPr lang="en-US" sz="2000" dirty="0">
                <a:latin typeface="Candara" panose="020E0502030303020204" pitchFamily="34" charset="0"/>
              </a:rPr>
              <a:t>while (lock-&gt;flag == 1) 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	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// flag==0: continue 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lock-&gt;flag = 1; // lock it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    [interrupt, switch to thread 0] </a:t>
            </a: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solidFill>
                <a:srgbClr val="660066"/>
              </a:solidFill>
              <a:latin typeface="Candara" panose="020E0502030303020204" pitchFamily="34" charset="0"/>
            </a:endParaRPr>
          </a:p>
        </p:txBody>
      </p:sp>
      <p:sp>
        <p:nvSpPr>
          <p:cNvPr id="54277" name="Text Box 157"/>
          <p:cNvSpPr txBox="1">
            <a:spLocks noChangeArrowheads="1"/>
          </p:cNvSpPr>
          <p:nvPr/>
        </p:nvSpPr>
        <p:spPr bwMode="auto">
          <a:xfrm>
            <a:off x="6858000" y="1371600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  <a:latin typeface="Candara" panose="020E0502030303020204" pitchFamily="34" charset="0"/>
              </a:rPr>
              <a:t>Thread 1</a:t>
            </a:r>
          </a:p>
        </p:txBody>
      </p:sp>
      <p:sp>
        <p:nvSpPr>
          <p:cNvPr id="54278" name="Text Box 158"/>
          <p:cNvSpPr txBox="1">
            <a:spLocks noChangeArrowheads="1"/>
          </p:cNvSpPr>
          <p:nvPr/>
        </p:nvSpPr>
        <p:spPr bwMode="auto">
          <a:xfrm>
            <a:off x="2667000" y="1371600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  <a:latin typeface="Candara" panose="020E0502030303020204" pitchFamily="34" charset="0"/>
              </a:rPr>
              <a:t>Thread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Problem 2: spin waiting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54953D-77D6-A64D-B2EE-90ED9F61A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19200"/>
            <a:ext cx="5715000" cy="536448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typedef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__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flag;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                 // 0: unlocked, 1: locked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(lock-&gt;flag == 1)  // TEST the flag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	;                                  // 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spin-wait (do nothing)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1;                  // now SET it!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unlock(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F268A2-667E-FB41-A600-FDC3FE100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219200"/>
            <a:ext cx="2362200" cy="23622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…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lock(&amp;lock);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…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unlock(&amp;lock);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Solving spin-waiting: yielding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simple approach: when you are going to spin, instead give up the CPU to another thread.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	void lock(</a:t>
            </a:r>
            <a:r>
              <a:rPr lang="en-US" sz="2000" dirty="0" err="1">
                <a:solidFill>
                  <a:srgbClr val="660066"/>
                </a:solidFill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 *lock)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    		while (lock-&gt;flag == 1)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        		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yield()</a:t>
            </a: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; // give up the CPU                  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solidFill>
                  <a:srgbClr val="660066"/>
                </a:solidFill>
                <a:ea typeface="ＭＳ Ｐゴシック" pitchFamily="34" charset="-128"/>
              </a:rPr>
              <a:t>	}</a:t>
            </a:r>
          </a:p>
          <a:p>
            <a:r>
              <a:rPr lang="en-US" dirty="0">
                <a:ea typeface="ＭＳ Ｐゴシック" pitchFamily="34" charset="-128"/>
              </a:rPr>
              <a:t>What happens?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OS switches the threads between running and 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ready/runnable</a:t>
            </a:r>
            <a:r>
              <a:rPr lang="en-US" dirty="0">
                <a:ea typeface="ＭＳ Ｐゴシック" pitchFamily="34" charset="-128"/>
              </a:rPr>
              <a:t> states.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with yielding under many threads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100 threads and a round-robin (RR) scheduler.</a:t>
            </a:r>
          </a:p>
          <a:p>
            <a:r>
              <a:rPr lang="en-US" dirty="0"/>
              <a:t>If one thread acquires the lock and is preempted (after a time quantum) before releasing it, </a:t>
            </a:r>
          </a:p>
          <a:p>
            <a:pPr lvl="1"/>
            <a:r>
              <a:rPr lang="en-US" dirty="0"/>
              <a:t>The other 99 will each call lock(), find the lock held, and yield the CPU. </a:t>
            </a:r>
          </a:p>
          <a:p>
            <a:pPr lvl="1"/>
            <a:r>
              <a:rPr lang="en-US" dirty="0"/>
              <a:t>The thread holding the lock gets to run again after each of the 99 executes this run-and-yield pattern. </a:t>
            </a:r>
          </a:p>
          <a:p>
            <a:pPr lvl="1"/>
            <a:r>
              <a:rPr lang="en-US" dirty="0"/>
              <a:t>It is still costly.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Solving spin-waiting: sleeping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When a thread calls lock, the thread will be put into a queue to sleep.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The sleeping thread is in 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blocked/waiting </a:t>
            </a:r>
            <a:r>
              <a:rPr lang="en-US" dirty="0">
                <a:ea typeface="ＭＳ Ｐゴシック" pitchFamily="34" charset="-128"/>
              </a:rPr>
              <a:t>state, not in ready state or running state.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The sleeping thread will not compete for CPU in sleep.</a:t>
            </a:r>
          </a:p>
          <a:p>
            <a:r>
              <a:rPr lang="en-US" dirty="0">
                <a:ea typeface="ＭＳ Ｐゴシック" pitchFamily="34" charset="-128"/>
              </a:rPr>
              <a:t>When a thread calls unlock, some thread in the queue will be waken up.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Issue: which thread should be waken up?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 on software solution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some reason, developing locks that work without special hardware support was interesting and challenging. </a:t>
            </a:r>
          </a:p>
          <a:p>
            <a:r>
              <a:rPr lang="en-US" dirty="0"/>
              <a:t>Of course, this all became quite useless when people realized it is much easier to assume a little hardware support.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Basics</a:t>
            </a:r>
          </a:p>
          <a:p>
            <a:r>
              <a:rPr lang="en-US" dirty="0">
                <a:ea typeface="ＭＳ Ｐゴシック" pitchFamily="34" charset="-128"/>
              </a:rPr>
              <a:t>Software solution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Hardware solution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interrupts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earliest solutions used to provide mutual exclusion was to disable interrupts for critical sections.</a:t>
            </a:r>
          </a:p>
          <a:p>
            <a:r>
              <a:rPr lang="en-US" dirty="0"/>
              <a:t>This solution was invented for single-processor systems.</a:t>
            </a:r>
          </a:p>
          <a:p>
            <a:pPr marL="696912" lvl="2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A9D5E-5D82-465D-A109-A1154670857E}"/>
              </a:ext>
            </a:extLst>
          </p:cNvPr>
          <p:cNvSpPr/>
          <p:nvPr/>
        </p:nvSpPr>
        <p:spPr>
          <a:xfrm>
            <a:off x="1981200" y="3886201"/>
            <a:ext cx="3200400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 tIns="91440" bIns="91440" anchor="ctr"/>
          <a:lstStyle/>
          <a:p>
            <a:pPr marL="0" lvl="2"/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void lock() {</a:t>
            </a:r>
          </a:p>
          <a:p>
            <a:pPr marL="0" lvl="2">
              <a:tabLst>
                <a:tab pos="339725" algn="l"/>
              </a:tabLst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	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</a:rPr>
              <a:t>disable_interrupts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();</a:t>
            </a:r>
          </a:p>
          <a:p>
            <a:pPr marL="0" lvl="2"/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4AD72-462E-49E2-8068-D619E52C610D}"/>
              </a:ext>
            </a:extLst>
          </p:cNvPr>
          <p:cNvSpPr/>
          <p:nvPr/>
        </p:nvSpPr>
        <p:spPr>
          <a:xfrm>
            <a:off x="5657850" y="3886200"/>
            <a:ext cx="3200400" cy="1200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 tIns="91440" bIns="91440" anchor="ctr"/>
          <a:lstStyle/>
          <a:p>
            <a:pPr marL="0" lvl="2"/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void unlock() {</a:t>
            </a:r>
          </a:p>
          <a:p>
            <a:pPr marL="0" lvl="2">
              <a:tabLst>
                <a:tab pos="339725" algn="l"/>
              </a:tabLst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	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</a:rPr>
              <a:t>enable_interrupts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();</a:t>
            </a:r>
          </a:p>
          <a:p>
            <a:pPr marL="0" lvl="2"/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Simplicity.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It requires to allow any calling thread to perform a privileged operation (turning interrupts on and off), and thus trust that this facility is not abused.</a:t>
            </a:r>
          </a:p>
          <a:p>
            <a:pPr lvl="1"/>
            <a:r>
              <a:rPr lang="en-US" dirty="0"/>
              <a:t>Inefficient: code that masks or unmasks interrupts tends to be executed slowly by modern CPUs.</a:t>
            </a:r>
          </a:p>
          <a:p>
            <a:pPr lvl="1"/>
            <a:r>
              <a:rPr lang="en-US" dirty="0"/>
              <a:t>It does not work on multiprocessors.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>
            <a:normAutofit/>
          </a:bodyPr>
          <a:lstStyle/>
          <a:p>
            <a:r>
              <a:rPr lang="en-US" dirty="0"/>
              <a:t>Another hardware primitive: </a:t>
            </a:r>
            <a:r>
              <a:rPr lang="en-US" dirty="0" err="1"/>
              <a:t>TestAndSet</a:t>
            </a:r>
            <a:r>
              <a:rPr lang="en-US" dirty="0"/>
              <a:t>()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09670-CFC3-4690-A40E-E1E8CBB71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38600"/>
            <a:ext cx="10972800" cy="2514600"/>
          </a:xfrm>
        </p:spPr>
        <p:txBody>
          <a:bodyPr/>
          <a:lstStyle/>
          <a:p>
            <a:r>
              <a:rPr lang="en-US" dirty="0" err="1"/>
              <a:t>TestAndSet</a:t>
            </a:r>
            <a:r>
              <a:rPr lang="en-US" dirty="0"/>
              <a:t> enables us to “test” the old value (which is what is returned) while simultaneously “setting” the memory location to a new value.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5C6E2FAD-583A-4D00-BA65-381257BEF45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33600" y="1436450"/>
            <a:ext cx="5781472" cy="206875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TestAndSet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 *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ptr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 new)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 old = *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ptr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;    // fetch old value at 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ptr</a:t>
            </a:r>
            <a:endParaRPr lang="en-US" sz="2400" dirty="0">
              <a:solidFill>
                <a:srgbClr val="7030A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	*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ptr</a:t>
            </a: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 = new;        // store ’new’ into </a:t>
            </a:r>
            <a:r>
              <a:rPr lang="en-US" sz="2400" dirty="0" err="1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ptr</a:t>
            </a:r>
            <a:endParaRPr lang="en-US" sz="2400" dirty="0">
              <a:solidFill>
                <a:srgbClr val="7030A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old;         // return the old value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7030A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6466F-C2D3-46CC-80E8-1DDD27E0F756}"/>
              </a:ext>
            </a:extLst>
          </p:cNvPr>
          <p:cNvSpPr/>
          <p:nvPr/>
        </p:nvSpPr>
        <p:spPr>
          <a:xfrm>
            <a:off x="8153400" y="1702129"/>
            <a:ext cx="1752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Atomic Exchange</a:t>
            </a:r>
            <a:endParaRPr lang="en-US" sz="28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TestAndSet</a:t>
            </a: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C795CFC-EB63-44EE-9F0F-21A448A2D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3000"/>
            <a:ext cx="5791200" cy="544068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typedef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__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{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flag;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                 // 0: unlocked, 1: locked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while (lock-&gt;flag == 1)  // TEST the flag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	;                               // spin-wait (do nothing)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1;                // now SET it!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unlock(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lock-&gt;flag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8FCA332-3E28-4C31-A1DF-20EE0BC2F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143000"/>
            <a:ext cx="2438400" cy="25908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init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…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lock(&amp;lock);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// … critical section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unlock(&amp;lock);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38200" y="3657600"/>
            <a:ext cx="5715000" cy="1600200"/>
          </a:xfrm>
          <a:prstGeom prst="rect">
            <a:avLst/>
          </a:prstGeom>
          <a:solidFill>
            <a:schemeClr val="bg1"/>
          </a:solidFill>
          <a:ln w="12700" cap="flat" algn="ctr">
            <a:noFill/>
            <a:miter lim="800000"/>
            <a:headEnd/>
            <a:tailEnd/>
          </a:ln>
          <a:effectLst/>
        </p:spPr>
        <p:txBody>
          <a:bodyPr wrap="none" lIns="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lock(</a:t>
            </a:r>
            <a:r>
              <a:rPr lang="en-US" sz="2000" dirty="0" err="1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lock_t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 *lock)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	while (</a:t>
            </a:r>
            <a:r>
              <a:rPr lang="en-US" sz="2000" dirty="0" err="1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TestAndSet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(&amp;lock-&gt;flag, 1) == 1)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		;                                   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Examine interleaved operations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2321A9-E63F-4FA3-887D-995FD7E6C326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0659" name="Text Box 158"/>
          <p:cNvSpPr txBox="1">
            <a:spLocks noChangeArrowheads="1"/>
          </p:cNvSpPr>
          <p:nvPr/>
        </p:nvSpPr>
        <p:spPr bwMode="auto">
          <a:xfrm>
            <a:off x="2133600" y="1295400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  <a:latin typeface="Candara" panose="020E0502030303020204" pitchFamily="34" charset="0"/>
              </a:rPr>
              <a:t>Thread 0</a:t>
            </a:r>
          </a:p>
        </p:txBody>
      </p:sp>
      <p:sp>
        <p:nvSpPr>
          <p:cNvPr id="70660" name="Text Box 158"/>
          <p:cNvSpPr txBox="1">
            <a:spLocks noChangeArrowheads="1"/>
          </p:cNvSpPr>
          <p:nvPr/>
        </p:nvSpPr>
        <p:spPr bwMode="auto">
          <a:xfrm>
            <a:off x="6324600" y="1295400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  <a:latin typeface="Candara" panose="020E0502030303020204" pitchFamily="34" charset="0"/>
              </a:rPr>
              <a:t>Thread 1</a:t>
            </a:r>
          </a:p>
        </p:txBody>
      </p:sp>
      <p:sp>
        <p:nvSpPr>
          <p:cNvPr id="8" name="Rectangle 154"/>
          <p:cNvSpPr>
            <a:spLocks noChangeArrowheads="1"/>
          </p:cNvSpPr>
          <p:nvPr/>
        </p:nvSpPr>
        <p:spPr bwMode="auto">
          <a:xfrm>
            <a:off x="5334000" y="1904998"/>
            <a:ext cx="4267200" cy="38052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/>
          <a:lstStyle/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lock()</a:t>
            </a:r>
            <a:b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</a:br>
            <a:r>
              <a:rPr lang="en-US" sz="2000" dirty="0">
                <a:latin typeface="Candara" panose="020E0502030303020204" pitchFamily="34" charset="0"/>
              </a:rPr>
              <a:t>while(</a:t>
            </a:r>
            <a:r>
              <a:rPr lang="en-US" sz="2000" dirty="0" err="1">
                <a:latin typeface="Candara" panose="020E0502030303020204" pitchFamily="34" charset="0"/>
              </a:rPr>
              <a:t>TestAndSet</a:t>
            </a:r>
            <a:r>
              <a:rPr lang="en-US" sz="2000" dirty="0">
                <a:latin typeface="Candara" panose="020E0502030303020204" pitchFamily="34" charset="0"/>
              </a:rPr>
              <a:t>(&amp;lock-&gt;flag, 1) == 1)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	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// flag==1: wait </a:t>
            </a: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endParaRPr lang="en-US" sz="2000" dirty="0">
              <a:latin typeface="Candara" panose="020E0502030303020204" pitchFamily="34" charset="0"/>
            </a:endParaRP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lock-&gt;flag = 1;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……</a:t>
            </a: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unlock()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lock-&gt;flag = 0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429000" y="5904565"/>
            <a:ext cx="36487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ndara" panose="020E0502030303020204" pitchFamily="34" charset="0"/>
              </a:rPr>
              <a:t>No interleaved operations!</a:t>
            </a:r>
          </a:p>
        </p:txBody>
      </p:sp>
      <p:sp>
        <p:nvSpPr>
          <p:cNvPr id="11" name="Rectangle 154"/>
          <p:cNvSpPr>
            <a:spLocks noChangeArrowheads="1"/>
          </p:cNvSpPr>
          <p:nvPr/>
        </p:nvSpPr>
        <p:spPr bwMode="auto">
          <a:xfrm>
            <a:off x="762000" y="1904998"/>
            <a:ext cx="4267200" cy="38052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lock()</a:t>
            </a:r>
            <a:br>
              <a:rPr lang="en-US" sz="2000" dirty="0">
                <a:latin typeface="Candara" panose="020E0502030303020204" pitchFamily="34" charset="0"/>
              </a:rPr>
            </a:br>
            <a:r>
              <a:rPr lang="en-US" sz="2000" dirty="0">
                <a:latin typeface="Candara" panose="020E0502030303020204" pitchFamily="34" charset="0"/>
              </a:rPr>
              <a:t>while(</a:t>
            </a:r>
            <a:r>
              <a:rPr lang="en-US" sz="2000" dirty="0" err="1">
                <a:latin typeface="Candara" panose="020E0502030303020204" pitchFamily="34" charset="0"/>
              </a:rPr>
              <a:t>TestAndSet</a:t>
            </a:r>
            <a:r>
              <a:rPr lang="en-US" sz="2000" dirty="0">
                <a:latin typeface="Candara" panose="020E0502030303020204" pitchFamily="34" charset="0"/>
              </a:rPr>
              <a:t>(&amp;lock-&gt;flag, 1) == 1)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	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// flag==0: continue 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// lock-&gt;flag = 1;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……</a:t>
            </a: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</a:rPr>
              <a:t>call unlock()</a:t>
            </a:r>
          </a:p>
          <a:p>
            <a:pPr>
              <a:defRPr/>
            </a:pPr>
            <a:r>
              <a:rPr lang="en-US" sz="2000" dirty="0">
                <a:latin typeface="Candara" panose="020E0502030303020204" pitchFamily="34" charset="0"/>
              </a:rPr>
              <a:t>lock-&gt;flag = 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821" y="0"/>
            <a:ext cx="6776357" cy="6858000"/>
          </a:xfrm>
          <a:prstGeom prst="rect">
            <a:avLst/>
          </a:prstGeom>
        </p:spPr>
      </p:pic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xv6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locking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9799"/>
          <a:stretch/>
        </p:blipFill>
        <p:spPr>
          <a:xfrm>
            <a:off x="3733800" y="0"/>
            <a:ext cx="4910088" cy="6858000"/>
          </a:xfrm>
          <a:prstGeom prst="rect">
            <a:avLst/>
          </a:prstGeom>
        </p:spPr>
      </p:pic>
      <p:sp>
        <p:nvSpPr>
          <p:cNvPr id="72707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2971800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xv6 </a:t>
            </a:r>
            <a:br>
              <a:rPr lang="en-US" dirty="0"/>
            </a:br>
            <a:r>
              <a:rPr lang="en-US" dirty="0"/>
              <a:t>locking</a:t>
            </a:r>
            <a:br>
              <a:rPr lang="en-US" dirty="0"/>
            </a:br>
            <a:r>
              <a:rPr lang="en-US" dirty="0"/>
              <a:t>(cont’d)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3843288" y="1676400"/>
            <a:ext cx="2667000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3843288" y="6126480"/>
            <a:ext cx="2667000" cy="27432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28006"/>
          <a:stretch/>
        </p:blipFill>
        <p:spPr>
          <a:xfrm>
            <a:off x="6400801" y="2590800"/>
            <a:ext cx="3995688" cy="150495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xv6 locking (cont’d)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AFE17F-4266-FD43-B0E7-51454F507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8600" y="1295400"/>
            <a:ext cx="7543800" cy="550468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xchg</a:t>
            </a:r>
            <a:r>
              <a:rPr lang="en-US" dirty="0">
                <a:solidFill>
                  <a:srgbClr val="FF0000"/>
                </a:solidFill>
              </a:rPr>
              <a:t> %</a:t>
            </a:r>
            <a:r>
              <a:rPr lang="en-US" dirty="0" err="1">
                <a:solidFill>
                  <a:srgbClr val="FF0000"/>
                </a:solidFill>
              </a:rPr>
              <a:t>eax</a:t>
            </a:r>
            <a:r>
              <a:rPr lang="en-US" dirty="0">
                <a:solidFill>
                  <a:srgbClr val="FF0000"/>
                </a:solidFill>
              </a:rPr>
              <a:t>, (</a:t>
            </a:r>
            <a:r>
              <a:rPr lang="en-US" dirty="0" err="1">
                <a:solidFill>
                  <a:srgbClr val="FF0000"/>
                </a:solidFill>
              </a:rPr>
              <a:t>addr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:  on x86, in one atomic operation, it swaps a word in memory with the contents of a register:</a:t>
            </a:r>
          </a:p>
          <a:p>
            <a:pPr lvl="1"/>
            <a:r>
              <a:rPr lang="en-US" dirty="0"/>
              <a:t>freeze other CPUs' memory activity for address </a:t>
            </a:r>
            <a:r>
              <a:rPr lang="en-US" dirty="0" err="1"/>
              <a:t>addr</a:t>
            </a:r>
            <a:endParaRPr lang="en-US" dirty="0"/>
          </a:p>
          <a:p>
            <a:pPr lvl="1"/>
            <a:r>
              <a:rPr lang="en-US" dirty="0"/>
              <a:t>temp := *</a:t>
            </a:r>
            <a:r>
              <a:rPr lang="en-US" dirty="0" err="1"/>
              <a:t>addr</a:t>
            </a:r>
            <a:endParaRPr lang="en-US" dirty="0"/>
          </a:p>
          <a:p>
            <a:pPr lvl="1"/>
            <a:r>
              <a:rPr lang="en-US" dirty="0"/>
              <a:t>*</a:t>
            </a:r>
            <a:r>
              <a:rPr lang="en-US" dirty="0" err="1"/>
              <a:t>addr</a:t>
            </a:r>
            <a:r>
              <a:rPr lang="en-US" dirty="0"/>
              <a:t> := %</a:t>
            </a:r>
            <a:r>
              <a:rPr lang="en-US" dirty="0" err="1"/>
              <a:t>eax</a:t>
            </a:r>
            <a:endParaRPr lang="en-US" dirty="0"/>
          </a:p>
          <a:p>
            <a:pPr lvl="1"/>
            <a:r>
              <a:rPr lang="en-US" dirty="0"/>
              <a:t>%</a:t>
            </a:r>
            <a:r>
              <a:rPr lang="en-US" dirty="0" err="1"/>
              <a:t>eax</a:t>
            </a:r>
            <a:r>
              <a:rPr lang="en-US" dirty="0"/>
              <a:t> = temp</a:t>
            </a:r>
          </a:p>
          <a:p>
            <a:pPr lvl="1"/>
            <a:r>
              <a:rPr lang="en-US" dirty="0"/>
              <a:t>un-freeze other memory activity</a:t>
            </a:r>
          </a:p>
          <a:p>
            <a:r>
              <a:rPr lang="en-US" dirty="0"/>
              <a:t>The CPUs and memory system cooperate to ensure that “freeze” and “un-freeze”.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443E722-545E-F646-8D84-ABD4CBE07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3124200" cy="1679448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 tIns="91440" bIns="91440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73025" indent="0">
              <a:buNone/>
            </a:pPr>
            <a:r>
              <a:rPr lang="en-US" sz="2400" dirty="0"/>
              <a:t>int </a:t>
            </a:r>
            <a:r>
              <a:rPr lang="en-US" sz="2400" dirty="0" err="1"/>
              <a:t>xchg</a:t>
            </a:r>
            <a:r>
              <a:rPr lang="en-US" sz="2400" dirty="0"/>
              <a:t>(</a:t>
            </a:r>
            <a:r>
              <a:rPr lang="en-US" sz="2400" dirty="0" err="1"/>
              <a:t>addr</a:t>
            </a:r>
            <a:r>
              <a:rPr lang="en-US" sz="2400" dirty="0"/>
              <a:t>, value) {</a:t>
            </a:r>
          </a:p>
          <a:p>
            <a:pPr marL="73025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     %</a:t>
            </a:r>
            <a:r>
              <a:rPr lang="en-US" sz="2400" dirty="0" err="1"/>
              <a:t>eax</a:t>
            </a:r>
            <a:r>
              <a:rPr lang="en-US" sz="2400" dirty="0"/>
              <a:t> = value</a:t>
            </a:r>
          </a:p>
          <a:p>
            <a:pPr marL="73025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     </a:t>
            </a:r>
            <a:r>
              <a:rPr lang="en-US" sz="2400" dirty="0" err="1"/>
              <a:t>xchg</a:t>
            </a:r>
            <a:r>
              <a:rPr lang="en-US" sz="2400" dirty="0"/>
              <a:t> %</a:t>
            </a:r>
            <a:r>
              <a:rPr lang="en-US" sz="2400" dirty="0" err="1"/>
              <a:t>eax</a:t>
            </a:r>
            <a:r>
              <a:rPr lang="en-US" sz="2400" dirty="0"/>
              <a:t>, (</a:t>
            </a:r>
            <a:r>
              <a:rPr lang="en-US" sz="2400" dirty="0" err="1"/>
              <a:t>addr</a:t>
            </a:r>
            <a:r>
              <a:rPr lang="en-US" sz="2400" dirty="0"/>
              <a:t>)</a:t>
            </a:r>
          </a:p>
          <a:p>
            <a:pPr marL="73025" indent="0">
              <a:spcBef>
                <a:spcPts val="0"/>
              </a:spcBef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06027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7115</TotalTime>
  <Words>2221</Words>
  <Application>Microsoft Office PowerPoint</Application>
  <PresentationFormat>Widescreen</PresentationFormat>
  <Paragraphs>374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ＭＳ Ｐゴシック</vt:lpstr>
      <vt:lpstr>Arial</vt:lpstr>
      <vt:lpstr>Calibri</vt:lpstr>
      <vt:lpstr>Candara</vt:lpstr>
      <vt:lpstr>Comic Sans MS</vt:lpstr>
      <vt:lpstr>Times New Roman</vt:lpstr>
      <vt:lpstr>Wingdings</vt:lpstr>
      <vt:lpstr>Wingdings 2</vt:lpstr>
      <vt:lpstr>Module</vt:lpstr>
      <vt:lpstr>Concurrency: Lock</vt:lpstr>
      <vt:lpstr>Key concurrency terms</vt:lpstr>
      <vt:lpstr>The crux: how to provide support for synchronization</vt:lpstr>
      <vt:lpstr>Implementation</vt:lpstr>
      <vt:lpstr>Outline</vt:lpstr>
      <vt:lpstr>Locks</vt:lpstr>
      <vt:lpstr>Mutex</vt:lpstr>
      <vt:lpstr>lock()</vt:lpstr>
      <vt:lpstr>unlock()</vt:lpstr>
      <vt:lpstr>Example: Pthread locks</vt:lpstr>
      <vt:lpstr>Online tutorial</vt:lpstr>
      <vt:lpstr>Example</vt:lpstr>
      <vt:lpstr>Corrected example “thread.c”</vt:lpstr>
      <vt:lpstr>Corrected example  “thread.c”</vt:lpstr>
      <vt:lpstr>Demo</vt:lpstr>
      <vt:lpstr>Another example: bank account</vt:lpstr>
      <vt:lpstr>The crux: How to build a lock</vt:lpstr>
      <vt:lpstr>Evaluating locks</vt:lpstr>
      <vt:lpstr>Outline</vt:lpstr>
      <vt:lpstr>First attempt without hardware support</vt:lpstr>
      <vt:lpstr>First attempt without hardware support (cont’d)</vt:lpstr>
      <vt:lpstr>Problem 1: interleaved operations </vt:lpstr>
      <vt:lpstr>Problem 2: spin waiting</vt:lpstr>
      <vt:lpstr>Solving spin-waiting: yielding</vt:lpstr>
      <vt:lpstr>Problem with yielding under many threads</vt:lpstr>
      <vt:lpstr>Solving spin-waiting: sleeping</vt:lpstr>
      <vt:lpstr>Remarks on software solution</vt:lpstr>
      <vt:lpstr>Outline</vt:lpstr>
      <vt:lpstr>Controlling interrupts</vt:lpstr>
      <vt:lpstr>Features</vt:lpstr>
      <vt:lpstr>Another hardware primitive: TestAndSet()</vt:lpstr>
      <vt:lpstr>Using TestAndSet </vt:lpstr>
      <vt:lpstr>Examine interleaved operations</vt:lpstr>
      <vt:lpstr>xv6  locking</vt:lpstr>
      <vt:lpstr>xv6  locking (cont’d)</vt:lpstr>
      <vt:lpstr>xv6 locking (cont’d)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Probir Roy</dc:creator>
  <cp:lastModifiedBy>Roy, Probir</cp:lastModifiedBy>
  <cp:revision>941</cp:revision>
  <cp:lastPrinted>2008-01-09T20:50:56Z</cp:lastPrinted>
  <dcterms:created xsi:type="dcterms:W3CDTF">2010-09-02T17:38:46Z</dcterms:created>
  <dcterms:modified xsi:type="dcterms:W3CDTF">2024-10-28T16:52:24Z</dcterms:modified>
</cp:coreProperties>
</file>