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9" r:id="rId1"/>
  </p:sldMasterIdLst>
  <p:notesMasterIdLst>
    <p:notesMasterId r:id="rId16"/>
  </p:notesMasterIdLst>
  <p:handoutMasterIdLst>
    <p:handoutMasterId r:id="rId17"/>
  </p:handoutMasterIdLst>
  <p:sldIdLst>
    <p:sldId id="259" r:id="rId2"/>
    <p:sldId id="372" r:id="rId3"/>
    <p:sldId id="373" r:id="rId4"/>
    <p:sldId id="374" r:id="rId5"/>
    <p:sldId id="375" r:id="rId6"/>
    <p:sldId id="376" r:id="rId7"/>
    <p:sldId id="377" r:id="rId8"/>
    <p:sldId id="378" r:id="rId9"/>
    <p:sldId id="382" r:id="rId10"/>
    <p:sldId id="393" r:id="rId11"/>
    <p:sldId id="394" r:id="rId12"/>
    <p:sldId id="383" r:id="rId13"/>
    <p:sldId id="384" r:id="rId14"/>
    <p:sldId id="385" r:id="rId15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0000"/>
    <a:srgbClr val="00CC00"/>
    <a:srgbClr val="FFFF00"/>
    <a:srgbClr val="0000CC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8"/>
    <p:restoredTop sz="93605"/>
  </p:normalViewPr>
  <p:slideViewPr>
    <p:cSldViewPr>
      <p:cViewPr varScale="1">
        <p:scale>
          <a:sx n="59" d="100"/>
          <a:sy n="59" d="100"/>
        </p:scale>
        <p:origin x="122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F987A6E6-3EBC-4305-89B4-EDA698419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574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6BC69F9F-A9A7-42DA-9997-328AE4CDF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55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A770CB-1696-45DA-A850-CB3972FF6B91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8212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F227D0B7-32DB-4EA2-911C-F0FE78400472}" type="slidenum">
              <a:rPr lang="en-US" sz="1300">
                <a:latin typeface="Times New Roman" pitchFamily="18" charset="0"/>
                <a:ea typeface="ＭＳ Ｐゴシック" pitchFamily="34" charset="-128"/>
              </a:rPr>
              <a:pPr algn="r" defTabSz="966788" eaLnBrk="0" hangingPunct="0"/>
              <a:t>6</a:t>
            </a:fld>
            <a:endParaRPr lang="en-US" sz="13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5591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9A34C572-2FF3-4273-889D-5BDAA035DE0C}" type="slidenum">
              <a:rPr lang="en-US" sz="1300">
                <a:latin typeface="Times New Roman" pitchFamily="18" charset="0"/>
                <a:ea typeface="ＭＳ Ｐゴシック" pitchFamily="34" charset="-128"/>
              </a:rPr>
              <a:pPr algn="r" defTabSz="966788" eaLnBrk="0" hangingPunct="0"/>
              <a:t>7</a:t>
            </a:fld>
            <a:endParaRPr lang="en-US" sz="13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97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12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C57EBC-2E04-4ABF-8AC0-D35D1FD8CF8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751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7770E2-4255-4207-88FD-7AB97E31A00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B2F1E-0879-4050-A437-486F058275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04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C7FB1-B430-4A29-B775-F3BDFE928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3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2AC57EBC-2E04-4ABF-8AC0-D35D1FD8CF8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3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>
                <a:ea typeface="ＭＳ Ｐゴシック" pitchFamily="34" charset="-128"/>
              </a:rPr>
              <a:t>Concurrency</a:t>
            </a:r>
            <a:r>
              <a:rPr lang="en-US" sz="5400">
                <a:ea typeface="ＭＳ Ｐゴシック" pitchFamily="34" charset="-128"/>
              </a:rPr>
              <a:t>: Condition </a:t>
            </a:r>
            <a:r>
              <a:rPr lang="en-US" sz="5400" dirty="0">
                <a:ea typeface="ＭＳ Ｐゴシック" pitchFamily="34" charset="-128"/>
              </a:rPr>
              <a:t>Variable</a:t>
            </a:r>
          </a:p>
        </p:txBody>
      </p:sp>
      <p:sp>
        <p:nvSpPr>
          <p:cNvPr id="1945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  <a:p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2867D-4392-DE4B-885B-152E646A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 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Dr.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Shengquan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Wang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Limitations of locks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Locks are not the only primitives that are needed to build concurrent programs.</a:t>
            </a:r>
          </a:p>
          <a:p>
            <a:r>
              <a:rPr lang="en-US" dirty="0">
                <a:ea typeface="ＭＳ Ｐゴシック" pitchFamily="34" charset="-128"/>
              </a:rPr>
              <a:t>In particular, there are many cases where a thread wishes to check whether a 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condition</a:t>
            </a:r>
            <a:r>
              <a:rPr lang="en-US" dirty="0">
                <a:ea typeface="ＭＳ Ｐゴシック" pitchFamily="34" charset="-128"/>
              </a:rPr>
              <a:t> is true before continuing its execution.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29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parent waiting for child (</a:t>
            </a:r>
            <a:r>
              <a:rPr lang="en-US" dirty="0" err="1"/>
              <a:t>pthread_join</a:t>
            </a:r>
            <a:r>
              <a:rPr lang="en-US" dirty="0"/>
              <a:t> implementation)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33600" y="1676400"/>
            <a:ext cx="4800600" cy="4419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* child(void *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("child\n");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// ??? how to indicate we are done?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NULL;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main(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, char *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[])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begin\n");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pthread_create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(&amp;c, NULL, child, NULL);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// ??? how to wait for child?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end\n");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76804" name="Rectangle 5"/>
          <p:cNvSpPr>
            <a:spLocks noChangeArrowheads="1"/>
          </p:cNvSpPr>
          <p:nvPr/>
        </p:nvSpPr>
        <p:spPr bwMode="auto">
          <a:xfrm>
            <a:off x="7620000" y="3505200"/>
            <a:ext cx="1828800" cy="10160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Candara" panose="020E0502030303020204" pitchFamily="34" charset="0"/>
              </a:rPr>
              <a:t>parent: begin</a:t>
            </a:r>
          </a:p>
          <a:p>
            <a:r>
              <a:rPr lang="en-US" sz="2000" dirty="0">
                <a:latin typeface="Candara" panose="020E0502030303020204" pitchFamily="34" charset="0"/>
              </a:rPr>
              <a:t>child</a:t>
            </a:r>
          </a:p>
          <a:p>
            <a:r>
              <a:rPr lang="en-US" sz="2000" dirty="0">
                <a:latin typeface="Candara" panose="020E0502030303020204" pitchFamily="34" charset="0"/>
              </a:rPr>
              <a:t>parent: end</a:t>
            </a:r>
          </a:p>
        </p:txBody>
      </p:sp>
      <p:sp>
        <p:nvSpPr>
          <p:cNvPr id="76805" name="TextBox 6"/>
          <p:cNvSpPr txBox="1">
            <a:spLocks noChangeArrowheads="1"/>
          </p:cNvSpPr>
          <p:nvPr/>
        </p:nvSpPr>
        <p:spPr bwMode="auto">
          <a:xfrm>
            <a:off x="7534276" y="2895600"/>
            <a:ext cx="2371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Candara" panose="020E0502030303020204" pitchFamily="34" charset="0"/>
              </a:rPr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242107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parent waiting for child (costly solution)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33600" y="1447800"/>
            <a:ext cx="4800600" cy="51054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volatile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done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* child(void *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("child\n");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done = 1;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NULL;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main(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, char *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[])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begin\n");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pthread_t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pthread_create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(&amp;c, NULL, child, NULL);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while (done == 0)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		; // spin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end\n");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7705725" y="3505200"/>
            <a:ext cx="1828800" cy="10160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Candara" panose="020E0502030303020204" pitchFamily="34" charset="0"/>
              </a:rPr>
              <a:t>parent: begin</a:t>
            </a:r>
          </a:p>
          <a:p>
            <a:r>
              <a:rPr lang="en-US" sz="2000" dirty="0">
                <a:latin typeface="Candara" panose="020E0502030303020204" pitchFamily="34" charset="0"/>
              </a:rPr>
              <a:t>child</a:t>
            </a:r>
          </a:p>
          <a:p>
            <a:r>
              <a:rPr lang="en-US" sz="2000" dirty="0">
                <a:latin typeface="Candara" panose="020E0502030303020204" pitchFamily="34" charset="0"/>
              </a:rPr>
              <a:t>parent: end</a:t>
            </a:r>
          </a:p>
        </p:txBody>
      </p:sp>
      <p:sp>
        <p:nvSpPr>
          <p:cNvPr id="77829" name="TextBox 6"/>
          <p:cNvSpPr txBox="1">
            <a:spLocks noChangeArrowheads="1"/>
          </p:cNvSpPr>
          <p:nvPr/>
        </p:nvSpPr>
        <p:spPr bwMode="auto">
          <a:xfrm>
            <a:off x="7620001" y="2895600"/>
            <a:ext cx="2371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Candara" panose="020E0502030303020204" pitchFamily="34" charset="0"/>
              </a:rPr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246179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</a:t>
            </a:r>
          </a:p>
        </p:txBody>
      </p:sp>
      <p:sp>
        <p:nvSpPr>
          <p:cNvPr id="788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condition variable is an explicit queue that </a:t>
            </a:r>
          </a:p>
          <a:p>
            <a:pPr lvl="1"/>
            <a:r>
              <a:rPr lang="en-US" dirty="0"/>
              <a:t>threads can put themselves on when some state of execution (i.e., some condition) is not as desired (by waiting on the condition); </a:t>
            </a:r>
          </a:p>
          <a:p>
            <a:pPr lvl="1"/>
            <a:r>
              <a:rPr lang="en-US" dirty="0"/>
              <a:t>some other thread, when it changes said state, can then wake one (or more) of those waiting threads and thus allow them to continue (by signaling on the condition).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64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Condition variable (cont’d) </a:t>
            </a:r>
          </a:p>
        </p:txBody>
      </p:sp>
      <p:sp>
        <p:nvSpPr>
          <p:cNvPr id="7987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condition variable has two operations associated with it: 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The wait() call is executed when a thread wishes to put itself to sleep; 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the signal() call is executed when a thread has changed something in the program and thus wants to wake a sleeping thread waiting on this condition.</a:t>
            </a:r>
          </a:p>
          <a:p>
            <a:r>
              <a:rPr lang="en-US" dirty="0">
                <a:ea typeface="ＭＳ Ｐゴシック" pitchFamily="34" charset="-128"/>
              </a:rPr>
              <a:t>A condition variable is always used in conjunction with a mutex lock in </a:t>
            </a:r>
            <a:r>
              <a:rPr lang="en-US" dirty="0" err="1">
                <a:ea typeface="ＭＳ Ｐゴシック" pitchFamily="34" charset="-128"/>
              </a:rPr>
              <a:t>pthread</a:t>
            </a:r>
            <a:r>
              <a:rPr lang="en-US" dirty="0">
                <a:ea typeface="ＭＳ Ｐゴシック" pitchFamily="34" charset="-128"/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1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condition variable</a:t>
            </a:r>
          </a:p>
        </p:txBody>
      </p:sp>
      <p:sp>
        <p:nvSpPr>
          <p:cNvPr id="8192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pthread_mutex_t</a:t>
            </a:r>
            <a:r>
              <a:rPr lang="en-US" dirty="0"/>
              <a:t> m</a:t>
            </a:r>
          </a:p>
          <a:p>
            <a:r>
              <a:rPr lang="en-US" dirty="0" err="1"/>
              <a:t>pthread_cond_t</a:t>
            </a:r>
            <a:r>
              <a:rPr lang="en-US" dirty="0"/>
              <a:t> c</a:t>
            </a:r>
          </a:p>
          <a:p>
            <a:r>
              <a:rPr lang="en-US" dirty="0" err="1"/>
              <a:t>pthread_cond_init</a:t>
            </a:r>
            <a:r>
              <a:rPr lang="en-US" dirty="0"/>
              <a:t>(c, </a:t>
            </a:r>
            <a:r>
              <a:rPr lang="en-US" dirty="0" err="1"/>
              <a:t>attr</a:t>
            </a:r>
            <a:r>
              <a:rPr lang="en-US" dirty="0"/>
              <a:t>)</a:t>
            </a:r>
          </a:p>
          <a:p>
            <a:r>
              <a:rPr lang="en-US" dirty="0" err="1"/>
              <a:t>pthread_cond_destroy</a:t>
            </a:r>
            <a:r>
              <a:rPr lang="en-US" dirty="0"/>
              <a:t>(c)</a:t>
            </a:r>
          </a:p>
          <a:p>
            <a:r>
              <a:rPr lang="en-US" dirty="0" err="1"/>
              <a:t>pthread_cond_wait</a:t>
            </a:r>
            <a:r>
              <a:rPr lang="en-US" dirty="0"/>
              <a:t>(c, m)</a:t>
            </a:r>
          </a:p>
          <a:p>
            <a:pPr lvl="1"/>
            <a:r>
              <a:rPr lang="en-US" dirty="0"/>
              <a:t>assume the </a:t>
            </a:r>
            <a:r>
              <a:rPr lang="en-US" dirty="0" err="1"/>
              <a:t>mutex</a:t>
            </a:r>
            <a:r>
              <a:rPr lang="en-US" dirty="0"/>
              <a:t> m is locked.</a:t>
            </a:r>
          </a:p>
          <a:p>
            <a:pPr lvl="1"/>
            <a:r>
              <a:rPr lang="en-US" dirty="0"/>
              <a:t>release the lock and put the calling thread to sleep (atomically). </a:t>
            </a:r>
          </a:p>
          <a:p>
            <a:pPr lvl="1"/>
            <a:r>
              <a:rPr lang="en-US" dirty="0"/>
              <a:t>when the thread is waken up, it re-acquires the lock before returning to the caller.</a:t>
            </a:r>
          </a:p>
          <a:p>
            <a:r>
              <a:rPr lang="en-US" dirty="0" err="1"/>
              <a:t>pthread_cond_signal</a:t>
            </a:r>
            <a:r>
              <a:rPr lang="en-US" dirty="0"/>
              <a:t>(c)</a:t>
            </a:r>
          </a:p>
          <a:p>
            <a:pPr lvl="1"/>
            <a:r>
              <a:rPr lang="en-US" dirty="0"/>
              <a:t>wake up another thread blocked by the specified condition variable. </a:t>
            </a:r>
          </a:p>
          <a:p>
            <a:r>
              <a:rPr lang="en-US" dirty="0" err="1"/>
              <a:t>pthread_cond_broadcast</a:t>
            </a:r>
            <a:r>
              <a:rPr lang="en-US" dirty="0"/>
              <a:t>(c)</a:t>
            </a:r>
          </a:p>
          <a:p>
            <a:pPr lvl="1"/>
            <a:r>
              <a:rPr lang="en-US" dirty="0"/>
              <a:t>wake up all threads blocked by the specified condition variable.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3BC8-6A54-4A6F-9E7E-226AF43FA53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25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Example: parent waiting for child (with condition variable)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81200" y="1828800"/>
            <a:ext cx="3581400" cy="47244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done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m;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thr_exit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pthread_mutex_lock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done = 1;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pthread_cond_signal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(&amp;c);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pthread_mutex_unlock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*child(void *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("child\n");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thr_exit</a:t>
            </a:r>
            <a:r>
              <a:rPr lang="en-US" sz="18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();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NULL;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638800" y="1828800"/>
            <a:ext cx="4572000" cy="47244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thr_join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pthread_mutex_lock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while (done == 0)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pthread_cond_wait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(&amp;c, 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pthread_mutex_unlock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main(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argc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, char *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argv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[])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begin\n");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p;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pthread_create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(&amp;p, NULL, child,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thr_join</a:t>
            </a:r>
            <a:r>
              <a:rPr lang="en-US" sz="1800" dirty="0">
                <a:solidFill>
                  <a:srgbClr val="FF0000"/>
                </a:solidFill>
                <a:latin typeface="Candara" panose="020E0502030303020204" pitchFamily="34" charset="0"/>
                <a:ea typeface="ＭＳ Ｐゴシック" pitchFamily="34" charset="-128"/>
              </a:rPr>
              <a:t>();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("parent: end\n");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451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57600" y="1905001"/>
            <a:ext cx="5105400" cy="2215991"/>
          </a:xfrm>
          <a:prstGeom prst="rect">
            <a:avLst/>
          </a:prstGeom>
          <a:noFill/>
          <a:effectLst>
            <a:outerShdw blurRad="50800" dist="38100" dir="2700000" algn="br">
              <a:srgbClr val="000000">
                <a:alpha val="43000"/>
              </a:srgbClr>
            </a:outerShdw>
            <a:reflection blurRad="6350" stA="50000" endA="300" endPos="38500" dist="50800" dir="5400000" sy="-100000" algn="bl" rotWithShape="0"/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3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Comic Sans MS" pitchFamily="-109" charset="0"/>
              </a:rPr>
              <a:t>Demo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30762" y="562428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ndara" panose="020E0502030303020204" pitchFamily="34" charset="0"/>
              </a:rPr>
              <a:t>condvar.c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03A5FF-4555-4294-85E5-560B868B7D0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5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class registration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 has a class capacity of 50 students.</a:t>
            </a:r>
          </a:p>
          <a:p>
            <a:r>
              <a:rPr lang="en-US" dirty="0"/>
              <a:t>A student can register the class if the current enrolled number is below 50;</a:t>
            </a:r>
          </a:p>
          <a:p>
            <a:r>
              <a:rPr lang="en-US" dirty="0"/>
              <a:t>A enrolled student can drop the class and one in the waiting can register.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64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Solution: </a:t>
            </a:r>
            <a:r>
              <a:rPr lang="en-US" dirty="0"/>
              <a:t>class registration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B2F1E-0879-4050-A437-486F0582752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715000" y="1524000"/>
            <a:ext cx="4038600" cy="403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/>
          <a:lstStyle/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register( 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if 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curr_num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+ 1 &gt; 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capacity 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pthread_cond_wait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c,&amp;lock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curr_num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+= 1;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pthread_mutex_unlock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drop( 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curr_sum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-= 1;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pthread_cond_signal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(&amp;c);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pthread_mutex_unlock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905000" y="1524000"/>
            <a:ext cx="3581400" cy="4038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curr_num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capacity = 50;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pthread_mutex_init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</p:txBody>
      </p:sp>
    </p:spTree>
    <p:extLst>
      <p:ext uri="{BB962C8B-B14F-4D97-AF65-F5344CB8AC3E}">
        <p14:creationId xmlns:p14="http://schemas.microsoft.com/office/powerpoint/2010/main" val="144953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file access</a:t>
            </a:r>
          </a:p>
        </p:txBody>
      </p:sp>
      <p:sp>
        <p:nvSpPr>
          <p:cNvPr id="890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file is to be shared among different threads, each of which has a unique number. </a:t>
            </a:r>
          </a:p>
          <a:p>
            <a:r>
              <a:rPr lang="en-US" dirty="0"/>
              <a:t>The file can be accessed simultaneously by several threads, subject to the following constraint: </a:t>
            </a:r>
          </a:p>
          <a:p>
            <a:pPr lvl="1"/>
            <a:r>
              <a:rPr lang="en-US" dirty="0"/>
              <a:t>The sum of all unique numbers associated with all the threads currently accessing the file must be less than n.</a:t>
            </a:r>
          </a:p>
          <a:p>
            <a:r>
              <a:rPr lang="en-US" dirty="0"/>
              <a:t>Use condition variables to coordinate access to the file.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5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Skeleton: file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B2F1E-0879-4050-A437-486F0582752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62600" y="1524000"/>
            <a:ext cx="4419600" cy="403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/>
          <a:lstStyle/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start_access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finish_access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828800" y="1524000"/>
            <a:ext cx="3657600" cy="4038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curr_sum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threshold = n;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pthread_mutex_init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*access(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start_access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//… accessing the file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finish_access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892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Solution: file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FB2F1E-0879-4050-A437-486F0582752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62600" y="1524000"/>
            <a:ext cx="4495800" cy="4038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B2B2B2">
                <a:alpha val="74998"/>
              </a:srgbClr>
            </a:outerShdw>
          </a:effectLst>
        </p:spPr>
        <p:txBody>
          <a:bodyPr wrap="none"/>
          <a:lstStyle/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start_access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while 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curr_sum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&gt;= threshold)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pthread_cond_wait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c,&amp;lock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curr_sum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+=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pthread_mutex_unlock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  <a:p>
            <a:pPr eaLnBrk="0" hangingPunct="0">
              <a:tabLst>
                <a:tab pos="460375" algn="l"/>
              </a:tabLst>
              <a:defRPr/>
            </a:pPr>
            <a:endParaRPr lang="en-US" dirty="0">
              <a:solidFill>
                <a:srgbClr val="000000"/>
              </a:solidFill>
              <a:latin typeface="Candara" panose="020E0502030303020204" pitchFamily="34" charset="0"/>
            </a:endParaRP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void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finish_access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) {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curr_sum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 -= </a:t>
            </a:r>
            <a:r>
              <a:rPr lang="en-US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pthread_cond_broadcast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(&amp;c);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err="1">
                <a:latin typeface="Candara" panose="020E0502030303020204" pitchFamily="34" charset="0"/>
              </a:rPr>
              <a:t>pthread_mutex_unlock</a:t>
            </a:r>
            <a:r>
              <a:rPr lang="en-US" dirty="0">
                <a:latin typeface="Candara" panose="020E0502030303020204" pitchFamily="34" charset="0"/>
              </a:rPr>
              <a:t>(&amp;lock);</a:t>
            </a:r>
          </a:p>
          <a:p>
            <a:pPr eaLnBrk="0" hangingPunct="0">
              <a:tabLst>
                <a:tab pos="4603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andara" panose="020E0502030303020204" pitchFamily="34" charset="0"/>
              </a:rPr>
              <a:t>}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828800" y="1524000"/>
            <a:ext cx="3657600" cy="4038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curr_sum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threshold = n;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lock;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pthread_mutex_init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(&amp;lock, NULL);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pthread_cond_t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c;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void *access(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start_access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//… accessing the file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finish_access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</a:rPr>
              <a:t>my_num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8490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7160</TotalTime>
  <Words>1341</Words>
  <Application>Microsoft Office PowerPoint</Application>
  <PresentationFormat>Widescreen</PresentationFormat>
  <Paragraphs>202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Arial</vt:lpstr>
      <vt:lpstr>Calibri</vt:lpstr>
      <vt:lpstr>Candara</vt:lpstr>
      <vt:lpstr>Comic Sans MS</vt:lpstr>
      <vt:lpstr>Times New Roman</vt:lpstr>
      <vt:lpstr>Wingdings</vt:lpstr>
      <vt:lpstr>Wingdings 2</vt:lpstr>
      <vt:lpstr>Module</vt:lpstr>
      <vt:lpstr>Concurrency: Condition Variable</vt:lpstr>
      <vt:lpstr>Limitations of locks</vt:lpstr>
      <vt:lpstr>Example: parent waiting for child (pthread_join implementation) </vt:lpstr>
      <vt:lpstr>Example: parent waiting for child (costly solution)</vt:lpstr>
      <vt:lpstr>Condition variable</vt:lpstr>
      <vt:lpstr>Condition variable (cont’d) </vt:lpstr>
      <vt:lpstr>Pthread condition variable</vt:lpstr>
      <vt:lpstr>Example: parent waiting for child (with condition variable)</vt:lpstr>
      <vt:lpstr>PowerPoint Presentation</vt:lpstr>
      <vt:lpstr>Example: class registration</vt:lpstr>
      <vt:lpstr>Solution: class registration</vt:lpstr>
      <vt:lpstr>Quiz: file access</vt:lpstr>
      <vt:lpstr>Skeleton: file access</vt:lpstr>
      <vt:lpstr>Solution: file access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Probir Roy</dc:creator>
  <cp:lastModifiedBy>Roy, Probir</cp:lastModifiedBy>
  <cp:revision>935</cp:revision>
  <cp:lastPrinted>2008-01-09T20:50:56Z</cp:lastPrinted>
  <dcterms:created xsi:type="dcterms:W3CDTF">2010-09-02T17:38:46Z</dcterms:created>
  <dcterms:modified xsi:type="dcterms:W3CDTF">2026-03-19T18:28:52Z</dcterms:modified>
</cp:coreProperties>
</file>