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05" r:id="rId1"/>
  </p:sldMasterIdLst>
  <p:notesMasterIdLst>
    <p:notesMasterId r:id="rId35"/>
  </p:notesMasterIdLst>
  <p:handoutMasterIdLst>
    <p:handoutMasterId r:id="rId36"/>
  </p:handoutMasterIdLst>
  <p:sldIdLst>
    <p:sldId id="267" r:id="rId2"/>
    <p:sldId id="378" r:id="rId3"/>
    <p:sldId id="325" r:id="rId4"/>
    <p:sldId id="269" r:id="rId5"/>
    <p:sldId id="351" r:id="rId6"/>
    <p:sldId id="270" r:id="rId7"/>
    <p:sldId id="355" r:id="rId8"/>
    <p:sldId id="373" r:id="rId9"/>
    <p:sldId id="374" r:id="rId10"/>
    <p:sldId id="376" r:id="rId11"/>
    <p:sldId id="377" r:id="rId12"/>
    <p:sldId id="352" r:id="rId13"/>
    <p:sldId id="358" r:id="rId14"/>
    <p:sldId id="298" r:id="rId15"/>
    <p:sldId id="359" r:id="rId16"/>
    <p:sldId id="360" r:id="rId17"/>
    <p:sldId id="316" r:id="rId18"/>
    <p:sldId id="357" r:id="rId19"/>
    <p:sldId id="300" r:id="rId20"/>
    <p:sldId id="380" r:id="rId21"/>
    <p:sldId id="379" r:id="rId22"/>
    <p:sldId id="362" r:id="rId23"/>
    <p:sldId id="363" r:id="rId24"/>
    <p:sldId id="364" r:id="rId25"/>
    <p:sldId id="354" r:id="rId26"/>
    <p:sldId id="366" r:id="rId27"/>
    <p:sldId id="367" r:id="rId28"/>
    <p:sldId id="368" r:id="rId29"/>
    <p:sldId id="381" r:id="rId30"/>
    <p:sldId id="369" r:id="rId31"/>
    <p:sldId id="372" r:id="rId32"/>
    <p:sldId id="370" r:id="rId33"/>
    <p:sldId id="371" r:id="rId34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CC00"/>
    <a:srgbClr val="000066"/>
    <a:srgbClr val="FFFF00"/>
    <a:srgbClr val="0000CC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60" autoAdjust="0"/>
    <p:restoredTop sz="93605"/>
  </p:normalViewPr>
  <p:slideViewPr>
    <p:cSldViewPr>
      <p:cViewPr varScale="1">
        <p:scale>
          <a:sx n="59" d="100"/>
          <a:sy n="59" d="100"/>
        </p:scale>
        <p:origin x="110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50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6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6AEB1805-7473-488C-8106-B9F40FC80E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40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-108" charset="0"/>
              </a:defRPr>
            </a:lvl1pPr>
          </a:lstStyle>
          <a:p>
            <a:pPr>
              <a:defRPr/>
            </a:pPr>
            <a:fld id="{A6723C9C-E70F-4838-B468-DC39F68F14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13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61" tIns="48331" rIns="96661" bIns="48331" anchor="b"/>
          <a:lstStyle/>
          <a:p>
            <a:pPr algn="r" defTabSz="966788" eaLnBrk="0" hangingPunct="0"/>
            <a:fld id="{2D895682-01A2-4915-8338-E95225B0A29D}" type="slidenum">
              <a:rPr lang="en-US" sz="1300">
                <a:latin typeface="Times New Roman" pitchFamily="18" charset="0"/>
                <a:ea typeface="ＭＳ Ｐゴシック" pitchFamily="34" charset="-128"/>
              </a:rPr>
              <a:pPr algn="r" defTabSz="966788" eaLnBrk="0" hangingPunct="0"/>
              <a:t>1</a:t>
            </a:fld>
            <a:endParaRPr lang="en-US" sz="13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7344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1122363"/>
            <a:ext cx="10668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2800" y="3602038"/>
            <a:ext cx="10668000" cy="2341562"/>
          </a:xfrm>
        </p:spPr>
        <p:txBody>
          <a:bodyPr/>
          <a:lstStyle>
            <a:lvl1pPr marL="0" indent="0" algn="ctr">
              <a:buNone/>
              <a:defRPr sz="2400" b="0" i="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522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987552"/>
          </a:xfrm>
        </p:spPr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vert="horz" lIns="54864" tIns="9144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9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95400"/>
            <a:ext cx="5384800" cy="5504688"/>
          </a:xfrm>
        </p:spPr>
        <p:txBody>
          <a:bodyPr lIns="91440"/>
          <a:lstStyle>
            <a:lvl1pPr marL="233363" indent="-222250" eaLnBrk="1" latinLnBrk="0" hangingPunct="1">
              <a:tabLst/>
              <a:defRPr sz="2800"/>
            </a:lvl1pPr>
            <a:lvl2pPr marL="458788" indent="-225425" eaLnBrk="1" latinLnBrk="0" hangingPunct="1">
              <a:tabLst/>
              <a:defRPr sz="2400"/>
            </a:lvl2pPr>
            <a:lvl3pPr marL="628650" indent="-169863" eaLnBrk="1" latinLnBrk="0" hangingPunct="1">
              <a:tabLst/>
              <a:defRPr sz="2000"/>
            </a:lvl3pPr>
            <a:lvl4pPr marL="1087438" indent="-292100" eaLnBrk="1" latinLnBrk="0" hangingPunct="1">
              <a:tabLst/>
              <a:defRPr sz="1800"/>
            </a:lvl4pPr>
            <a:lvl5pPr marL="1492250" indent="-203200" eaLnBrk="1" latinLnBrk="0" hangingPunct="1"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95400"/>
            <a:ext cx="5384800" cy="5504688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8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023338"/>
            <a:ext cx="5386917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295401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8" y="2023338"/>
            <a:ext cx="5389033" cy="4377462"/>
          </a:xfrm>
        </p:spPr>
        <p:txBody>
          <a:bodyPr vert="horz" lIns="91440" tIns="91440" rtlCol="0">
            <a:normAutofit/>
          </a:bodyPr>
          <a:lstStyle>
            <a:lvl1pPr>
              <a:defRPr lang="en-US" sz="2800" dirty="0"/>
            </a:lvl1pPr>
            <a:lvl2pPr>
              <a:defRPr lang="en-US" sz="2400" dirty="0"/>
            </a:lvl2pPr>
            <a:lvl3pPr>
              <a:defRPr lang="en-US" sz="2000" dirty="0"/>
            </a:lvl3pPr>
          </a:lstStyle>
          <a:p>
            <a:pPr marL="233363" lvl="0" indent="-222250"/>
            <a:r>
              <a:rPr lang="en-US" dirty="0"/>
              <a:t>Click to edit Master text styles</a:t>
            </a:r>
          </a:p>
          <a:p>
            <a:pPr marL="458788" lvl="1" indent="-225425"/>
            <a:r>
              <a:rPr lang="en-US" dirty="0"/>
              <a:t>Second level</a:t>
            </a:r>
          </a:p>
          <a:p>
            <a:pPr marL="628650" lvl="2" indent="-169863"/>
            <a:r>
              <a:rPr lang="en-US" dirty="0"/>
              <a:t>Third level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89BD33-1C91-498E-8FB9-3E4ADC33D50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17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Candara" panose="020E0502030303020204" pitchFamily="34" charset="0"/>
                <a:cs typeface="Calibri" panose="020F050202020403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7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34F993-ADFE-43ED-9284-74F089C7D5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5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28600"/>
            <a:ext cx="10363200" cy="1143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002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00500"/>
            <a:ext cx="10363200" cy="2247900"/>
          </a:xfrm>
        </p:spPr>
        <p:txBody>
          <a:bodyPr/>
          <a:lstStyle>
            <a:lvl1pPr>
              <a:spcBef>
                <a:spcPts val="1800"/>
              </a:spcBef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5F2498EF-4E1D-4B24-AABD-F295C3205B2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1"/>
            <a:ext cx="10972800" cy="53340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583680"/>
            <a:ext cx="978485" cy="274320"/>
          </a:xfrm>
          <a:prstGeom prst="rect">
            <a:avLst/>
          </a:prstGeom>
        </p:spPr>
        <p:txBody>
          <a:bodyPr vert="horz" bIns="0" rtlCol="0" anchor="ctr" anchorCtr="0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384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i="0" kern="1200">
          <a:solidFill>
            <a:schemeClr val="tx1"/>
          </a:solidFill>
          <a:effectLst/>
          <a:latin typeface="Candara" panose="020E0502030303020204" pitchFamily="34" charset="0"/>
          <a:ea typeface="+mj-ea"/>
          <a:cs typeface="Calibri" panose="020F0502020204030204" pitchFamily="34" charset="0"/>
        </a:defRPr>
      </a:lvl1pPr>
      <a:extLst/>
    </p:titleStyle>
    <p:bodyStyle>
      <a:lvl1pPr marL="350838" indent="-339725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32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1pPr>
      <a:lvl2pPr marL="628650" indent="-277813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tabLst/>
        <a:defRPr kumimoji="0" sz="28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2pPr>
      <a:lvl3pPr marL="863600" indent="-234950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4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3pPr>
      <a:lvl4pPr marL="1087438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Arial" panose="020B0604020202020204" pitchFamily="34" charset="0"/>
        <a:buChar char="•"/>
        <a:tabLst/>
        <a:defRPr kumimoji="0" sz="2000" b="0" i="0" kern="1200">
          <a:solidFill>
            <a:schemeClr val="tx1"/>
          </a:solidFill>
          <a:latin typeface="Candara" panose="020E0502030303020204" pitchFamily="34" charset="0"/>
          <a:ea typeface="+mn-ea"/>
          <a:cs typeface="Calibri" pitchFamily="34" charset="0"/>
        </a:defRPr>
      </a:lvl4pPr>
      <a:lvl5pPr marL="1604963" indent="-223838" algn="l" rtl="0" eaLnBrk="1" latinLnBrk="0" hangingPunct="1">
        <a:spcBef>
          <a:spcPts val="600"/>
        </a:spcBef>
        <a:spcAft>
          <a:spcPts val="600"/>
        </a:spcAft>
        <a:buClr>
          <a:schemeClr val="tx1"/>
        </a:buClr>
        <a:buSzPct val="80000"/>
        <a:buFont typeface="Wingdings" pitchFamily="2" charset="2"/>
        <a:buChar char="§"/>
        <a:tabLst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>
                <a:ea typeface="ＭＳ Ｐゴシック" pitchFamily="34" charset="-128"/>
              </a:rPr>
              <a:t>Persistence: Files and Directories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ea typeface="ＭＳ Ｐゴシック" pitchFamily="34" charset="-128"/>
              </a:rPr>
              <a:t>Dr. Probir Roy</a:t>
            </a:r>
          </a:p>
          <a:p>
            <a:endParaRPr lang="en-US" sz="2800" dirty="0">
              <a:ea typeface="ＭＳ Ｐゴシック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272BC-A4D1-2544-B817-CC170CCCE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648201"/>
            <a:ext cx="7162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Some slides are modified from </a:t>
            </a:r>
          </a:p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* Dr.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Shengquan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Wang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Systems: Three Easy Pieces,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Remzi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H.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 and Andrea C.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Arpaci-Dusseau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Operating System Concepts, 8th edition, by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Silberschatz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cs typeface="Calibri" panose="020F0502020204030204" pitchFamily="34" charset="0"/>
              </a:rPr>
              <a:t>, Galvin, Gagne, John Wiley &amp; Sons, 2009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abstraction: Linux file system </a:t>
            </a:r>
            <a:br>
              <a:rPr lang="en-US" dirty="0"/>
            </a:br>
            <a:r>
              <a:rPr lang="en-US" dirty="0"/>
              <a:t>stack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1" y="2057400"/>
            <a:ext cx="8115391" cy="3733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2057400" y="4267200"/>
            <a:ext cx="8153400" cy="15240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057400" y="2117834"/>
            <a:ext cx="8153400" cy="214936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hangingPunct="0"/>
            <a:endParaRPr lang="en-US">
              <a:latin typeface="Comic Sans MS" pitchFamily="-106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460718-D878-A140-8161-8F1A94CB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5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Abstraction: file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8DC4A-4BE2-F548-A223-4999DDF6D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file is simply a linear array of bytes, each of which you can read or write. </a:t>
            </a:r>
          </a:p>
          <a:p>
            <a:r>
              <a:rPr lang="en-US" dirty="0"/>
              <a:t>Each file has some kind of low-level name, usually a number of some kind:</a:t>
            </a:r>
          </a:p>
          <a:p>
            <a:pPr lvl="1"/>
            <a:r>
              <a:rPr lang="en-US" dirty="0"/>
              <a:t>For historical reasons, it is often referred to as its </a:t>
            </a:r>
            <a:r>
              <a:rPr lang="en-US" dirty="0" err="1"/>
              <a:t>inode</a:t>
            </a:r>
            <a:r>
              <a:rPr lang="en-US" dirty="0"/>
              <a:t> number.</a:t>
            </a:r>
          </a:p>
          <a:p>
            <a:pPr lvl="1"/>
            <a:r>
              <a:rPr lang="en-US" dirty="0"/>
              <a:t>The user is normally not aware of this name. </a:t>
            </a:r>
          </a:p>
          <a:p>
            <a:r>
              <a:rPr lang="en-US" dirty="0"/>
              <a:t>The file system is to store the data persistently on disk and make sure that when you request the data again.</a:t>
            </a:r>
          </a:p>
          <a:p>
            <a:pPr lvl="1"/>
            <a:r>
              <a:rPr lang="en-US" dirty="0"/>
              <a:t>Unaware of the structure of the file (e.g., whether it is a picture, or a text file, or C code).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951A84-0AE6-3240-9039-908B95BA7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Abstraction: file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Abstraction: directory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CB7197-DA6C-9543-B3E3-D7F4DAD7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directory, like a file, </a:t>
            </a:r>
            <a:br>
              <a:rPr lang="en-US" dirty="0"/>
            </a:br>
            <a:r>
              <a:rPr lang="en-US" dirty="0"/>
              <a:t>also has a low-level </a:t>
            </a:r>
            <a:br>
              <a:rPr lang="en-US" dirty="0"/>
            </a:br>
            <a:r>
              <a:rPr lang="en-US" dirty="0"/>
              <a:t>name,</a:t>
            </a:r>
          </a:p>
          <a:p>
            <a:pPr lvl="1"/>
            <a:r>
              <a:rPr lang="en-US" dirty="0"/>
              <a:t>i.e., an </a:t>
            </a:r>
            <a:r>
              <a:rPr lang="en-US" dirty="0" err="1"/>
              <a:t>inode</a:t>
            </a:r>
            <a:r>
              <a:rPr lang="en-US" dirty="0"/>
              <a:t> number</a:t>
            </a:r>
          </a:p>
          <a:p>
            <a:r>
              <a:rPr lang="en-US" dirty="0"/>
              <a:t>But its contents are </a:t>
            </a:r>
            <a:br>
              <a:rPr lang="en-US" dirty="0"/>
            </a:br>
            <a:r>
              <a:rPr lang="en-US" dirty="0"/>
              <a:t>quite specific: </a:t>
            </a:r>
          </a:p>
          <a:p>
            <a:pPr lvl="1"/>
            <a:r>
              <a:rPr lang="en-US" dirty="0"/>
              <a:t>Contains a list of </a:t>
            </a:r>
            <a:br>
              <a:rPr lang="en-US" dirty="0"/>
            </a:br>
            <a:r>
              <a:rPr lang="en-US" dirty="0"/>
              <a:t>(user-readable name, </a:t>
            </a:r>
            <a:br>
              <a:rPr lang="en-US" dirty="0"/>
            </a:br>
            <a:r>
              <a:rPr lang="en-US" dirty="0"/>
              <a:t>low-level name) pairs. </a:t>
            </a:r>
          </a:p>
          <a:p>
            <a:pPr lvl="1"/>
            <a:r>
              <a:rPr lang="en-US" dirty="0"/>
              <a:t>e.g.: an entry (“foo”, “10”) </a:t>
            </a:r>
          </a:p>
          <a:p>
            <a:pPr lvl="1"/>
            <a:r>
              <a:rPr lang="en-US" dirty="0"/>
              <a:t>Each entry in a directory refers to either files or other directories, enabling directory hierarchy.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34" r="1809" b="988"/>
          <a:stretch/>
        </p:blipFill>
        <p:spPr>
          <a:xfrm>
            <a:off x="6096000" y="1295401"/>
            <a:ext cx="4483652" cy="35847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488D8-1F77-DE42-A1A9-046476F0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Separator: /</a:t>
            </a:r>
          </a:p>
          <a:p>
            <a:r>
              <a:rPr lang="en-US" dirty="0"/>
              <a:t>Absolute path: /foo/</a:t>
            </a:r>
            <a:r>
              <a:rPr lang="en-US" dirty="0" err="1"/>
              <a:t>bar.txt</a:t>
            </a:r>
            <a:endParaRPr lang="en-US" dirty="0"/>
          </a:p>
          <a:p>
            <a:r>
              <a:rPr lang="en-US" dirty="0"/>
              <a:t>Relative path: foo/</a:t>
            </a:r>
            <a:r>
              <a:rPr lang="en-US" dirty="0" err="1"/>
              <a:t>bar.txt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C2D61-FE5D-3A4B-95A8-22C6B3BB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12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Abstraction: file</a:t>
            </a:r>
          </a:p>
          <a:p>
            <a:r>
              <a:rPr lang="en-US" dirty="0">
                <a:ea typeface="ＭＳ Ｐゴシック" pitchFamily="34" charset="-128"/>
              </a:rPr>
              <a:t>Abstraction: directory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Abstraction: file descriptors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6425A0-DEA5-694B-8F16-AF07C4B9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79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descriptor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small integer representing a kernel-managed object that a process may read from or write to. </a:t>
            </a:r>
          </a:p>
          <a:p>
            <a:r>
              <a:rPr lang="en-US" dirty="0"/>
              <a:t>A process may obtain a file descriptor by opening a file, directory, or device, or by creating a pipe, or by duplicating an existing descriptor. </a:t>
            </a:r>
          </a:p>
          <a:p>
            <a:r>
              <a:rPr lang="en-US" dirty="0"/>
              <a:t>Its interface abstracts away the differences between files, pipes, and devices, making them all look like streams of bytes.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77356-2032-3049-A01A-B8B6431F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56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descriptors in xv6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xv6 kernel uses the file descriptor as an index into a per-process table</a:t>
            </a:r>
          </a:p>
          <a:p>
            <a:pPr lvl="1"/>
            <a:r>
              <a:rPr lang="en-US" dirty="0"/>
              <a:t>so that every process has a private space of file descriptors starting at zero. </a:t>
            </a:r>
          </a:p>
          <a:p>
            <a:r>
              <a:rPr lang="en-US" dirty="0"/>
              <a:t>By convention, a process has the following three file descriptors:</a:t>
            </a:r>
          </a:p>
          <a:p>
            <a:pPr lvl="1"/>
            <a:r>
              <a:rPr lang="en-US" dirty="0"/>
              <a:t>reads from standard input (file descriptor 0);</a:t>
            </a:r>
          </a:p>
          <a:p>
            <a:pPr lvl="1"/>
            <a:r>
              <a:rPr lang="en-US" dirty="0"/>
              <a:t>writes to standard output (file descriptor 1);</a:t>
            </a:r>
          </a:p>
          <a:p>
            <a:pPr lvl="1"/>
            <a:r>
              <a:rPr lang="en-US" dirty="0"/>
              <a:t>writes error messages to standard error (file descriptor 2).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21604-0DE9-9D4F-8A73-AD867F22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5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Examples: essence of “cat”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09800" y="1219200"/>
            <a:ext cx="5715000" cy="54102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char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buf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[512];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n;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for(;;){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n = read(0,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buf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,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sizeof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buf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0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if(n == 0)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   break;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if(n &lt; 0){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 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fprintf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(2, "read error\n");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   exit();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if(write(1,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buf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, n) != n){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 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fprintf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(2, "write error\n");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   exit();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04B31-A189-5049-AD84-B020CBAB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28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Outline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Abstraction: file</a:t>
            </a:r>
          </a:p>
          <a:p>
            <a:r>
              <a:rPr lang="en-US" dirty="0">
                <a:ea typeface="ＭＳ Ｐゴシック" pitchFamily="34" charset="-128"/>
              </a:rPr>
              <a:t>Abstraction: directory</a:t>
            </a:r>
          </a:p>
          <a:p>
            <a:r>
              <a:rPr lang="en-US" dirty="0">
                <a:ea typeface="ＭＳ Ｐゴシック" pitchFamily="34" charset="-128"/>
              </a:rPr>
              <a:t>Abstraction: file descriptors</a:t>
            </a:r>
          </a:p>
          <a:p>
            <a:r>
              <a:rPr lang="en-US" dirty="0">
                <a:solidFill>
                  <a:srgbClr val="FF0000"/>
                </a:solidFill>
                <a:ea typeface="ＭＳ Ｐゴシック" pitchFamily="34" charset="-128"/>
              </a:rPr>
              <a:t>Basic APIs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E5A4F-4790-5847-B532-96ED3E3A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 </a:t>
            </a:r>
            <a:r>
              <a:rPr lang="en-US" dirty="0" err="1"/>
              <a:t>fd</a:t>
            </a:r>
            <a:r>
              <a:rPr lang="en-US" dirty="0"/>
              <a:t> = open("foo", O_CREAT | O_WRONLY | O_TRUNC); </a:t>
            </a:r>
          </a:p>
          <a:p>
            <a:pPr lvl="1"/>
            <a:r>
              <a:rPr lang="en-US" dirty="0"/>
              <a:t>Returns a file descriptor (private integer).</a:t>
            </a:r>
          </a:p>
          <a:p>
            <a:r>
              <a:rPr lang="en-US" dirty="0"/>
              <a:t>File descriptor</a:t>
            </a:r>
          </a:p>
          <a:p>
            <a:pPr lvl="1"/>
            <a:r>
              <a:rPr lang="en-US" dirty="0"/>
              <a:t>Once a file is opened, you use the file descriptor to read or write the file, assuming you have permission to do so. </a:t>
            </a:r>
          </a:p>
          <a:p>
            <a:pPr lvl="1"/>
            <a:r>
              <a:rPr lang="en-US" dirty="0"/>
              <a:t>In this way, a file descriptor is a capability, i.e., an opaque handle that gives you the power to perform certain operations. </a:t>
            </a:r>
          </a:p>
          <a:p>
            <a:pPr lvl="1"/>
            <a:r>
              <a:rPr lang="en-US" dirty="0"/>
              <a:t>Another way to think of a file descriptor is as a pointer to an object of type file.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15BA7-4256-014E-8CED-5333421B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21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file</a:t>
            </a:r>
          </a:p>
        </p:txBody>
      </p:sp>
      <p:sp>
        <p:nvSpPr>
          <p:cNvPr id="2560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</a:t>
            </a:r>
            <a:r>
              <a:rPr lang="en-US" dirty="0" err="1"/>
              <a:t>fd</a:t>
            </a:r>
            <a:r>
              <a:rPr lang="en-US" dirty="0"/>
              <a:t> = </a:t>
            </a:r>
            <a:r>
              <a:rPr lang="en-US" dirty="0" err="1"/>
              <a:t>creat</a:t>
            </a:r>
            <a:r>
              <a:rPr lang="en-US" dirty="0"/>
              <a:t>("foo"); </a:t>
            </a:r>
          </a:p>
          <a:p>
            <a:r>
              <a:rPr lang="en-US" dirty="0"/>
              <a:t>open() can also create a file.</a:t>
            </a:r>
          </a:p>
          <a:p>
            <a:pPr lvl="1"/>
            <a:r>
              <a:rPr lang="en-US" dirty="0"/>
              <a:t>You can think of </a:t>
            </a:r>
            <a:r>
              <a:rPr lang="en-US" dirty="0" err="1"/>
              <a:t>creat</a:t>
            </a:r>
            <a:r>
              <a:rPr lang="en-US" dirty="0"/>
              <a:t>() as open() with the following flags: O CREAT | O WRONLY | O TRUNC. </a:t>
            </a:r>
          </a:p>
          <a:p>
            <a:r>
              <a:rPr lang="en-US" dirty="0"/>
              <a:t>Because open() can create a file, the usage of </a:t>
            </a:r>
            <a:r>
              <a:rPr lang="en-US" dirty="0" err="1"/>
              <a:t>creat</a:t>
            </a:r>
            <a:r>
              <a:rPr lang="en-US" dirty="0"/>
              <a:t>() has somewhat fallen out of favor.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4B0E48-15CF-574A-9C99-BC729903E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ssize_t</a:t>
            </a:r>
            <a:r>
              <a:rPr lang="en-US" dirty="0"/>
              <a:t> read(int </a:t>
            </a:r>
            <a:r>
              <a:rPr lang="en-US" dirty="0" err="1"/>
              <a:t>fd</a:t>
            </a:r>
            <a:r>
              <a:rPr lang="en-US" dirty="0"/>
              <a:t>, void *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count);</a:t>
            </a:r>
          </a:p>
          <a:p>
            <a:pPr lvl="1"/>
            <a:r>
              <a:rPr lang="en-US" dirty="0"/>
              <a:t>It attempts to read up to count bytes from file descriptor </a:t>
            </a:r>
            <a:r>
              <a:rPr lang="en-US" dirty="0" err="1"/>
              <a:t>fd</a:t>
            </a:r>
            <a:r>
              <a:rPr lang="en-US" dirty="0"/>
              <a:t> into the buffer starting at </a:t>
            </a:r>
            <a:r>
              <a:rPr lang="en-US" dirty="0" err="1"/>
              <a:t>buf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 success, the number of bytes read is returned (zero indicates end of file), and the file position is advanced by this number.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37FBB-1F80-0048-8B67-CBF2F6A7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26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ssize_t</a:t>
            </a:r>
            <a:r>
              <a:rPr lang="en-US" dirty="0"/>
              <a:t> write(int </a:t>
            </a:r>
            <a:r>
              <a:rPr lang="en-US" dirty="0" err="1"/>
              <a:t>fd</a:t>
            </a:r>
            <a:r>
              <a:rPr lang="en-US" dirty="0"/>
              <a:t>, const void *</a:t>
            </a:r>
            <a:r>
              <a:rPr lang="en-US" dirty="0" err="1"/>
              <a:t>buf</a:t>
            </a:r>
            <a:r>
              <a:rPr lang="en-US" dirty="0"/>
              <a:t>, </a:t>
            </a:r>
            <a:r>
              <a:rPr lang="en-US" dirty="0" err="1"/>
              <a:t>size_t</a:t>
            </a:r>
            <a:r>
              <a:rPr lang="en-US" dirty="0"/>
              <a:t> count);</a:t>
            </a:r>
          </a:p>
          <a:p>
            <a:pPr lvl="1"/>
            <a:r>
              <a:rPr lang="en-US" dirty="0"/>
              <a:t>It writes up to count bytes from the buffer pointed </a:t>
            </a:r>
            <a:r>
              <a:rPr lang="en-US" dirty="0" err="1"/>
              <a:t>buf</a:t>
            </a:r>
            <a:r>
              <a:rPr lang="en-US" dirty="0"/>
              <a:t> to the file referred to by the file descriptor </a:t>
            </a:r>
            <a:r>
              <a:rPr lang="en-US" dirty="0" err="1"/>
              <a:t>fd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On success, the number of bytes written is returned (zero indicates nothing was written).</a:t>
            </a:r>
          </a:p>
          <a:p>
            <a:pPr lvl="1"/>
            <a:r>
              <a:rPr lang="en-US" dirty="0"/>
              <a:t>On error, -1 is returned.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26B88-762F-414D-80BA-FDE689C9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93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Example: </a:t>
            </a:r>
            <a:r>
              <a:rPr lang="en-US" dirty="0" err="1">
                <a:ea typeface="ＭＳ Ｐゴシック" pitchFamily="34" charset="-128"/>
              </a:rPr>
              <a:t>file.c</a:t>
            </a:r>
            <a:endParaRPr lang="en-US" dirty="0">
              <a:ea typeface="ＭＳ Ｐゴシック" pitchFamily="34" charset="-128"/>
            </a:endParaRPr>
          </a:p>
        </p:txBody>
      </p:sp>
      <p:pic>
        <p:nvPicPr>
          <p:cNvPr id="2765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219200"/>
            <a:ext cx="7219950" cy="549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6E8F0-75C5-B142-89B4-290AA072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Another example: copy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62000" y="1367883"/>
            <a:ext cx="4495800" cy="4956717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#include &lt;sys/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types.h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&gt;                 	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fcntl.h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stdlib.h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#include &lt;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unistd.h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&gt;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#define BUF_SIZE 4096                  	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#define OUTPUT_MODE 0700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1600" dirty="0">
              <a:solidFill>
                <a:srgbClr val="000000"/>
              </a:solidFill>
              <a:ea typeface="ＭＳ Ｐゴシック" pitchFamily="34" charset="-128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main(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argc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char *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argv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[])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out_fd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rd_count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wt_count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char buffer[BUF_SIZE];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if(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argc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!= 3) exit(1);   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					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= open(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argv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[1], O_RDONLY);  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if(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&lt; 0) exit(2);             		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out_fd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creat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argv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[2], OUTPUT_MODE);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if 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out_fd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&lt; 0) exit(3);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638800" y="1367882"/>
            <a:ext cx="4876800" cy="4956717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…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/* Copy loop */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while(1) {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rd_count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= read(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buffer, BUF_SIZE);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if(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rd_count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&lt;= 0) break;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wt_count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= write(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out_fd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, buffer, 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rd_count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);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if 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wt_count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&lt;= 0) exit(4);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}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/* Close the files */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close(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in_fd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close(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out_fd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if (</a:t>
            </a:r>
            <a:r>
              <a:rPr lang="en-US" sz="1600" dirty="0" err="1">
                <a:solidFill>
                  <a:srgbClr val="000000"/>
                </a:solidFill>
                <a:ea typeface="ＭＳ Ｐゴシック" pitchFamily="34" charset="-128"/>
              </a:rPr>
              <a:t>rd_count</a:t>
            </a: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== 0)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exit(0);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else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        exit(5);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ea typeface="ＭＳ Ｐゴシック" pitchFamily="34" charset="-128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873F74-756B-3E41-A861-38136B5F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12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and writing, but not sequentially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off_t</a:t>
            </a:r>
            <a:r>
              <a:rPr lang="en-US" dirty="0"/>
              <a:t> </a:t>
            </a:r>
            <a:r>
              <a:rPr lang="en-US" dirty="0" err="1"/>
              <a:t>lseek</a:t>
            </a:r>
            <a:r>
              <a:rPr lang="en-US" dirty="0"/>
              <a:t>(int </a:t>
            </a:r>
            <a:r>
              <a:rPr lang="en-US" dirty="0" err="1"/>
              <a:t>fildes</a:t>
            </a:r>
            <a:r>
              <a:rPr lang="en-US" dirty="0"/>
              <a:t>, </a:t>
            </a:r>
            <a:r>
              <a:rPr lang="en-US" dirty="0" err="1"/>
              <a:t>off_t</a:t>
            </a:r>
            <a:r>
              <a:rPr lang="en-US" dirty="0"/>
              <a:t> offset, int whence); </a:t>
            </a:r>
          </a:p>
          <a:p>
            <a:pPr lvl="1"/>
            <a:r>
              <a:rPr lang="en-US" dirty="0"/>
              <a:t>The first argument is a file descriptor. </a:t>
            </a:r>
          </a:p>
          <a:p>
            <a:pPr lvl="1"/>
            <a:r>
              <a:rPr lang="en-US" dirty="0"/>
              <a:t>The second argument is the offset, which positions the file offset to a particular location within the file. </a:t>
            </a:r>
          </a:p>
          <a:p>
            <a:pPr lvl="1"/>
            <a:r>
              <a:rPr lang="en-US" dirty="0"/>
              <a:t>The third argument, called whence for historical reasons, determines exactly how the seek is performed.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A3F66-11A4-7E4F-A843-A4C12A6B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D024-BBB0-4F09-9A97-D93179ED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Writing Immediately with </a:t>
            </a:r>
            <a:br>
              <a:rPr lang="en-US" dirty="0"/>
            </a:br>
            <a:r>
              <a:rPr lang="en-US" dirty="0" err="1"/>
              <a:t>fsync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fd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6AF54-B4EB-4E3D-87A1-43E2BB96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write(), the file system might buffer writes for some time.</a:t>
            </a:r>
          </a:p>
          <a:p>
            <a:r>
              <a:rPr lang="en-US" dirty="0"/>
              <a:t>With </a:t>
            </a:r>
            <a:r>
              <a:rPr lang="en-US" dirty="0" err="1"/>
              <a:t>fsync</a:t>
            </a:r>
            <a:r>
              <a:rPr lang="en-US" dirty="0"/>
              <a:t>(</a:t>
            </a:r>
            <a:r>
              <a:rPr lang="en-US" dirty="0" err="1"/>
              <a:t>fd</a:t>
            </a:r>
            <a:r>
              <a:rPr lang="en-US" dirty="0"/>
              <a:t>), the file system force all dirty (i.e., not yet written) data of the </a:t>
            </a:r>
            <a:r>
              <a:rPr lang="en-US" dirty="0" err="1"/>
              <a:t>fd</a:t>
            </a:r>
            <a:r>
              <a:rPr lang="en-US" dirty="0"/>
              <a:t> file to disk, and it returns once all of these writes are complete.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66B994-255F-4FF2-B68E-95E20B460FD2}"/>
              </a:ext>
            </a:extLst>
          </p:cNvPr>
          <p:cNvSpPr/>
          <p:nvPr/>
        </p:nvSpPr>
        <p:spPr>
          <a:xfrm>
            <a:off x="1995268" y="4876801"/>
            <a:ext cx="82155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int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 </a:t>
            </a:r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fd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 = open("foo", O_CREAT|O_WRONLY|O_TRUNC, S_IRUSR|S_IWUSR); </a:t>
            </a:r>
          </a:p>
          <a:p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int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 </a:t>
            </a:r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rc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 = write(</a:t>
            </a:r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fd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, buffer, size); </a:t>
            </a:r>
          </a:p>
          <a:p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rc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 = </a:t>
            </a:r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fsync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(</a:t>
            </a:r>
            <a:r>
              <a:rPr lang="en-US" sz="2000" dirty="0" err="1">
                <a:latin typeface="Candara" panose="020E0502030303020204" pitchFamily="34" charset="0"/>
                <a:cs typeface="Calibri" pitchFamily="34" charset="0"/>
              </a:rPr>
              <a:t>fd</a:t>
            </a:r>
            <a:r>
              <a:rPr lang="en-US" sz="2000" dirty="0">
                <a:latin typeface="Candara" panose="020E0502030303020204" pitchFamily="34" charset="0"/>
                <a:cs typeface="Calibri" pitchFamily="34" charset="0"/>
              </a:rPr>
              <a:t>);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17226-C7C9-0A47-A5B8-E2C5D77C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78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90800"/>
            <a:ext cx="10972800" cy="3962402"/>
          </a:xfrm>
        </p:spPr>
        <p:txBody>
          <a:bodyPr>
            <a:normAutofit/>
          </a:bodyPr>
          <a:lstStyle/>
          <a:p>
            <a:r>
              <a:rPr lang="en-US" dirty="0"/>
              <a:t>Change the name or move a file to a different directory with the same or different name.</a:t>
            </a:r>
          </a:p>
          <a:p>
            <a:r>
              <a:rPr lang="en-US" dirty="0"/>
              <a:t>Keep the same </a:t>
            </a:r>
            <a:r>
              <a:rPr lang="en-US" dirty="0" err="1"/>
              <a:t>inode</a:t>
            </a:r>
            <a:r>
              <a:rPr lang="en-US" dirty="0"/>
              <a:t> number.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9489F-3380-AC49-BD03-A16C8741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82517"/>
            <a:ext cx="349279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42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info about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Metadata about files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90800" y="2209800"/>
            <a:ext cx="6324600" cy="44958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struct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stat {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dev_t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st_dev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ID of device containing file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ino_t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st_ino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	//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inode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number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mode_t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st_mode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protection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nlink_t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st_nlink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number of hard links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uid_t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st_uid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user ID of owner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gid_t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st_gid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group ID of owner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dev_t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st_rdev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device ID (if special file)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off_t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st_size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total size, in bytes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blksize_t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st_blksize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blocksize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for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filesystem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I/O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blkcnt_t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st_blocks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number of blocks allocated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time_t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st_atime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time of last access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time_t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st_mtime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time of last modification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time_t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1800" dirty="0" err="1">
                <a:solidFill>
                  <a:srgbClr val="000000"/>
                </a:solidFill>
                <a:ea typeface="ＭＳ Ｐゴシック" pitchFamily="34" charset="-128"/>
              </a:rPr>
              <a:t>st_ctime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; 	// time of last status change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};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endParaRPr lang="en-US" sz="2400" dirty="0" err="1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4926B-D205-6149-A946-FE1A4D27A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58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info about files (cont’d)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2600"/>
            <a:ext cx="7696203" cy="243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FB37AD-7874-468A-8001-335E3AA7183E}"/>
              </a:ext>
            </a:extLst>
          </p:cNvPr>
          <p:cNvSpPr/>
          <p:nvPr/>
        </p:nvSpPr>
        <p:spPr>
          <a:xfrm>
            <a:off x="2165555" y="5791200"/>
            <a:ext cx="601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https://www.tutorialspoint.com/unix_terminal_online.php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5BA37-74FF-6249-B33A-349FA03B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407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files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3D71-3DFE-443A-B8D4-807BE39D0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732997"/>
            <a:ext cx="10972800" cy="3820205"/>
          </a:xfrm>
        </p:spPr>
        <p:txBody>
          <a:bodyPr>
            <a:normAutofit/>
          </a:bodyPr>
          <a:lstStyle/>
          <a:p>
            <a:r>
              <a:rPr lang="en-US" dirty="0"/>
              <a:t>unlink() just takes the name of the file to be removed, and returns zero upon success. </a:t>
            </a:r>
          </a:p>
          <a:p>
            <a:r>
              <a:rPr lang="en-US" dirty="0"/>
              <a:t>But this leads us to a great puzzle: </a:t>
            </a:r>
          </a:p>
          <a:p>
            <a:pPr lvl="1"/>
            <a:r>
              <a:rPr lang="en-US" dirty="0"/>
              <a:t>Why is this system call named “unlink”? Why not just “remove” or “delete”. </a:t>
            </a:r>
          </a:p>
          <a:p>
            <a:pPr lvl="1"/>
            <a:r>
              <a:rPr lang="en-US" dirty="0"/>
              <a:t>To understand the answer to this puzzle, we must first understand more than just files, but also directories.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23133-320F-AE41-B3F9-D20C783D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71" y="1219201"/>
            <a:ext cx="6248400" cy="13583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AB22FC-C01C-F843-A3BF-C24DA688EFBD}"/>
              </a:ext>
            </a:extLst>
          </p:cNvPr>
          <p:cNvSpPr/>
          <p:nvPr/>
        </p:nvSpPr>
        <p:spPr>
          <a:xfrm>
            <a:off x="8153400" y="1270278"/>
            <a:ext cx="251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  <a:ea typeface="ＭＳ Ｐゴシック" pitchFamily="34" charset="-128"/>
              </a:rPr>
              <a:t>Tool to trace system call</a:t>
            </a:r>
          </a:p>
          <a:p>
            <a:pPr marL="231775" lvl="1" indent="-2222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Linux: </a:t>
            </a:r>
            <a:r>
              <a:rPr lang="en-US" dirty="0" err="1">
                <a:latin typeface="+mn-lt"/>
              </a:rPr>
              <a:t>strace</a:t>
            </a:r>
            <a:endParaRPr lang="en-US" dirty="0">
              <a:latin typeface="+mn-lt"/>
            </a:endParaRPr>
          </a:p>
          <a:p>
            <a:pPr marL="231775" lvl="1" indent="-2222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Mac OS X: </a:t>
            </a:r>
            <a:r>
              <a:rPr lang="en-US" dirty="0" err="1">
                <a:latin typeface="+mn-lt"/>
              </a:rPr>
              <a:t>dtruss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4064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Metadata about directories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14600" y="2133600"/>
            <a:ext cx="7239000" cy="2514600"/>
          </a:xfrm>
          <a:prstGeom prst="rect">
            <a:avLst/>
          </a:prstGeom>
          <a:solidFill>
            <a:schemeClr val="bg1"/>
          </a:solidFill>
          <a:ln w="12700" cap="flat" algn="ctr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B2B2B2">
                <a:alpha val="74997"/>
              </a:srgbClr>
            </a:outerShdw>
          </a:effec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6" charset="0"/>
                <a:ea typeface="ＭＳ Ｐゴシック" pitchFamily="-106" charset="-128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struct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ＭＳ Ｐゴシック" pitchFamily="34" charset="-128"/>
              </a:rPr>
              <a:t>dirent</a:t>
            </a: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 {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char         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d_name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[256]; 	//filename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ino_t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d_ino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		//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inode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number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off_t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       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d_off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		//offset to the next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dirent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unsigned short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d_reclen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	//length of this record </a:t>
            </a:r>
          </a:p>
          <a:p>
            <a:pPr marL="400050" lvl="1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unsigned char  </a:t>
            </a:r>
            <a:r>
              <a:rPr lang="en-US" sz="2000" dirty="0" err="1">
                <a:solidFill>
                  <a:srgbClr val="000000"/>
                </a:solidFill>
                <a:ea typeface="ＭＳ Ｐゴシック" pitchFamily="34" charset="-128"/>
              </a:rPr>
              <a:t>d_type</a:t>
            </a:r>
            <a:r>
              <a:rPr lang="en-US" sz="2000" dirty="0">
                <a:solidFill>
                  <a:srgbClr val="000000"/>
                </a:solidFill>
                <a:ea typeface="ＭＳ Ｐゴシック" pitchFamily="34" charset="-128"/>
              </a:rPr>
              <a:t>;	//type of file 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tabLst>
                <a:tab pos="460375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ea typeface="ＭＳ Ｐゴシック" pitchFamily="34" charset="-128"/>
              </a:rPr>
              <a:t>};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91579-6FF8-E045-96B8-24C953C6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018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directories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7EFFE-5B8B-4D47-B2DA-1AF26B8FC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00"/>
            <a:ext cx="10972800" cy="3505202"/>
          </a:xfrm>
        </p:spPr>
        <p:txBody>
          <a:bodyPr>
            <a:normAutofit/>
          </a:bodyPr>
          <a:lstStyle/>
          <a:p>
            <a:r>
              <a:rPr lang="en-US" dirty="0"/>
              <a:t>When such a directory is created, it is considered “empty”, although it does have a bare minimum of contents. </a:t>
            </a:r>
          </a:p>
          <a:p>
            <a:r>
              <a:rPr lang="en-US" dirty="0"/>
              <a:t>Specifically, an empty directory has two entries: </a:t>
            </a:r>
          </a:p>
          <a:p>
            <a:pPr lvl="1"/>
            <a:r>
              <a:rPr lang="en-US" dirty="0"/>
              <a:t>one entry that refers to itself, “.”</a:t>
            </a:r>
          </a:p>
          <a:p>
            <a:pPr lvl="1"/>
            <a:r>
              <a:rPr lang="en-US" dirty="0"/>
              <a:t>one entry that refers to its parent, “..”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B12AA-5EB3-5947-9C5B-60800031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86331"/>
            <a:ext cx="6476999" cy="1539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05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directories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E6C1D-C71E-452B-BD8D-EED24AD6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343400"/>
            <a:ext cx="10972800" cy="2209802"/>
          </a:xfrm>
        </p:spPr>
        <p:txBody>
          <a:bodyPr/>
          <a:lstStyle/>
          <a:p>
            <a:r>
              <a:rPr lang="en-US" dirty="0"/>
              <a:t>“ls” uses three calls, </a:t>
            </a:r>
            <a:r>
              <a:rPr lang="en-US" dirty="0" err="1"/>
              <a:t>opendir</a:t>
            </a:r>
            <a:r>
              <a:rPr lang="en-US" dirty="0"/>
              <a:t>(), </a:t>
            </a:r>
            <a:r>
              <a:rPr lang="en-US" dirty="0" err="1"/>
              <a:t>readdir</a:t>
            </a:r>
            <a:r>
              <a:rPr lang="en-US" dirty="0"/>
              <a:t>(), and </a:t>
            </a:r>
            <a:r>
              <a:rPr lang="en-US" dirty="0" err="1"/>
              <a:t>closedir</a:t>
            </a:r>
            <a:r>
              <a:rPr lang="en-US" dirty="0"/>
              <a:t>(), to get the job done.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7DF85-5555-514E-A2D0-E3DF870A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40915"/>
            <a:ext cx="7162800" cy="290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15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directories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rmdir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Unlike file deletion, however, removing directories is more dangerous, as you could potentially delete a large amount of data with a single command. </a:t>
            </a:r>
          </a:p>
          <a:p>
            <a:pPr lvl="1"/>
            <a:r>
              <a:rPr lang="en-US" dirty="0"/>
              <a:t>Thus, </a:t>
            </a:r>
            <a:r>
              <a:rPr lang="en-US" dirty="0" err="1"/>
              <a:t>rmdir</a:t>
            </a:r>
            <a:r>
              <a:rPr lang="en-US" dirty="0"/>
              <a:t>() has the requirement that the directory be empty (i.e., only has “.” and “..” entries) before it is deleted. </a:t>
            </a:r>
          </a:p>
          <a:p>
            <a:pPr lvl="1"/>
            <a:r>
              <a:rPr lang="en-US" dirty="0"/>
              <a:t>If you try to delete a non-empty directory, the call to </a:t>
            </a:r>
            <a:r>
              <a:rPr lang="en-US" dirty="0" err="1"/>
              <a:t>rmdir</a:t>
            </a:r>
            <a:r>
              <a:rPr lang="en-US" dirty="0"/>
              <a:t>() simply will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D4C60-224F-9747-9D57-501A8776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844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files (cont’d)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33D71-3DFE-443A-B8D4-807BE39D0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95600"/>
            <a:ext cx="10972800" cy="3657602"/>
          </a:xfrm>
        </p:spPr>
        <p:txBody>
          <a:bodyPr>
            <a:normAutofit/>
          </a:bodyPr>
          <a:lstStyle/>
          <a:p>
            <a:r>
              <a:rPr lang="en-US" dirty="0"/>
              <a:t>We study link() first. </a:t>
            </a:r>
          </a:p>
          <a:p>
            <a:r>
              <a:rPr lang="en-US" dirty="0"/>
              <a:t>Link() takes two arguments, an old pathname and a new one; </a:t>
            </a:r>
          </a:p>
          <a:p>
            <a:r>
              <a:rPr lang="en-US" dirty="0"/>
              <a:t>When you “link” a new file name to an old one, you essentially create another way to refer to the same file. </a:t>
            </a:r>
          </a:p>
          <a:p>
            <a:r>
              <a:rPr lang="en-US" dirty="0"/>
              <a:t>The command-line program </a:t>
            </a:r>
            <a:r>
              <a:rPr lang="en-US" dirty="0">
                <a:solidFill>
                  <a:srgbClr val="FF0000"/>
                </a:solidFill>
              </a:rPr>
              <a:t>ln</a:t>
            </a:r>
            <a:r>
              <a:rPr lang="en-US" dirty="0"/>
              <a:t> is used to do this.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EEB7C-8225-8144-98ED-510183B0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6248400" cy="135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46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links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93" y="1219200"/>
            <a:ext cx="3543300" cy="15799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56" y="3048000"/>
            <a:ext cx="3733800" cy="1233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93" y="4530664"/>
            <a:ext cx="2476500" cy="11536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B2405-605B-B748-9D24-AA3967C6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365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Unlink()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B357407-A72F-4E3F-B409-22522F284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800" y="1066800"/>
            <a:ext cx="41910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reference count (or link count) </a:t>
            </a:r>
          </a:p>
          <a:p>
            <a:pPr lvl="1"/>
            <a:r>
              <a:rPr lang="en-US" dirty="0"/>
              <a:t>allows the file system to track how many different file names have been linked to this particular </a:t>
            </a:r>
            <a:r>
              <a:rPr lang="en-US" dirty="0" err="1"/>
              <a:t>inode</a:t>
            </a:r>
            <a:r>
              <a:rPr lang="en-US" dirty="0"/>
              <a:t>. </a:t>
            </a:r>
          </a:p>
          <a:p>
            <a:r>
              <a:rPr lang="en-US" dirty="0"/>
              <a:t>When unlink() is called, it</a:t>
            </a:r>
          </a:p>
          <a:p>
            <a:pPr lvl="1"/>
            <a:r>
              <a:rPr lang="en-US" dirty="0"/>
              <a:t>removes the “link” between the human-readable name to the given </a:t>
            </a:r>
            <a:r>
              <a:rPr lang="en-US" dirty="0" err="1"/>
              <a:t>inode</a:t>
            </a:r>
            <a:r>
              <a:rPr lang="en-US" dirty="0"/>
              <a:t> number;</a:t>
            </a:r>
          </a:p>
          <a:p>
            <a:pPr lvl="1"/>
            <a:r>
              <a:rPr lang="en-US" dirty="0"/>
              <a:t>decrements the reference count; </a:t>
            </a:r>
          </a:p>
          <a:p>
            <a:pPr lvl="1"/>
            <a:r>
              <a:rPr lang="en-US" dirty="0"/>
              <a:t>only when the reference count reaches zero does the file system also free the </a:t>
            </a:r>
            <a:r>
              <a:rPr lang="en-US" dirty="0" err="1"/>
              <a:t>inode</a:t>
            </a:r>
            <a:r>
              <a:rPr lang="en-US" dirty="0"/>
              <a:t> and related data blocks, and thus truly “delete” the file.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71600"/>
            <a:ext cx="3962400" cy="383934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151AF0-D0AC-47F8-9450-649CD091DBCC}"/>
              </a:ext>
            </a:extLst>
          </p:cNvPr>
          <p:cNvSpPr/>
          <p:nvPr/>
        </p:nvSpPr>
        <p:spPr>
          <a:xfrm>
            <a:off x="3048826" y="1947446"/>
            <a:ext cx="152317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n-lt"/>
              </a:rPr>
              <a:t>reference count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71835-035F-F740-BFDA-2FC3BD94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C9F56-0961-4A9F-9CBD-FA734F6AC8E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22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Symbolic(soft) links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07" y="1371600"/>
            <a:ext cx="3517710" cy="10202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07" y="2819401"/>
            <a:ext cx="3242153" cy="11545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07" y="4419600"/>
            <a:ext cx="7551593" cy="1295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BF456C-6E79-4D3F-8034-EB080516B19C}"/>
              </a:ext>
            </a:extLst>
          </p:cNvPr>
          <p:cNvSpPr/>
          <p:nvPr/>
        </p:nvSpPr>
        <p:spPr>
          <a:xfrm>
            <a:off x="6751737" y="1307939"/>
            <a:ext cx="33780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orbel" panose="020B0503020204020204" pitchFamily="34" charset="0"/>
              </a:rPr>
              <a:t>A symbolic link is actually a file itself, of a different type. </a:t>
            </a:r>
          </a:p>
          <a:p>
            <a:endParaRPr lang="en-US" sz="2000" dirty="0">
              <a:solidFill>
                <a:srgbClr val="FF0000"/>
              </a:solidFill>
              <a:latin typeface="Corbel" panose="020B0503020204020204" pitchFamily="34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orbel" panose="020B0503020204020204" pitchFamily="34" charset="0"/>
              </a:rPr>
              <a:t>It holds the pathname of the linked-to file as the data of the link file. It takes 4 bytes.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F1ED5D-BA90-DE48-A00E-CD4CEB62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66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Making and mounting a file system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92" y="1524000"/>
            <a:ext cx="5334001" cy="493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92" y="2438400"/>
            <a:ext cx="3276600" cy="563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92" y="3505199"/>
            <a:ext cx="5791200" cy="2635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135868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prompt&gt; mount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F386A-1708-B447-84EC-638082DB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48BF4-CA16-4E72-953C-3399422509DF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34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lIns="91440" tIns="0" rIns="45720" bIns="0" rtlCol="0" anchor="t">
        <a:normAutofit/>
        <a:scene3d>
          <a:camera prst="orthographicFront"/>
          <a:lightRig rig="threePt" dir="t">
            <a:rot lat="0" lon="0" rev="4800000"/>
          </a:lightRig>
        </a:scene3d>
        <a:sp3d prstMaterial="matte">
          <a:bevelT w="50800" h="10160"/>
        </a:sp3d>
      </a:bodyPr>
      <a:lstStyle>
        <a:defPPr algn="ctr">
          <a:defRPr sz="3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ourse-2019-09" id="{B316ACE2-95DC-AC4D-9B1C-A91C775734BE}" vid="{64A54FAB-7894-1E4A-B404-E7ABACBA122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course-2019-09</Template>
  <TotalTime>5132</TotalTime>
  <Words>2069</Words>
  <Application>Microsoft Office PowerPoint</Application>
  <PresentationFormat>Widescreen</PresentationFormat>
  <Paragraphs>242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ＭＳ Ｐゴシック</vt:lpstr>
      <vt:lpstr>Arial</vt:lpstr>
      <vt:lpstr>Calibri</vt:lpstr>
      <vt:lpstr>Candara</vt:lpstr>
      <vt:lpstr>Comic Sans MS</vt:lpstr>
      <vt:lpstr>Corbel</vt:lpstr>
      <vt:lpstr>Courier</vt:lpstr>
      <vt:lpstr>Times New Roman</vt:lpstr>
      <vt:lpstr>Wingdings</vt:lpstr>
      <vt:lpstr>Wingdings 2</vt:lpstr>
      <vt:lpstr>Module</vt:lpstr>
      <vt:lpstr>Persistence: Files and Directories</vt:lpstr>
      <vt:lpstr>Example of abstraction: Linux file system  stack</vt:lpstr>
      <vt:lpstr>Outline</vt:lpstr>
      <vt:lpstr>File</vt:lpstr>
      <vt:lpstr>Outline</vt:lpstr>
      <vt:lpstr>Directory</vt:lpstr>
      <vt:lpstr>Path</vt:lpstr>
      <vt:lpstr>Outline</vt:lpstr>
      <vt:lpstr>File descriptor</vt:lpstr>
      <vt:lpstr>File descriptors in xv6</vt:lpstr>
      <vt:lpstr>Examples: essence of “cat”</vt:lpstr>
      <vt:lpstr>Outline</vt:lpstr>
      <vt:lpstr>Opening a file</vt:lpstr>
      <vt:lpstr>Creating a file</vt:lpstr>
      <vt:lpstr>Reading a file</vt:lpstr>
      <vt:lpstr>Writing a file</vt:lpstr>
      <vt:lpstr>Example: file.c</vt:lpstr>
      <vt:lpstr>Another example: copy</vt:lpstr>
      <vt:lpstr>Reading and writing, but not sequentially</vt:lpstr>
      <vt:lpstr>Writing Immediately with  fsync(int fd)</vt:lpstr>
      <vt:lpstr>Renaming files</vt:lpstr>
      <vt:lpstr>Getting info about files</vt:lpstr>
      <vt:lpstr>Getting info about files (cont’d)</vt:lpstr>
      <vt:lpstr>Removing files</vt:lpstr>
      <vt:lpstr>Metadata about directories</vt:lpstr>
      <vt:lpstr>Making directories</vt:lpstr>
      <vt:lpstr>Reading directories</vt:lpstr>
      <vt:lpstr>Deleting directories</vt:lpstr>
      <vt:lpstr>Removing files (cont’d)</vt:lpstr>
      <vt:lpstr>Hard links</vt:lpstr>
      <vt:lpstr>Unlink()</vt:lpstr>
      <vt:lpstr>Symbolic(soft) links</vt:lpstr>
      <vt:lpstr>Making and mounting a file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Probir Roy</dc:creator>
  <cp:lastModifiedBy>Roy, Probir</cp:lastModifiedBy>
  <cp:revision>956</cp:revision>
  <cp:lastPrinted>2008-01-09T20:50:56Z</cp:lastPrinted>
  <dcterms:created xsi:type="dcterms:W3CDTF">2010-09-02T17:38:46Z</dcterms:created>
  <dcterms:modified xsi:type="dcterms:W3CDTF">2026-04-07T19:49:39Z</dcterms:modified>
</cp:coreProperties>
</file>