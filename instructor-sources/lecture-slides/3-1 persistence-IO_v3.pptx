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9" r:id="rId1"/>
  </p:sldMasterIdLst>
  <p:notesMasterIdLst>
    <p:notesMasterId r:id="rId30"/>
  </p:notesMasterIdLst>
  <p:handoutMasterIdLst>
    <p:handoutMasterId r:id="rId31"/>
  </p:handoutMasterIdLst>
  <p:sldIdLst>
    <p:sldId id="267" r:id="rId2"/>
    <p:sldId id="287" r:id="rId3"/>
    <p:sldId id="283" r:id="rId4"/>
    <p:sldId id="270" r:id="rId5"/>
    <p:sldId id="311" r:id="rId6"/>
    <p:sldId id="306" r:id="rId7"/>
    <p:sldId id="307" r:id="rId8"/>
    <p:sldId id="309" r:id="rId9"/>
    <p:sldId id="288" r:id="rId10"/>
    <p:sldId id="284" r:id="rId11"/>
    <p:sldId id="310" r:id="rId12"/>
    <p:sldId id="271" r:id="rId13"/>
    <p:sldId id="308" r:id="rId14"/>
    <p:sldId id="273" r:id="rId15"/>
    <p:sldId id="290" r:id="rId16"/>
    <p:sldId id="274" r:id="rId17"/>
    <p:sldId id="275" r:id="rId18"/>
    <p:sldId id="276" r:id="rId19"/>
    <p:sldId id="291" r:id="rId20"/>
    <p:sldId id="277" r:id="rId21"/>
    <p:sldId id="292" r:id="rId22"/>
    <p:sldId id="301" r:id="rId23"/>
    <p:sldId id="278" r:id="rId24"/>
    <p:sldId id="302" r:id="rId25"/>
    <p:sldId id="304" r:id="rId26"/>
    <p:sldId id="305" r:id="rId27"/>
    <p:sldId id="280" r:id="rId28"/>
    <p:sldId id="281" r:id="rId29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CC00"/>
    <a:srgbClr val="000066"/>
    <a:srgbClr val="FFFF00"/>
    <a:srgbClr val="0000CC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7"/>
    <p:restoredTop sz="93605"/>
  </p:normalViewPr>
  <p:slideViewPr>
    <p:cSldViewPr>
      <p:cViewPr varScale="1">
        <p:scale>
          <a:sx n="59" d="100"/>
          <a:sy n="59" d="100"/>
        </p:scale>
        <p:origin x="120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5.xml"/><Relationship Id="rId2" Type="http://schemas.openxmlformats.org/officeDocument/2006/relationships/slide" Target="slides/slide9.xml"/><Relationship Id="rId1" Type="http://schemas.openxmlformats.org/officeDocument/2006/relationships/slide" Target="slides/slide2.xml"/><Relationship Id="rId5" Type="http://schemas.openxmlformats.org/officeDocument/2006/relationships/slide" Target="slides/slide21.xml"/><Relationship Id="rId4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2FDDEE0B-057E-4206-8E62-3C941F6DC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87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AC928AAB-110F-4580-80DF-D5F6A85777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86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A1F6187C-8138-49AA-867D-4BC5AB29BE7A}" type="slidenum">
              <a:rPr lang="en-US" sz="1300">
                <a:latin typeface="Times New Roman" pitchFamily="18" charset="0"/>
                <a:ea typeface="ＭＳ Ｐゴシック" pitchFamily="34" charset="-128"/>
              </a:rPr>
              <a:pPr algn="r" defTabSz="966788" eaLnBrk="0" hangingPunct="0"/>
              <a:t>1</a:t>
            </a:fld>
            <a:endParaRPr lang="en-US" sz="13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4119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59D90319-F4B6-48D8-A205-5DC596C9DC00}" type="slidenum">
              <a:rPr lang="en-US" sz="1300">
                <a:latin typeface="Times New Roman" pitchFamily="18" charset="0"/>
              </a:rPr>
              <a:pPr algn="r" defTabSz="966788" eaLnBrk="0" hangingPunct="0"/>
              <a:t>2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646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59D90319-F4B6-48D8-A205-5DC596C9DC00}" type="slidenum">
              <a:rPr lang="en-US" sz="1300">
                <a:latin typeface="Times New Roman" pitchFamily="18" charset="0"/>
              </a:rPr>
              <a:pPr algn="r" defTabSz="966788" eaLnBrk="0" hangingPunct="0"/>
              <a:t>9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5474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59D90319-F4B6-48D8-A205-5DC596C9DC00}" type="slidenum">
              <a:rPr lang="en-US" sz="1300">
                <a:latin typeface="Times New Roman" pitchFamily="18" charset="0"/>
              </a:rPr>
              <a:pPr algn="r" defTabSz="966788" eaLnBrk="0" hangingPunct="0"/>
              <a:t>15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175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59D90319-F4B6-48D8-A205-5DC596C9DC00}" type="slidenum">
              <a:rPr lang="en-US" sz="1300">
                <a:latin typeface="Times New Roman" pitchFamily="18" charset="0"/>
              </a:rPr>
              <a:pPr algn="r" defTabSz="966788" eaLnBrk="0" hangingPunct="0"/>
              <a:t>19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6468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59D90319-F4B6-48D8-A205-5DC596C9DC00}" type="slidenum">
              <a:rPr lang="en-US" sz="1300">
                <a:latin typeface="Times New Roman" pitchFamily="18" charset="0"/>
              </a:rPr>
              <a:pPr algn="r" defTabSz="966788" eaLnBrk="0" hangingPunct="0"/>
              <a:t>21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646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67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8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3856B4-251E-427A-A5E1-0BA4B62C76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90159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7A79-DA33-4460-AD99-C5CE1544E4D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8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3856B4-251E-427A-A5E1-0BA4B62C76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3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62CF98-8848-472C-B00F-F970B6E62E5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2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8B10A6-787C-4D95-B175-DC30C2B374E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1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139BBDFA-0FC7-436E-B314-6A405F1A6F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1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D80AC37-78F1-43B1-9285-F9EFE7646B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42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5C3856B4-251E-427A-A5E1-0BA4B62C76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3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>
                <a:ea typeface="ＭＳ Ｐゴシック" pitchFamily="34" charset="-128"/>
              </a:rPr>
              <a:t>Persistence: I/O Devices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0B4643-E792-5046-AF37-4FF86C2D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Dr.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Shengquan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Wang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System architecture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909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Prototypical system architecture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CPU attached to the main memory. </a:t>
            </a:r>
          </a:p>
          <a:p>
            <a:r>
              <a:rPr lang="en-US" dirty="0"/>
              <a:t>Graphics and some other higher-performance I/O devices.</a:t>
            </a:r>
          </a:p>
          <a:p>
            <a:r>
              <a:rPr lang="en-US" dirty="0"/>
              <a:t>The slowest devices including disks, mice, and other similar components.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10A6-787C-4D95-B175-DC30C2B374E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841" y="1447800"/>
            <a:ext cx="4975313" cy="427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7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such kind of design?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high performance components (such as the graphics card) are nearer the CPU;</a:t>
            </a:r>
          </a:p>
          <a:p>
            <a:r>
              <a:rPr lang="en-US" dirty="0"/>
              <a:t>lower performance components are further away.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Physics:</a:t>
            </a:r>
          </a:p>
          <a:p>
            <a:pPr lvl="1"/>
            <a:r>
              <a:rPr lang="en-US" dirty="0"/>
              <a:t>The faster a bus is, the shorter it must be; </a:t>
            </a:r>
          </a:p>
          <a:p>
            <a:pPr lvl="1"/>
            <a:r>
              <a:rPr lang="en-US" dirty="0"/>
              <a:t>Thus, a high-performance memory bus does not have much room to plug devices and such into it. </a:t>
            </a:r>
          </a:p>
          <a:p>
            <a:r>
              <a:rPr lang="en-US" dirty="0"/>
              <a:t>Cost: </a:t>
            </a:r>
          </a:p>
          <a:p>
            <a:pPr lvl="1"/>
            <a:r>
              <a:rPr lang="en-US" dirty="0"/>
              <a:t>Engineering a bus for high performance is quite costly.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7A79-DA33-4460-AD99-C5CE1544E4D0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195F-A9F0-433F-BA98-9D1C7456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System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22ACD-3093-40C7-8D15-5B501BB7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8B10A6-787C-4D95-B175-DC30C2B374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50400-643B-4773-914B-23614DBA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417638"/>
            <a:ext cx="6421458" cy="52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0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Persistence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In system memory, data can be easily lost, as devices such as DRAM store values in a volatile manner</a:t>
            </a:r>
          </a:p>
          <a:p>
            <a:pPr lvl="1" eaLnBrk="1" hangingPunct="1"/>
            <a:r>
              <a:rPr lang="en-US" dirty="0">
                <a:ea typeface="ＭＳ Ｐゴシック" pitchFamily="34" charset="-128"/>
              </a:rPr>
              <a:t>when power goes away or the system crashes, any data in memory is lost. 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Thus, we need hardware and software to be able to store data persistently</a:t>
            </a:r>
          </a:p>
          <a:p>
            <a:pPr lvl="1" eaLnBrk="1" hangingPunct="1"/>
            <a:r>
              <a:rPr lang="en-US" dirty="0">
                <a:ea typeface="ＭＳ Ｐゴシック" pitchFamily="34" charset="-128"/>
              </a:rPr>
              <a:t>such storage is thus critical to any system as users care a great deal about their data.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7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supports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</a:t>
            </a:r>
          </a:p>
          <a:p>
            <a:pPr lvl="1"/>
            <a:r>
              <a:rPr lang="en-US" dirty="0"/>
              <a:t>It comes in the form of some kind of input/output (I/O) device.</a:t>
            </a:r>
          </a:p>
          <a:p>
            <a:pPr lvl="1"/>
            <a:r>
              <a:rPr lang="en-US" dirty="0"/>
              <a:t>A hard drive is a common repository for long-lived information.</a:t>
            </a:r>
          </a:p>
          <a:p>
            <a:r>
              <a:rPr lang="en-US" dirty="0"/>
              <a:t>Software</a:t>
            </a:r>
          </a:p>
          <a:p>
            <a:pPr lvl="1"/>
            <a:r>
              <a:rPr lang="en-US" dirty="0"/>
              <a:t>The software in the OS that usually manages the disk is called the file system.</a:t>
            </a:r>
          </a:p>
          <a:p>
            <a:pPr lvl="1"/>
            <a:r>
              <a:rPr lang="en-US" dirty="0"/>
              <a:t>It is responsible for storing any files the user creates in a reliable and efficient manner on the disks of the system.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6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Uniqueness of the abstraction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the abstractions for the CPU and memory, the OS does not create a private, virtualized disk for each application. </a:t>
            </a:r>
          </a:p>
          <a:p>
            <a:r>
              <a:rPr lang="en-US" dirty="0"/>
              <a:t>Rather, users will want to share information that is in files.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8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System architecture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I/O protocols</a:t>
            </a:r>
          </a:p>
          <a:p>
            <a:pPr eaLnBrk="1" hangingPunct="1"/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48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/>
          <a:p>
            <a:r>
              <a:rPr lang="en-US" dirty="0"/>
              <a:t>A canonical device (cont’d)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3380256"/>
            <a:ext cx="10972800" cy="271574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Hardware interface</a:t>
            </a:r>
          </a:p>
          <a:p>
            <a:pPr lvl="1"/>
            <a:r>
              <a:rPr lang="en-US" dirty="0"/>
              <a:t>It allows the system software to control its operation </a:t>
            </a:r>
          </a:p>
          <a:p>
            <a:r>
              <a:rPr lang="en-US" dirty="0"/>
              <a:t>Three registers: </a:t>
            </a:r>
          </a:p>
          <a:p>
            <a:pPr lvl="1"/>
            <a:r>
              <a:rPr lang="en-US" dirty="0"/>
              <a:t>a status register, which can be read to see the current status of the device; </a:t>
            </a:r>
          </a:p>
          <a:p>
            <a:pPr lvl="1"/>
            <a:r>
              <a:rPr lang="en-US" dirty="0"/>
              <a:t>a command register, to tell the device to perform a certain task; </a:t>
            </a:r>
          </a:p>
          <a:p>
            <a:pPr lvl="1"/>
            <a:r>
              <a:rPr lang="en-US" dirty="0"/>
              <a:t>a data register to pass data to the device, or get data from the device.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139BBDFA-0FC7-436E-B314-6A405F1A6F8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2"/>
          <a:srcRect t="3850" b="3850"/>
          <a:stretch>
            <a:fillRect/>
          </a:stretch>
        </p:blipFill>
        <p:spPr bwMode="auto">
          <a:xfrm>
            <a:off x="2595888" y="1172396"/>
            <a:ext cx="6924024" cy="2002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362200" y="6204644"/>
            <a:ext cx="7391400" cy="3485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By reading and writing these registers, the OS can control device behavior.</a:t>
            </a:r>
          </a:p>
        </p:txBody>
      </p:sp>
    </p:spTree>
    <p:extLst>
      <p:ext uri="{BB962C8B-B14F-4D97-AF65-F5344CB8AC3E}">
        <p14:creationId xmlns:p14="http://schemas.microsoft.com/office/powerpoint/2010/main" val="381184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canonical device (cont’d)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3429000"/>
            <a:ext cx="10972800" cy="3124202"/>
          </a:xfrm>
        </p:spPr>
        <p:txBody>
          <a:bodyPr>
            <a:normAutofit/>
          </a:bodyPr>
          <a:lstStyle/>
          <a:p>
            <a:r>
              <a:rPr lang="en-US" dirty="0"/>
              <a:t>Internal structure</a:t>
            </a:r>
          </a:p>
          <a:p>
            <a:pPr lvl="1"/>
            <a:r>
              <a:rPr lang="en-US" dirty="0"/>
              <a:t>It is implementation specific and is responsible for implementing the abstraction (interface) the device presents to the system. </a:t>
            </a:r>
          </a:p>
          <a:p>
            <a:pPr lvl="1"/>
            <a:r>
              <a:rPr lang="en-US" dirty="0"/>
              <a:t>Firmware (i.e., software within a hardware device)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BDFA-0FC7-436E-B314-6A405F1A6F8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Content Placeholder 2">
            <a:extLst>
              <a:ext uri="{FF2B5EF4-FFF2-40B4-BE49-F238E27FC236}">
                <a16:creationId xmlns:a16="http://schemas.microsoft.com/office/drawing/2014/main" id="{E8479CCA-8FDA-224A-B910-C82499B51D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0" b="3850"/>
          <a:stretch>
            <a:fillRect/>
          </a:stretch>
        </p:blipFill>
        <p:spPr bwMode="auto">
          <a:xfrm>
            <a:off x="2595888" y="1172396"/>
            <a:ext cx="6924024" cy="2002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064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canonical protocol (output)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BBDFA-0FC7-436E-B314-6A405F1A6F8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615176" y="3776784"/>
            <a:ext cx="10662424" cy="3005016"/>
          </a:xfrm>
        </p:spPr>
        <p:txBody>
          <a:bodyPr>
            <a:normAutofit/>
          </a:bodyPr>
          <a:lstStyle/>
          <a:p>
            <a:pPr>
              <a:buFont typeface="+mj-ea"/>
              <a:buAutoNum type="circleNumDbPlain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While (STATUS == BUSY) {;}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(wait until device is not busy - </a:t>
            </a:r>
            <a:r>
              <a:rPr lang="en-US" sz="1800" dirty="0">
                <a:solidFill>
                  <a:srgbClr val="FF0000"/>
                </a:solidFill>
              </a:rPr>
              <a:t>polling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Write data to DATA register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(e.g., multiple writes need to take place to transfer a disk block to the device)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Write command to COMMAND register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(lets the device know that both the data is present and that it should begin working on the command)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While (STATUS == BUSY) {;}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(wait until device is done with your request - polling)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4971729" y="1611868"/>
            <a:ext cx="1219200" cy="3048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6529" y="1230868"/>
            <a:ext cx="614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1" y="3200400"/>
            <a:ext cx="907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n-lt"/>
              </a:rPr>
              <a:t>Device</a:t>
            </a:r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 bwMode="auto">
          <a:xfrm flipH="1">
            <a:off x="4343401" y="1916668"/>
            <a:ext cx="1237929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6" name="Straight Arrow Connector 25"/>
          <p:cNvCxnSpPr>
            <a:endCxn id="2" idx="2"/>
          </p:cNvCxnSpPr>
          <p:nvPr/>
        </p:nvCxnSpPr>
        <p:spPr bwMode="auto">
          <a:xfrm flipH="1" flipV="1">
            <a:off x="5581330" y="1916668"/>
            <a:ext cx="1505271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9" name="Straight Arrow Connector 28"/>
          <p:cNvCxnSpPr>
            <a:endCxn id="2" idx="2"/>
          </p:cNvCxnSpPr>
          <p:nvPr/>
        </p:nvCxnSpPr>
        <p:spPr bwMode="auto">
          <a:xfrm flipH="1" flipV="1">
            <a:off x="5581330" y="1916668"/>
            <a:ext cx="133671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pic>
        <p:nvPicPr>
          <p:cNvPr id="16" name="Content Placeholder 2"/>
          <p:cNvPicPr>
            <a:picLocks noChangeAspect="1"/>
          </p:cNvPicPr>
          <p:nvPr/>
        </p:nvPicPr>
        <p:blipFill rotWithShape="1">
          <a:blip r:embed="rId2"/>
          <a:srcRect l="5213" t="9785" r="18851" b="63687"/>
          <a:stretch/>
        </p:blipFill>
        <p:spPr bwMode="auto">
          <a:xfrm>
            <a:off x="2590801" y="2678668"/>
            <a:ext cx="5265615" cy="57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31080" y="190500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0280" y="191666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3080" y="214526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400" y="229766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438400" y="1295400"/>
            <a:ext cx="6400800" cy="22860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>
              <a:solidFill>
                <a:schemeClr val="bg2">
                  <a:lumMod val="50000"/>
                </a:schemeClr>
              </a:solidFill>
              <a:latin typeface="Comic Sans MS" pitchFamily="-10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5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canonical protocol (input)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BBDFA-0FC7-436E-B314-6A405F1A6F8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609601" y="3776784"/>
            <a:ext cx="7315199" cy="2743200"/>
          </a:xfrm>
        </p:spPr>
        <p:txBody>
          <a:bodyPr>
            <a:normAutofit lnSpcReduction="10000"/>
          </a:bodyPr>
          <a:lstStyle/>
          <a:p>
            <a:pPr>
              <a:buFont typeface="+mj-ea"/>
              <a:buAutoNum type="circleNumDbPlain"/>
              <a:tabLst>
                <a:tab pos="457200" algn="l"/>
              </a:tabLst>
            </a:pPr>
            <a:r>
              <a:rPr lang="en-US" sz="1800" dirty="0"/>
              <a:t>While (STATUS == BUSY) {;} </a:t>
            </a:r>
            <a:br>
              <a:rPr lang="en-US" sz="1800" dirty="0"/>
            </a:br>
            <a:r>
              <a:rPr lang="en-US" sz="1800" dirty="0"/>
              <a:t>(wait until device is not busy - </a:t>
            </a:r>
            <a:r>
              <a:rPr lang="en-US" sz="1800" dirty="0">
                <a:solidFill>
                  <a:srgbClr val="FF0000"/>
                </a:solidFill>
              </a:rPr>
              <a:t>polling</a:t>
            </a:r>
            <a:r>
              <a:rPr lang="en-US" sz="1800" dirty="0"/>
              <a:t>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/>
              <a:t>Write command to COMMAND register </a:t>
            </a:r>
            <a:br>
              <a:rPr lang="en-US" sz="1800" dirty="0"/>
            </a:br>
            <a:r>
              <a:rPr lang="en-US" sz="1800" dirty="0"/>
              <a:t>(lets the device know that it should begin working on the command)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/>
              <a:t>Read data from DATA register </a:t>
            </a:r>
            <a:br>
              <a:rPr lang="en-US" sz="1800" dirty="0"/>
            </a:br>
            <a:r>
              <a:rPr lang="en-US" sz="1800" dirty="0"/>
              <a:t>(transfer a disk block to memory)</a:t>
            </a:r>
          </a:p>
          <a:p>
            <a:pPr>
              <a:buFont typeface="+mj-lt"/>
              <a:buAutoNum type="circleNumDbPlain"/>
              <a:tabLst>
                <a:tab pos="457200" algn="l"/>
              </a:tabLst>
            </a:pPr>
            <a:r>
              <a:rPr lang="en-US" sz="1800" dirty="0"/>
              <a:t>While (STATUS == BUSY) {;} </a:t>
            </a:r>
            <a:br>
              <a:rPr lang="en-US" sz="1800" dirty="0"/>
            </a:br>
            <a:r>
              <a:rPr lang="en-US" sz="1800" dirty="0"/>
              <a:t>(wait until device is done with your request – polling)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4971729" y="1611868"/>
            <a:ext cx="1219200" cy="3048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6529" y="1230868"/>
            <a:ext cx="614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1" y="3200400"/>
            <a:ext cx="907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n-lt"/>
              </a:rPr>
              <a:t>Device</a:t>
            </a:r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 bwMode="auto">
          <a:xfrm flipH="1">
            <a:off x="4343401" y="1916668"/>
            <a:ext cx="1237929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6" name="Straight Arrow Connector 25"/>
          <p:cNvCxnSpPr>
            <a:endCxn id="2" idx="2"/>
          </p:cNvCxnSpPr>
          <p:nvPr/>
        </p:nvCxnSpPr>
        <p:spPr bwMode="auto">
          <a:xfrm flipH="1" flipV="1">
            <a:off x="5581330" y="1916668"/>
            <a:ext cx="1505271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endCxn id="2" idx="2"/>
          </p:cNvCxnSpPr>
          <p:nvPr/>
        </p:nvCxnSpPr>
        <p:spPr bwMode="auto">
          <a:xfrm flipH="1" flipV="1">
            <a:off x="5581330" y="1916668"/>
            <a:ext cx="133671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pic>
        <p:nvPicPr>
          <p:cNvPr id="16" name="Content Placeholder 2"/>
          <p:cNvPicPr>
            <a:picLocks noChangeAspect="1"/>
          </p:cNvPicPr>
          <p:nvPr/>
        </p:nvPicPr>
        <p:blipFill rotWithShape="1">
          <a:blip r:embed="rId2"/>
          <a:srcRect l="5213" t="9785" r="18851" b="63687"/>
          <a:stretch/>
        </p:blipFill>
        <p:spPr bwMode="auto">
          <a:xfrm>
            <a:off x="2590801" y="2678668"/>
            <a:ext cx="5265615" cy="57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31080" y="190500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213360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199286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400" y="229766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en-US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438400" y="1295400"/>
            <a:ext cx="6400800" cy="22860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>
              <a:solidFill>
                <a:schemeClr val="bg2">
                  <a:lumMod val="50000"/>
                </a:schemeClr>
              </a:solidFill>
              <a:latin typeface="Comic Sans MS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06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5" grpId="0" uiExpand="1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in the canonical protocol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Polling seems inefficient.</a:t>
            </a:r>
          </a:p>
          <a:p>
            <a:pPr lvl="1"/>
            <a:r>
              <a:rPr lang="en-US" dirty="0"/>
              <a:t>It wastes a great deal of CPU time just polling the (potentially slow) device, instead of switching to another ready process.</a:t>
            </a:r>
          </a:p>
          <a:p>
            <a:pPr lvl="1"/>
            <a:r>
              <a:rPr lang="en-US" dirty="0"/>
              <a:t>Like the spin lock.</a:t>
            </a:r>
          </a:p>
          <a:p>
            <a:r>
              <a:rPr lang="en-US" dirty="0"/>
              <a:t>Solution to spin lock</a:t>
            </a:r>
          </a:p>
          <a:p>
            <a:pPr lvl="1"/>
            <a:r>
              <a:rPr lang="en-US" dirty="0"/>
              <a:t>We put the calling thread to sleep for locking.</a:t>
            </a:r>
          </a:p>
          <a:p>
            <a:pPr lvl="1"/>
            <a:r>
              <a:rPr lang="en-US" dirty="0"/>
              <a:t>Wake up the sleep thread for unlocking.</a:t>
            </a:r>
          </a:p>
          <a:p>
            <a:r>
              <a:rPr lang="en-US" dirty="0"/>
              <a:t>Analogy</a:t>
            </a:r>
          </a:p>
          <a:p>
            <a:pPr lvl="1"/>
            <a:r>
              <a:rPr lang="en-US" dirty="0"/>
              <a:t>Check email constantly, or</a:t>
            </a:r>
          </a:p>
          <a:p>
            <a:pPr lvl="1"/>
            <a:r>
              <a:rPr lang="en-US" dirty="0"/>
              <a:t>Through email notification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System architecture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I/O protocols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Polling</a:t>
            </a:r>
          </a:p>
          <a:p>
            <a:pPr lvl="1"/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Interrupts</a:t>
            </a:r>
          </a:p>
          <a:p>
            <a:pPr eaLnBrk="1" hangingPunct="1"/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16589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waiting but sleep:</a:t>
            </a:r>
          </a:p>
          <a:p>
            <a:pPr lvl="1"/>
            <a:r>
              <a:rPr lang="en-US" dirty="0"/>
              <a:t>The OS can issue a request, put the calling process to sleep, and context switch to another process.</a:t>
            </a:r>
          </a:p>
          <a:p>
            <a:r>
              <a:rPr lang="en-US" dirty="0"/>
              <a:t>Notification:</a:t>
            </a:r>
          </a:p>
          <a:p>
            <a:pPr lvl="1"/>
            <a:r>
              <a:rPr lang="en-US" dirty="0"/>
              <a:t>When the device is finally finished with the operation, it will raise a hardware interrupt, causing the CPU to jump into the OS at a predetermined interrupt service routine (ISR) or more simply an interrupt handler. </a:t>
            </a:r>
          </a:p>
          <a:p>
            <a:pPr lvl="1"/>
            <a:r>
              <a:rPr lang="en-US" dirty="0"/>
              <a:t>The handler is just a piece of OS code that will finish the request (for example, by reading data and perhaps an error code from the device) and wake the process waiting for the I/O.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Interrupts thus allow for overlap of computation and I/O, which is key for improved utilization.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74951" y="3806826"/>
            <a:ext cx="6975475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1150" y="5195889"/>
            <a:ext cx="69024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6" name="Text Box 8"/>
          <p:cNvSpPr txBox="1">
            <a:spLocks noChangeArrowheads="1"/>
          </p:cNvSpPr>
          <p:nvPr/>
        </p:nvSpPr>
        <p:spPr bwMode="auto">
          <a:xfrm>
            <a:off x="3886201" y="3502026"/>
            <a:ext cx="10679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ndara" panose="020E0502030303020204" pitchFamily="34" charset="0"/>
              </a:rPr>
              <a:t>Polling</a:t>
            </a:r>
          </a:p>
        </p:txBody>
      </p:sp>
      <p:sp>
        <p:nvSpPr>
          <p:cNvPr id="25607" name="Text Box 9"/>
          <p:cNvSpPr txBox="1">
            <a:spLocks noChangeArrowheads="1"/>
          </p:cNvSpPr>
          <p:nvPr/>
        </p:nvSpPr>
        <p:spPr bwMode="auto">
          <a:xfrm>
            <a:off x="3841750" y="4800601"/>
            <a:ext cx="1370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ndara" panose="020E0502030303020204" pitchFamily="34" charset="0"/>
              </a:rPr>
              <a:t>Interrupt</a:t>
            </a:r>
          </a:p>
        </p:txBody>
      </p:sp>
      <p:sp>
        <p:nvSpPr>
          <p:cNvPr id="25608" name="Text Box 10"/>
          <p:cNvSpPr txBox="1">
            <a:spLocks noChangeArrowheads="1"/>
          </p:cNvSpPr>
          <p:nvPr/>
        </p:nvSpPr>
        <p:spPr bwMode="auto">
          <a:xfrm>
            <a:off x="8108951" y="2743200"/>
            <a:ext cx="1352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1: process 1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2: process 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p: polling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Interrupts is not always the best solution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an interrupt for a fast device will slow down the system:</a:t>
            </a:r>
          </a:p>
          <a:p>
            <a:pPr lvl="1"/>
            <a:r>
              <a:rPr lang="en-US" dirty="0"/>
              <a:t>Switching to another process, handling the interrupt, and switching back to the issuing process is expensive.</a:t>
            </a:r>
          </a:p>
          <a:p>
            <a:pPr lvl="1"/>
            <a:r>
              <a:rPr lang="en-US" dirty="0"/>
              <a:t>It may be best to poll.</a:t>
            </a:r>
          </a:p>
          <a:p>
            <a:r>
              <a:rPr lang="en-US" dirty="0"/>
              <a:t>There are also cases where a flood of interrupts may overload a system and lead it to </a:t>
            </a:r>
            <a:r>
              <a:rPr lang="en-US" dirty="0" err="1"/>
              <a:t>livelock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Find itself only processing interrupts and never allowing a user-level process to run and actually service the requests (like thrashing).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System architecture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I/O protocols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Polling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Interrupts</a:t>
            </a:r>
          </a:p>
          <a:p>
            <a:pPr lvl="1"/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DMA</a:t>
            </a:r>
          </a:p>
          <a:p>
            <a:pPr eaLnBrk="1" hangingPunct="1"/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06860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/>
          <a:p>
            <a:r>
              <a:rPr lang="en-US" dirty="0"/>
              <a:t>Direct Memory Access (DMA)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10972800" cy="22896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the main CPU is involved with the data movement, we refer to it as programmed I/O (PIO). </a:t>
            </a:r>
          </a:p>
          <a:p>
            <a:r>
              <a:rPr lang="en-US" dirty="0"/>
              <a:t>Problem with PIO when transferring a large chunk of data: </a:t>
            </a:r>
          </a:p>
          <a:p>
            <a:pPr lvl="1"/>
            <a:r>
              <a:rPr lang="en-US" dirty="0"/>
              <a:t>The CPU is again overburdened with a rather trivial task.</a:t>
            </a:r>
          </a:p>
          <a:p>
            <a:pPr lvl="1"/>
            <a:r>
              <a:rPr lang="en-US" dirty="0"/>
              <a:t>Waste a lot of time and effort that could better be spent running other processes.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7C26BF7C-61CB-4C70-B3F2-275135ABE32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1" y="4398964"/>
            <a:ext cx="8054975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1" y="5495926"/>
            <a:ext cx="8018463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Text Box 7"/>
          <p:cNvSpPr txBox="1">
            <a:spLocks noChangeArrowheads="1"/>
          </p:cNvSpPr>
          <p:nvPr/>
        </p:nvSpPr>
        <p:spPr bwMode="auto">
          <a:xfrm>
            <a:off x="3200401" y="4038601"/>
            <a:ext cx="6527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PIO</a:t>
            </a:r>
          </a:p>
        </p:txBody>
      </p:sp>
      <p:sp>
        <p:nvSpPr>
          <p:cNvPr id="27655" name="Text Box 8"/>
          <p:cNvSpPr txBox="1">
            <a:spLocks noChangeArrowheads="1"/>
          </p:cNvSpPr>
          <p:nvPr/>
        </p:nvSpPr>
        <p:spPr bwMode="auto">
          <a:xfrm>
            <a:off x="3200401" y="5105401"/>
            <a:ext cx="8338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DMA</a:t>
            </a: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4227928" y="3599956"/>
            <a:ext cx="5867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c: initiates the I/O copying the data from memory to the device explicitly, one word (each c) at a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System architecture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I/O protocols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Polling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Interrupts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DMA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Other issues</a:t>
            </a:r>
          </a:p>
          <a:p>
            <a:pPr eaLnBrk="1" hangingPunct="1"/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6BF7C-61CB-4C70-B3F2-275135ABE32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9754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crux: how the OS actually communicates </a:t>
            </a:r>
            <a:br>
              <a:rPr lang="en-US" dirty="0"/>
            </a:br>
            <a:r>
              <a:rPr lang="en-US" dirty="0"/>
              <a:t>with the device?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should the hardware communicate with a device? </a:t>
            </a:r>
          </a:p>
          <a:p>
            <a:r>
              <a:rPr lang="en-US" dirty="0"/>
              <a:t>Should there be explicit instructions? Or are there other ways to do it?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70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1: explicit I/O instructions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specify a way for the OS to send data to specific device registers.</a:t>
            </a:r>
          </a:p>
          <a:p>
            <a:pPr lvl="1"/>
            <a:r>
              <a:rPr lang="en-US" dirty="0"/>
              <a:t>e.g., on x86, the 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out</a:t>
            </a:r>
            <a:r>
              <a:rPr lang="en-US" dirty="0"/>
              <a:t> instructions can be used to communicate with devices.</a:t>
            </a:r>
          </a:p>
          <a:p>
            <a:pPr lvl="1"/>
            <a:r>
              <a:rPr lang="en-US" dirty="0"/>
              <a:t>To send data to a device, the caller specifies a register with the data in it, and a specific port which names the device.</a:t>
            </a:r>
          </a:p>
          <a:p>
            <a:pPr lvl="1"/>
            <a:r>
              <a:rPr lang="en-US" dirty="0"/>
              <a:t>Such instructions are usually privileged.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memory-mapped I/O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hardware makes device registers available as if they were memory locations. </a:t>
            </a:r>
          </a:p>
          <a:p>
            <a:r>
              <a:rPr lang="en-US" dirty="0"/>
              <a:t>To access a particular register, then, the OS would issue a load (to read) or a store (to write) to that address; </a:t>
            </a:r>
          </a:p>
          <a:p>
            <a:r>
              <a:rPr lang="en-US" dirty="0"/>
              <a:t>The hardware then routes the load/store to the device instead of main memory.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980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into the OS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fit devices, each of which have very specific interfaces, into the OS?</a:t>
            </a:r>
          </a:p>
          <a:p>
            <a:r>
              <a:rPr lang="en-US" dirty="0"/>
              <a:t>How can we keep most of the OS device-neutral, thus hiding the details of device interactions from major OS subsystems?</a:t>
            </a:r>
          </a:p>
          <a:p>
            <a:pPr lvl="1"/>
            <a:r>
              <a:rPr lang="en-US" dirty="0"/>
              <a:t>We’d like to build a file system that worked on top of SCSI disks, IDE disks, USB keychain drives, and so forth;</a:t>
            </a:r>
          </a:p>
          <a:p>
            <a:pPr lvl="1"/>
            <a:r>
              <a:rPr lang="en-US" dirty="0"/>
              <a:t>We’d like the file system to be relatively oblivious to all of the details of how to issue a read or write request to these difference types of drives.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53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Fitting into the OS: the device driver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the age-old technique abstraction. </a:t>
            </a:r>
          </a:p>
          <a:p>
            <a:pPr lvl="1"/>
            <a:r>
              <a:rPr lang="en-US" dirty="0"/>
              <a:t>At the lowest level, a piece of software in the OS must know in detail how a device works. </a:t>
            </a:r>
          </a:p>
          <a:p>
            <a:pPr lvl="1"/>
            <a:r>
              <a:rPr lang="en-US" dirty="0"/>
              <a:t>We call this piece of software a device driver, and any specifics of device interaction are encapsulated within.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321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abstraction: Linux file system 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4419600"/>
            <a:ext cx="10972800" cy="21336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application issues block read and write requests to the generic block layer, </a:t>
            </a:r>
          </a:p>
          <a:p>
            <a:pPr lvl="1"/>
            <a:r>
              <a:rPr lang="en-US" dirty="0"/>
              <a:t>which routes them to the appropriate device driver, </a:t>
            </a:r>
          </a:p>
          <a:p>
            <a:pPr lvl="1"/>
            <a:r>
              <a:rPr lang="en-US" dirty="0"/>
              <a:t>which handles the details of issuing the specific request.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0AC37-78F1-43B1-9285-F9EFE7646BC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0600"/>
            <a:ext cx="7086600" cy="32604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facts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Device drivers represent a huge percentage of kernel code due to many different devices. </a:t>
            </a:r>
          </a:p>
          <a:p>
            <a:pPr lvl="1"/>
            <a:r>
              <a:rPr lang="en-US" dirty="0"/>
              <a:t>Linux kernel:  over 70% of OS code is in device drivers. </a:t>
            </a:r>
          </a:p>
          <a:p>
            <a:r>
              <a:rPr lang="en-US" dirty="0"/>
              <a:t>A modern OS has millions of lines of code.</a:t>
            </a:r>
          </a:p>
          <a:p>
            <a:pPr lvl="1"/>
            <a:r>
              <a:rPr lang="en-US" dirty="0"/>
              <a:t>Actually millions of lines of device-driver code. </a:t>
            </a:r>
          </a:p>
          <a:p>
            <a:pPr lvl="1"/>
            <a:r>
              <a:rPr lang="en-US" dirty="0"/>
              <a:t>For an installation, most of that code may not be active. </a:t>
            </a:r>
          </a:p>
          <a:p>
            <a:r>
              <a:rPr lang="en-US" dirty="0"/>
              <a:t>Bug in device driver</a:t>
            </a:r>
          </a:p>
          <a:p>
            <a:pPr lvl="1"/>
            <a:r>
              <a:rPr lang="en-US" dirty="0"/>
              <a:t>As drivers are often written by “amateurs”, they tend to have many more bugs and thus are a primary contributor to kernel crashes.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BF7C-61CB-4C70-B3F2-275135ABE324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4394</TotalTime>
  <Words>1599</Words>
  <Application>Microsoft Office PowerPoint</Application>
  <PresentationFormat>Widescreen</PresentationFormat>
  <Paragraphs>196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ＭＳ Ｐゴシック</vt:lpstr>
      <vt:lpstr>Arial</vt:lpstr>
      <vt:lpstr>Calibri</vt:lpstr>
      <vt:lpstr>Candara</vt:lpstr>
      <vt:lpstr>Comic Sans MS</vt:lpstr>
      <vt:lpstr>Times New Roman</vt:lpstr>
      <vt:lpstr>Wingdings</vt:lpstr>
      <vt:lpstr>Wingdings 2</vt:lpstr>
      <vt:lpstr>Module</vt:lpstr>
      <vt:lpstr>Persistence: I/O Devices</vt:lpstr>
      <vt:lpstr>Outline</vt:lpstr>
      <vt:lpstr>Prototypical system architecture</vt:lpstr>
      <vt:lpstr>Why such kind of design?</vt:lpstr>
      <vt:lpstr>Modern System Architecture</vt:lpstr>
      <vt:lpstr>Persistence</vt:lpstr>
      <vt:lpstr>Hardware and software supports</vt:lpstr>
      <vt:lpstr>Uniqueness of the abstraction</vt:lpstr>
      <vt:lpstr>Outline</vt:lpstr>
      <vt:lpstr>A canonical device (cont’d)</vt:lpstr>
      <vt:lpstr>A canonical device (cont’d)</vt:lpstr>
      <vt:lpstr>A canonical protocol (output)</vt:lpstr>
      <vt:lpstr>A canonical protocol (input)</vt:lpstr>
      <vt:lpstr>Problems in the canonical protocol</vt:lpstr>
      <vt:lpstr>Outline</vt:lpstr>
      <vt:lpstr>Interrupts</vt:lpstr>
      <vt:lpstr>Benefit</vt:lpstr>
      <vt:lpstr>Interrupts is not always the best solution</vt:lpstr>
      <vt:lpstr>Outline</vt:lpstr>
      <vt:lpstr>Direct Memory Access (DMA)</vt:lpstr>
      <vt:lpstr>Outline</vt:lpstr>
      <vt:lpstr>The crux: how the OS actually communicates  with the device?</vt:lpstr>
      <vt:lpstr>Method 1: explicit I/O instructions</vt:lpstr>
      <vt:lpstr>Method 2: memory-mapped I/O</vt:lpstr>
      <vt:lpstr>Fitting into the OS</vt:lpstr>
      <vt:lpstr>Fitting into the OS: the device driver</vt:lpstr>
      <vt:lpstr>Example of abstraction: Linux file system stack</vt:lpstr>
      <vt:lpstr>Interesting facts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Probir Roy</dc:creator>
  <cp:lastModifiedBy>Roy, Probir</cp:lastModifiedBy>
  <cp:revision>729</cp:revision>
  <cp:lastPrinted>2008-01-09T20:50:56Z</cp:lastPrinted>
  <dcterms:created xsi:type="dcterms:W3CDTF">2010-09-02T17:38:46Z</dcterms:created>
  <dcterms:modified xsi:type="dcterms:W3CDTF">2025-11-10T18:04:13Z</dcterms:modified>
</cp:coreProperties>
</file>