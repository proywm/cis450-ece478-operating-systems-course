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08" r:id="rId1"/>
  </p:sldMasterIdLst>
  <p:notesMasterIdLst>
    <p:notesMasterId r:id="rId37"/>
  </p:notesMasterIdLst>
  <p:handoutMasterIdLst>
    <p:handoutMasterId r:id="rId38"/>
  </p:handoutMasterIdLst>
  <p:sldIdLst>
    <p:sldId id="259" r:id="rId2"/>
    <p:sldId id="285" r:id="rId3"/>
    <p:sldId id="266" r:id="rId4"/>
    <p:sldId id="267" r:id="rId5"/>
    <p:sldId id="275" r:id="rId6"/>
    <p:sldId id="260" r:id="rId7"/>
    <p:sldId id="291" r:id="rId8"/>
    <p:sldId id="283" r:id="rId9"/>
    <p:sldId id="284" r:id="rId10"/>
    <p:sldId id="292" r:id="rId11"/>
    <p:sldId id="261" r:id="rId12"/>
    <p:sldId id="293" r:id="rId13"/>
    <p:sldId id="274" r:id="rId14"/>
    <p:sldId id="287" r:id="rId15"/>
    <p:sldId id="288" r:id="rId16"/>
    <p:sldId id="286" r:id="rId17"/>
    <p:sldId id="276" r:id="rId18"/>
    <p:sldId id="282" r:id="rId19"/>
    <p:sldId id="278" r:id="rId20"/>
    <p:sldId id="289" r:id="rId21"/>
    <p:sldId id="279" r:id="rId22"/>
    <p:sldId id="290" r:id="rId23"/>
    <p:sldId id="396" r:id="rId24"/>
    <p:sldId id="299" r:id="rId25"/>
    <p:sldId id="300" r:id="rId26"/>
    <p:sldId id="268" r:id="rId27"/>
    <p:sldId id="269" r:id="rId28"/>
    <p:sldId id="395" r:id="rId29"/>
    <p:sldId id="294" r:id="rId30"/>
    <p:sldId id="295" r:id="rId31"/>
    <p:sldId id="296" r:id="rId32"/>
    <p:sldId id="297" r:id="rId33"/>
    <p:sldId id="298" r:id="rId34"/>
    <p:sldId id="397" r:id="rId35"/>
    <p:sldId id="264" r:id="rId36"/>
  </p:sldIdLst>
  <p:sldSz cx="12192000" cy="6858000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3158"/>
    <a:srgbClr val="2D316C"/>
    <a:srgbClr val="FF0000"/>
    <a:srgbClr val="00CC00"/>
    <a:srgbClr val="000066"/>
    <a:srgbClr val="FFFF00"/>
    <a:srgbClr val="0000CC"/>
    <a:srgbClr val="FF990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56" autoAdjust="0"/>
    <p:restoredTop sz="96327"/>
  </p:normalViewPr>
  <p:slideViewPr>
    <p:cSldViewPr>
      <p:cViewPr varScale="1">
        <p:scale>
          <a:sx n="86" d="100"/>
          <a:sy n="86" d="100"/>
        </p:scale>
        <p:origin x="974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-63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63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64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65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fld id="{905E1C14-DD16-4177-9CD3-9B1C667D62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2425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fld id="{C7E2733F-2241-4255-9089-00708B56AD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538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3FB4E7-0725-4D7F-8626-654AF120D9C6}" type="slidenum">
              <a:rPr lang="en-US" smtClean="0">
                <a:latin typeface="Times New Roman" pitchFamily="18" charset="0"/>
              </a:rPr>
              <a:pPr/>
              <a:t>1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1375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AAAD10-A6B4-423E-A9D8-56E19F727689}" type="slidenum">
              <a:rPr lang="en-US" smtClean="0">
                <a:latin typeface="Times New Roman" pitchFamily="18" charset="0"/>
              </a:rPr>
              <a:pPr/>
              <a:t>3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91605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CDF6E1A-FBE2-400C-A956-A0DAC0644A7A}" type="slidenum">
              <a:rPr lang="en-US" smtClean="0">
                <a:latin typeface="Times New Roman" pitchFamily="18" charset="0"/>
              </a:rPr>
              <a:pPr/>
              <a:t>4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5401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B63BF1-F91D-48CA-8BAC-96199EEF986E}" type="slidenum">
              <a:rPr lang="en-US" smtClean="0">
                <a:latin typeface="Times New Roman" pitchFamily="18" charset="0"/>
              </a:rPr>
              <a:pPr/>
              <a:t>7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6071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 txBox="1">
            <a:spLocks noGrp="1" noChangeArrowheads="1"/>
          </p:cNvSpPr>
          <p:nvPr/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61" tIns="48331" rIns="96661" bIns="48331" anchor="b"/>
          <a:lstStyle/>
          <a:p>
            <a:pPr algn="r" defTabSz="966788" eaLnBrk="0" hangingPunct="0"/>
            <a:fld id="{23D0D6E8-8222-4F0B-BB64-898114D58669}" type="slidenum">
              <a:rPr lang="en-US" sz="1300">
                <a:latin typeface="Times New Roman" pitchFamily="18" charset="0"/>
              </a:rPr>
              <a:pPr algn="r" defTabSz="966788" eaLnBrk="0" hangingPunct="0"/>
              <a:t>8</a:t>
            </a:fld>
            <a:endParaRPr lang="en-US" sz="1300">
              <a:latin typeface="Times New Roman" pitchFamily="18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711200"/>
            <a:ext cx="6442075" cy="3624263"/>
          </a:xfrm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7263" y="4572000"/>
            <a:ext cx="5421312" cy="4333875"/>
          </a:xfrm>
          <a:noFill/>
          <a:ln/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20824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 txBox="1">
            <a:spLocks noGrp="1" noChangeArrowheads="1"/>
          </p:cNvSpPr>
          <p:nvPr/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61" tIns="48331" rIns="96661" bIns="48331" anchor="b"/>
          <a:lstStyle/>
          <a:p>
            <a:pPr algn="r" defTabSz="966788" eaLnBrk="0" hangingPunct="0"/>
            <a:fld id="{C83FEFC2-9E49-45E0-9100-1FC3E091BF6E}" type="slidenum">
              <a:rPr lang="en-US" sz="1300">
                <a:latin typeface="Times New Roman" pitchFamily="18" charset="0"/>
              </a:rPr>
              <a:pPr algn="r" defTabSz="966788" eaLnBrk="0" hangingPunct="0"/>
              <a:t>9</a:t>
            </a:fld>
            <a:endParaRPr lang="en-US" sz="1300">
              <a:latin typeface="Times New Roman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28146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DF34C1-60C6-4432-AAC2-963B1949A998}" type="slidenum">
              <a:rPr lang="en-US" smtClean="0">
                <a:latin typeface="Times New Roman" pitchFamily="18" charset="0"/>
              </a:rPr>
              <a:pPr/>
              <a:t>13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25995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734E7-9081-4B51-827A-8BF472358244}" type="slidenum">
              <a:rPr lang="en-US" smtClean="0">
                <a:latin typeface="Times New Roman" pitchFamily="18" charset="0"/>
              </a:rPr>
              <a:pPr/>
              <a:t>17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25076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FBB8A2E-5C8B-46F3-9EAA-A984B400FFC5}" type="slidenum">
              <a:rPr lang="en-US" smtClean="0">
                <a:latin typeface="Times New Roman" pitchFamily="18" charset="0"/>
              </a:rPr>
              <a:pPr/>
              <a:t>18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835509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670180E-B713-4947-A1F8-AED5D225C039}" type="slidenum">
              <a:rPr lang="en-US" smtClean="0">
                <a:latin typeface="Times New Roman" pitchFamily="18" charset="0"/>
              </a:rPr>
              <a:pPr/>
              <a:t>19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47106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758953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85E4B3D-D826-43E4-88AA-CD445491ACE2}" type="slidenum">
              <a:rPr lang="en-US" smtClean="0">
                <a:latin typeface="Times New Roman" pitchFamily="18" charset="0"/>
              </a:rPr>
              <a:pPr/>
              <a:t>21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50178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404344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A494197-A22C-4D23-A7A9-EDC334D9BE59}" type="slidenum">
              <a:rPr lang="en-US" smtClean="0">
                <a:latin typeface="Times New Roman" pitchFamily="18" charset="0"/>
              </a:rPr>
              <a:pPr/>
              <a:t>27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63865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C69F9F-A9A7-42DA-9997-328AE4CDF8A8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68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2800" y="1122363"/>
            <a:ext cx="10668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latin typeface="Candara" panose="020E0502030303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2800" y="3602038"/>
            <a:ext cx="10668000" cy="2341562"/>
          </a:xfrm>
        </p:spPr>
        <p:txBody>
          <a:bodyPr/>
          <a:lstStyle>
            <a:lvl1pPr marL="0" indent="0" algn="ctr">
              <a:buNone/>
              <a:defRPr sz="2400" b="0" i="0">
                <a:latin typeface="Candara" panose="020E05020303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860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987552"/>
          </a:xfrm>
        </p:spPr>
        <p:txBody>
          <a:bodyPr/>
          <a:lstStyle>
            <a:lvl1pPr>
              <a:defRPr b="1" i="0">
                <a:latin typeface="Candara" panose="020E0502030303020204" pitchFamily="34" charset="0"/>
                <a:cs typeface="Calibri" panose="020F050202020403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 vert="horz" lIns="54864" tIns="9144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FD6249-C7C5-4B3B-BA06-9285785055F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01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Candara" panose="020E0502030303020204" pitchFamily="34" charset="0"/>
                <a:cs typeface="Calibri" panose="020F050202020403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1295400"/>
            <a:ext cx="5384800" cy="5504688"/>
          </a:xfrm>
        </p:spPr>
        <p:txBody>
          <a:bodyPr lIns="91440"/>
          <a:lstStyle>
            <a:lvl1pPr marL="233363" indent="-222250" eaLnBrk="1" latinLnBrk="0" hangingPunct="1">
              <a:tabLst/>
              <a:defRPr sz="2800"/>
            </a:lvl1pPr>
            <a:lvl2pPr marL="458788" indent="-225425" eaLnBrk="1" latinLnBrk="0" hangingPunct="1">
              <a:tabLst/>
              <a:defRPr sz="2400"/>
            </a:lvl2pPr>
            <a:lvl3pPr marL="628650" indent="-169863" eaLnBrk="1" latinLnBrk="0" hangingPunct="1">
              <a:tabLst/>
              <a:defRPr sz="2000"/>
            </a:lvl3pPr>
            <a:lvl4pPr marL="1087438" indent="-292100" eaLnBrk="1" latinLnBrk="0" hangingPunct="1">
              <a:tabLst/>
              <a:defRPr sz="1800"/>
            </a:lvl4pPr>
            <a:lvl5pPr marL="1492250" indent="-203200" eaLnBrk="1" latinLnBrk="0" hangingPunct="1">
              <a:tabLst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295400"/>
            <a:ext cx="5384800" cy="5504688"/>
          </a:xfrm>
        </p:spPr>
        <p:txBody>
          <a:bodyPr vert="horz" lIns="91440" tIns="91440" rtlCol="0">
            <a:normAutofit/>
          </a:bodyPr>
          <a:lstStyle>
            <a:lvl1pPr>
              <a:defRPr lang="en-US" sz="2800" dirty="0"/>
            </a:lvl1pPr>
            <a:lvl2pPr>
              <a:defRPr lang="en-US" sz="2400" dirty="0"/>
            </a:lvl2pPr>
            <a:lvl3pPr>
              <a:defRPr lang="en-US" sz="2000" dirty="0"/>
            </a:lvl3pPr>
          </a:lstStyle>
          <a:p>
            <a:pPr marL="233363" lvl="0" indent="-222250"/>
            <a:r>
              <a:rPr lang="en-US" dirty="0"/>
              <a:t>Click to edit Master text styles</a:t>
            </a:r>
          </a:p>
          <a:p>
            <a:pPr marL="458788" lvl="1" indent="-225425"/>
            <a:r>
              <a:rPr lang="en-US" dirty="0"/>
              <a:t>Second level</a:t>
            </a:r>
          </a:p>
          <a:p>
            <a:pPr marL="628650" lvl="2" indent="-169863"/>
            <a:r>
              <a:rPr lang="en-US" dirty="0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7FBE17-B29F-4394-A15C-D54855A919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57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Candara" panose="020E0502030303020204" pitchFamily="34" charset="0"/>
                <a:cs typeface="Calibri" panose="020F0502020204030204" pitchFamily="34" charset="0"/>
              </a:defRPr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95401"/>
            <a:ext cx="5386917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" y="2023338"/>
            <a:ext cx="5386917" cy="4377462"/>
          </a:xfrm>
        </p:spPr>
        <p:txBody>
          <a:bodyPr vert="horz" lIns="91440" tIns="91440" rtlCol="0">
            <a:normAutofit/>
          </a:bodyPr>
          <a:lstStyle>
            <a:lvl1pPr>
              <a:defRPr lang="en-US" sz="2800" dirty="0"/>
            </a:lvl1pPr>
            <a:lvl2pPr>
              <a:defRPr lang="en-US" sz="2400" dirty="0"/>
            </a:lvl2pPr>
            <a:lvl3pPr>
              <a:defRPr lang="en-US" sz="2000" dirty="0"/>
            </a:lvl3pPr>
          </a:lstStyle>
          <a:p>
            <a:pPr marL="233363" lvl="0" indent="-222250"/>
            <a:r>
              <a:rPr lang="en-US" dirty="0"/>
              <a:t>Click to edit Master text styles</a:t>
            </a:r>
          </a:p>
          <a:p>
            <a:pPr marL="458788" lvl="1" indent="-225425"/>
            <a:r>
              <a:rPr lang="en-US" dirty="0"/>
              <a:t>Second level</a:t>
            </a:r>
          </a:p>
          <a:p>
            <a:pPr marL="628650" lvl="2" indent="-169863"/>
            <a:r>
              <a:rPr lang="en-US" dirty="0"/>
              <a:t>Third level</a:t>
            </a:r>
            <a:endParaRPr kumimoji="0"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295401"/>
            <a:ext cx="5389033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93368" y="2023338"/>
            <a:ext cx="5389033" cy="4377462"/>
          </a:xfrm>
        </p:spPr>
        <p:txBody>
          <a:bodyPr vert="horz" lIns="91440" tIns="91440" rtlCol="0">
            <a:normAutofit/>
          </a:bodyPr>
          <a:lstStyle>
            <a:lvl1pPr>
              <a:defRPr lang="en-US" sz="2800" dirty="0"/>
            </a:lvl1pPr>
            <a:lvl2pPr>
              <a:defRPr lang="en-US" sz="2400" dirty="0"/>
            </a:lvl2pPr>
            <a:lvl3pPr>
              <a:defRPr lang="en-US" sz="2000" dirty="0"/>
            </a:lvl3pPr>
          </a:lstStyle>
          <a:p>
            <a:pPr marL="233363" lvl="0" indent="-222250"/>
            <a:r>
              <a:rPr lang="en-US" dirty="0"/>
              <a:t>Click to edit Master text styles</a:t>
            </a:r>
          </a:p>
          <a:p>
            <a:pPr marL="458788" lvl="1" indent="-225425"/>
            <a:r>
              <a:rPr lang="en-US" dirty="0"/>
              <a:t>Second level</a:t>
            </a:r>
          </a:p>
          <a:p>
            <a:pPr marL="628650" lvl="2" indent="-169863"/>
            <a:r>
              <a:rPr lang="en-US" dirty="0"/>
              <a:t>Third level</a:t>
            </a:r>
            <a:endParaRPr kumimoji="0"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70993C-AAEA-49E4-9C1E-F8D4333B48E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504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Candara" panose="020E0502030303020204" pitchFamily="34" charset="0"/>
                <a:cs typeface="Calibri" panose="020F050202020403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70F8A2-C51A-43EB-B29D-1D7C4377083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891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3C2332-94BF-4BDD-9B53-F74714C4151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599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838200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19201"/>
            <a:ext cx="10972800" cy="5334001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39195" y="6583680"/>
            <a:ext cx="978485" cy="274320"/>
          </a:xfrm>
          <a:prstGeom prst="rect">
            <a:avLst/>
          </a:prstGeom>
        </p:spPr>
        <p:txBody>
          <a:bodyPr vert="horz" bIns="0" rtlCol="0" anchor="ctr" anchorCtr="0"/>
          <a:lstStyle>
            <a:lvl1pPr algn="r" eaLnBrk="1" latinLnBrk="0" hangingPunct="1">
              <a:defRPr kumimoji="0" sz="900">
                <a:solidFill>
                  <a:schemeClr val="tx1">
                    <a:tint val="95000"/>
                  </a:schemeClr>
                </a:solidFill>
                <a:latin typeface="Calibri" pitchFamily="34" charset="0"/>
                <a:cs typeface="Calibri" pitchFamily="34" charset="0"/>
              </a:defRPr>
            </a:lvl1pPr>
            <a:extLst/>
          </a:lstStyle>
          <a:p>
            <a:pPr>
              <a:defRPr/>
            </a:pPr>
            <a:fld id="{B57FBE17-B29F-4394-A15C-D54855A919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941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b="1" i="0" kern="1200">
          <a:solidFill>
            <a:schemeClr val="tx1"/>
          </a:solidFill>
          <a:effectLst/>
          <a:latin typeface="Candara" panose="020E0502030303020204" pitchFamily="34" charset="0"/>
          <a:ea typeface="+mj-ea"/>
          <a:cs typeface="Calibri" panose="020F0502020204030204" pitchFamily="34" charset="0"/>
        </a:defRPr>
      </a:lvl1pPr>
      <a:extLst/>
    </p:titleStyle>
    <p:bodyStyle>
      <a:lvl1pPr marL="350838" indent="-339725" algn="l" rtl="0" eaLnBrk="1" latinLnBrk="0" hangingPunct="1">
        <a:spcBef>
          <a:spcPts val="60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kumimoji="0" sz="3200" b="0" i="0" kern="1200">
          <a:solidFill>
            <a:schemeClr val="tx1"/>
          </a:solidFill>
          <a:latin typeface="Candara" panose="020E0502030303020204" pitchFamily="34" charset="0"/>
          <a:ea typeface="+mn-ea"/>
          <a:cs typeface="Calibri" pitchFamily="34" charset="0"/>
        </a:defRPr>
      </a:lvl1pPr>
      <a:lvl2pPr marL="628650" indent="-277813" algn="l" rtl="0" eaLnBrk="1" latinLnBrk="0" hangingPunct="1">
        <a:spcBef>
          <a:spcPts val="60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kumimoji="0" sz="2800" b="0" i="0" kern="1200">
          <a:solidFill>
            <a:schemeClr val="tx1"/>
          </a:solidFill>
          <a:latin typeface="Candara" panose="020E0502030303020204" pitchFamily="34" charset="0"/>
          <a:ea typeface="+mn-ea"/>
          <a:cs typeface="Calibri" pitchFamily="34" charset="0"/>
        </a:defRPr>
      </a:lvl2pPr>
      <a:lvl3pPr marL="863600" indent="-234950" algn="l" rtl="0" eaLnBrk="1" latinLnBrk="0" hangingPunct="1">
        <a:spcBef>
          <a:spcPts val="600"/>
        </a:spcBef>
        <a:spcAft>
          <a:spcPts val="600"/>
        </a:spcAft>
        <a:buClr>
          <a:schemeClr val="tx1"/>
        </a:buClr>
        <a:buSzPct val="80000"/>
        <a:buFont typeface="Arial" panose="020B0604020202020204" pitchFamily="34" charset="0"/>
        <a:buChar char="•"/>
        <a:tabLst/>
        <a:defRPr kumimoji="0" sz="2400" b="0" i="0" kern="1200">
          <a:solidFill>
            <a:schemeClr val="tx1"/>
          </a:solidFill>
          <a:latin typeface="Candara" panose="020E0502030303020204" pitchFamily="34" charset="0"/>
          <a:ea typeface="+mn-ea"/>
          <a:cs typeface="Calibri" pitchFamily="34" charset="0"/>
        </a:defRPr>
      </a:lvl3pPr>
      <a:lvl4pPr marL="1087438" indent="-223838" algn="l" rtl="0" eaLnBrk="1" latinLnBrk="0" hangingPunct="1">
        <a:spcBef>
          <a:spcPts val="600"/>
        </a:spcBef>
        <a:spcAft>
          <a:spcPts val="600"/>
        </a:spcAft>
        <a:buClr>
          <a:schemeClr val="tx1"/>
        </a:buClr>
        <a:buSzPct val="80000"/>
        <a:buFont typeface="Arial" panose="020B0604020202020204" pitchFamily="34" charset="0"/>
        <a:buChar char="•"/>
        <a:tabLst/>
        <a:defRPr kumimoji="0" sz="2000" b="0" i="0" kern="1200">
          <a:solidFill>
            <a:schemeClr val="tx1"/>
          </a:solidFill>
          <a:latin typeface="Candara" panose="020E0502030303020204" pitchFamily="34" charset="0"/>
          <a:ea typeface="+mn-ea"/>
          <a:cs typeface="Calibri" pitchFamily="34" charset="0"/>
        </a:defRPr>
      </a:lvl4pPr>
      <a:lvl5pPr marL="1604963" indent="-223838" algn="l" rtl="0" eaLnBrk="1" latinLnBrk="0" hangingPunct="1">
        <a:spcBef>
          <a:spcPts val="600"/>
        </a:spcBef>
        <a:spcAft>
          <a:spcPts val="600"/>
        </a:spcAft>
        <a:buClr>
          <a:schemeClr val="tx1"/>
        </a:buClr>
        <a:buSzPct val="80000"/>
        <a:buFont typeface="Wingdings" pitchFamily="2" charset="2"/>
        <a:buChar char="§"/>
        <a:tabLst/>
        <a:defRPr kumimoji="0" lang="en-US" sz="2000" kern="1200" smtClean="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400" dirty="0">
                <a:ea typeface="ＭＳ Ｐゴシック" pitchFamily="34" charset="-128"/>
              </a:rPr>
              <a:t>Concurrency: Thread</a:t>
            </a:r>
          </a:p>
        </p:txBody>
      </p:sp>
      <p:sp>
        <p:nvSpPr>
          <p:cNvPr id="19458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ea typeface="ＭＳ Ｐゴシック" pitchFamily="34" charset="-128"/>
              </a:rPr>
              <a:t>Dr. Probir Roy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8415B5-D674-5246-8E25-C38873C5B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648201"/>
            <a:ext cx="71628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Some slides are modified from</a:t>
            </a:r>
          </a:p>
          <a:p>
            <a:pPr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*  Dr.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Shengquan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 Wang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Operating Systems: Three Easy Pieces, by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Remzi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 H.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Arpaci-Dusseau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 and Andrea C.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Arpaci-Dusseau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Candara" panose="020E050203030302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Operating System Concepts, 8th edition, by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Silberschatz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, Galvin, Gagne, John Wiley &amp; Sons, 2009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Outline</a:t>
            </a:r>
          </a:p>
        </p:txBody>
      </p:sp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ea typeface="ＭＳ Ｐゴシック" pitchFamily="34" charset="-128"/>
              </a:rPr>
              <a:t>Multi-threading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1AF652-2FCE-4B03-B85F-D7C966EF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FD6249-C7C5-4B3B-BA06-9285785055F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10972800" cy="838200"/>
          </a:xfrm>
        </p:spPr>
        <p:txBody>
          <a:bodyPr/>
          <a:lstStyle/>
          <a:p>
            <a:r>
              <a:rPr lang="en-US" dirty="0"/>
              <a:t>An example: web server</a:t>
            </a:r>
          </a:p>
        </p:txBody>
      </p:sp>
      <p:sp>
        <p:nvSpPr>
          <p:cNvPr id="546847" name="Rectangle 31"/>
          <p:cNvSpPr>
            <a:spLocks noGrp="1" noChangeArrowheads="1"/>
          </p:cNvSpPr>
          <p:nvPr>
            <p:ph sz="half" idx="1"/>
          </p:nvPr>
        </p:nvSpPr>
        <p:spPr>
          <a:xfrm>
            <a:off x="609600" y="1295400"/>
            <a:ext cx="5384800" cy="5504688"/>
          </a:xfrm>
        </p:spPr>
        <p:txBody>
          <a:bodyPr>
            <a:normAutofit/>
          </a:bodyPr>
          <a:lstStyle/>
          <a:p>
            <a:r>
              <a:rPr lang="en-US" dirty="0"/>
              <a:t>Problems in a web server</a:t>
            </a:r>
          </a:p>
          <a:p>
            <a:pPr lvl="1"/>
            <a:r>
              <a:rPr lang="en-US" dirty="0"/>
              <a:t>Thousands of concurrent accesses.</a:t>
            </a:r>
          </a:p>
          <a:p>
            <a:pPr lvl="1"/>
            <a:r>
              <a:rPr lang="en-US" dirty="0"/>
              <a:t>Enormous waiting time for some clients with server running as a single process.</a:t>
            </a:r>
          </a:p>
          <a:p>
            <a:r>
              <a:rPr lang="en-US" dirty="0"/>
              <a:t>Original solution</a:t>
            </a:r>
          </a:p>
          <a:p>
            <a:pPr lvl="1"/>
            <a:r>
              <a:rPr lang="en-US" dirty="0"/>
              <a:t>Creating multiple processes to serve all accesses.</a:t>
            </a:r>
          </a:p>
          <a:p>
            <a:pPr lvl="1"/>
            <a:r>
              <a:rPr lang="en-US" dirty="0"/>
              <a:t>What’s the problem?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8D8C5C-5E58-452E-9E24-1CCB6AFB4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9195" y="6583680"/>
            <a:ext cx="978485" cy="274320"/>
          </a:xfrm>
        </p:spPr>
        <p:txBody>
          <a:bodyPr/>
          <a:lstStyle/>
          <a:p>
            <a:fld id="{B57FBE17-B29F-4394-A15C-D54855A919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8676" name="Text Box 6"/>
          <p:cNvSpPr txBox="1">
            <a:spLocks noChangeArrowheads="1"/>
          </p:cNvSpPr>
          <p:nvPr/>
        </p:nvSpPr>
        <p:spPr bwMode="auto">
          <a:xfrm>
            <a:off x="7924800" y="4967288"/>
            <a:ext cx="2209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  <a:latin typeface="+mn-lt"/>
              </a:rPr>
              <a:t>A busy web server</a:t>
            </a:r>
          </a:p>
        </p:txBody>
      </p:sp>
      <p:grpSp>
        <p:nvGrpSpPr>
          <p:cNvPr id="28677" name="Group 17"/>
          <p:cNvGrpSpPr>
            <a:grpSpLocks/>
          </p:cNvGrpSpPr>
          <p:nvPr/>
        </p:nvGrpSpPr>
        <p:grpSpPr bwMode="auto">
          <a:xfrm>
            <a:off x="7407276" y="1600201"/>
            <a:ext cx="2955925" cy="3170237"/>
            <a:chOff x="3264" y="1431"/>
            <a:chExt cx="1862" cy="1997"/>
          </a:xfrm>
        </p:grpSpPr>
        <p:pic>
          <p:nvPicPr>
            <p:cNvPr id="28678" name="Picture 5" descr="MCj04041590000[1]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032" y="1431"/>
              <a:ext cx="1094" cy="10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679" name="Picture 17" descr="Filename: j0396350.wmf&#10;Keywords: businesses, computer keyboards, computers ...&#10;File Size: 8 KB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264" y="2295"/>
              <a:ext cx="461" cy="4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680" name="Picture 18" descr="Filename: j0396350.wmf&#10;Keywords: businesses, computer keyboards, computers ...&#10;File Size: 8 KB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571" y="2823"/>
              <a:ext cx="461" cy="4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681" name="Picture 19" descr="Filename: j0396350.wmf&#10;Keywords: businesses, computer keyboards, computers ...&#10;File Size: 8 KB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147" y="2967"/>
              <a:ext cx="461" cy="4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682" name="Picture 20" descr="Filename: j0396350.wmf&#10;Keywords: businesses, computer keyboards, computers ...&#10;File Size: 8 KB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56" y="2938"/>
              <a:ext cx="461" cy="4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8683" name="Picture 21" descr="Filename: j0396350.wmf&#10;Keywords: businesses, computer keyboards, computers ...&#10;File Size: 8 KB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264" y="1623"/>
              <a:ext cx="461" cy="4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8684" name="Line 26"/>
            <p:cNvSpPr>
              <a:spLocks noChangeShapeType="1"/>
            </p:cNvSpPr>
            <p:nvPr/>
          </p:nvSpPr>
          <p:spPr bwMode="auto">
            <a:xfrm flipV="1">
              <a:off x="3792" y="2295"/>
              <a:ext cx="192" cy="96"/>
            </a:xfrm>
            <a:prstGeom prst="line">
              <a:avLst/>
            </a:prstGeom>
            <a:noFill/>
            <a:ln w="57150">
              <a:solidFill>
                <a:srgbClr val="B2B2B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85" name="Line 27"/>
            <p:cNvSpPr>
              <a:spLocks noChangeShapeType="1"/>
            </p:cNvSpPr>
            <p:nvPr/>
          </p:nvSpPr>
          <p:spPr bwMode="auto">
            <a:xfrm flipV="1">
              <a:off x="4032" y="2583"/>
              <a:ext cx="192" cy="240"/>
            </a:xfrm>
            <a:prstGeom prst="line">
              <a:avLst/>
            </a:prstGeom>
            <a:noFill/>
            <a:ln w="57150">
              <a:solidFill>
                <a:srgbClr val="B2B2B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86" name="Line 28"/>
            <p:cNvSpPr>
              <a:spLocks noChangeShapeType="1"/>
            </p:cNvSpPr>
            <p:nvPr/>
          </p:nvSpPr>
          <p:spPr bwMode="auto">
            <a:xfrm flipV="1">
              <a:off x="4416" y="2679"/>
              <a:ext cx="48" cy="240"/>
            </a:xfrm>
            <a:prstGeom prst="line">
              <a:avLst/>
            </a:prstGeom>
            <a:noFill/>
            <a:ln w="57150">
              <a:solidFill>
                <a:srgbClr val="B2B2B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87" name="Line 29"/>
            <p:cNvSpPr>
              <a:spLocks noChangeShapeType="1"/>
            </p:cNvSpPr>
            <p:nvPr/>
          </p:nvSpPr>
          <p:spPr bwMode="auto">
            <a:xfrm flipH="1" flipV="1">
              <a:off x="4800" y="2631"/>
              <a:ext cx="48" cy="240"/>
            </a:xfrm>
            <a:prstGeom prst="line">
              <a:avLst/>
            </a:prstGeom>
            <a:noFill/>
            <a:ln w="57150">
              <a:solidFill>
                <a:srgbClr val="B2B2B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88" name="Line 30"/>
            <p:cNvSpPr>
              <a:spLocks noChangeShapeType="1"/>
            </p:cNvSpPr>
            <p:nvPr/>
          </p:nvSpPr>
          <p:spPr bwMode="auto">
            <a:xfrm flipV="1">
              <a:off x="3744" y="1863"/>
              <a:ext cx="192" cy="0"/>
            </a:xfrm>
            <a:prstGeom prst="line">
              <a:avLst/>
            </a:prstGeom>
            <a:noFill/>
            <a:ln w="57150">
              <a:solidFill>
                <a:srgbClr val="B2B2B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684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10972800" cy="838200"/>
          </a:xfrm>
        </p:spPr>
        <p:txBody>
          <a:bodyPr/>
          <a:lstStyle/>
          <a:p>
            <a:r>
              <a:rPr lang="en-US" dirty="0"/>
              <a:t>An example: web server (cont.)</a:t>
            </a:r>
          </a:p>
        </p:txBody>
      </p:sp>
      <p:sp>
        <p:nvSpPr>
          <p:cNvPr id="653327" name="Rectangle 15"/>
          <p:cNvSpPr>
            <a:spLocks noGrp="1" noChangeArrowheads="1"/>
          </p:cNvSpPr>
          <p:nvPr>
            <p:ph sz="half" idx="1"/>
          </p:nvPr>
        </p:nvSpPr>
        <p:spPr>
          <a:xfrm>
            <a:off x="609600" y="1295400"/>
            <a:ext cx="5384800" cy="5504688"/>
          </a:xfrm>
        </p:spPr>
        <p:txBody>
          <a:bodyPr/>
          <a:lstStyle/>
          <a:p>
            <a:r>
              <a:rPr lang="en-US" dirty="0"/>
              <a:t>Problems with multiple processes:</a:t>
            </a:r>
          </a:p>
          <a:p>
            <a:pPr lvl="1"/>
            <a:r>
              <a:rPr lang="en-US" dirty="0"/>
              <a:t>Time consuming and resource intensive in creating a new process.</a:t>
            </a:r>
          </a:p>
          <a:p>
            <a:r>
              <a:rPr lang="en-US" dirty="0"/>
              <a:t>Better solution</a:t>
            </a:r>
          </a:p>
          <a:p>
            <a:pPr lvl="1"/>
            <a:r>
              <a:rPr lang="en-US" dirty="0"/>
              <a:t>Light-weight process: thread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F967E8-C88F-4047-950D-336535A88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9195" y="6583680"/>
            <a:ext cx="978485" cy="274320"/>
          </a:xfrm>
        </p:spPr>
        <p:txBody>
          <a:bodyPr/>
          <a:lstStyle/>
          <a:p>
            <a:fld id="{B57FBE17-B29F-4394-A15C-D54855A919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9" name="Text Box 6"/>
          <p:cNvSpPr txBox="1">
            <a:spLocks noChangeArrowheads="1"/>
          </p:cNvSpPr>
          <p:nvPr/>
        </p:nvSpPr>
        <p:spPr bwMode="auto">
          <a:xfrm>
            <a:off x="7924800" y="4967288"/>
            <a:ext cx="2209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  <a:latin typeface="+mn-lt"/>
              </a:rPr>
              <a:t>A busy web server</a:t>
            </a:r>
          </a:p>
        </p:txBody>
      </p:sp>
      <p:grpSp>
        <p:nvGrpSpPr>
          <p:cNvPr id="20" name="Group 17"/>
          <p:cNvGrpSpPr>
            <a:grpSpLocks/>
          </p:cNvGrpSpPr>
          <p:nvPr/>
        </p:nvGrpSpPr>
        <p:grpSpPr bwMode="auto">
          <a:xfrm>
            <a:off x="7407276" y="1600201"/>
            <a:ext cx="2955925" cy="3170237"/>
            <a:chOff x="3264" y="1431"/>
            <a:chExt cx="1862" cy="1997"/>
          </a:xfrm>
        </p:grpSpPr>
        <p:pic>
          <p:nvPicPr>
            <p:cNvPr id="21" name="Picture 5" descr="MCj04041590000[1]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032" y="1431"/>
              <a:ext cx="1094" cy="10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2" name="Picture 17" descr="Filename: j0396350.wmf&#10;Keywords: businesses, computer keyboards, computers ...&#10;File Size: 8 KB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264" y="2295"/>
              <a:ext cx="461" cy="4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3" name="Picture 18" descr="Filename: j0396350.wmf&#10;Keywords: businesses, computer keyboards, computers ...&#10;File Size: 8 KB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571" y="2823"/>
              <a:ext cx="461" cy="4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" name="Picture 19" descr="Filename: j0396350.wmf&#10;Keywords: businesses, computer keyboards, computers ...&#10;File Size: 8 KB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147" y="2967"/>
              <a:ext cx="461" cy="4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5" name="Picture 20" descr="Filename: j0396350.wmf&#10;Keywords: businesses, computer keyboards, computers ...&#10;File Size: 8 KB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656" y="2938"/>
              <a:ext cx="461" cy="4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6" name="Picture 21" descr="Filename: j0396350.wmf&#10;Keywords: businesses, computer keyboards, computers ...&#10;File Size: 8 KB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264" y="1623"/>
              <a:ext cx="461" cy="4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7" name="Line 26"/>
            <p:cNvSpPr>
              <a:spLocks noChangeShapeType="1"/>
            </p:cNvSpPr>
            <p:nvPr/>
          </p:nvSpPr>
          <p:spPr bwMode="auto">
            <a:xfrm flipV="1">
              <a:off x="3792" y="2295"/>
              <a:ext cx="192" cy="96"/>
            </a:xfrm>
            <a:prstGeom prst="line">
              <a:avLst/>
            </a:prstGeom>
            <a:noFill/>
            <a:ln w="57150">
              <a:solidFill>
                <a:srgbClr val="B2B2B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27"/>
            <p:cNvSpPr>
              <a:spLocks noChangeShapeType="1"/>
            </p:cNvSpPr>
            <p:nvPr/>
          </p:nvSpPr>
          <p:spPr bwMode="auto">
            <a:xfrm flipV="1">
              <a:off x="4032" y="2583"/>
              <a:ext cx="192" cy="240"/>
            </a:xfrm>
            <a:prstGeom prst="line">
              <a:avLst/>
            </a:prstGeom>
            <a:noFill/>
            <a:ln w="57150">
              <a:solidFill>
                <a:srgbClr val="B2B2B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28"/>
            <p:cNvSpPr>
              <a:spLocks noChangeShapeType="1"/>
            </p:cNvSpPr>
            <p:nvPr/>
          </p:nvSpPr>
          <p:spPr bwMode="auto">
            <a:xfrm flipV="1">
              <a:off x="4416" y="2679"/>
              <a:ext cx="48" cy="240"/>
            </a:xfrm>
            <a:prstGeom prst="line">
              <a:avLst/>
            </a:prstGeom>
            <a:noFill/>
            <a:ln w="57150">
              <a:solidFill>
                <a:srgbClr val="B2B2B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29"/>
            <p:cNvSpPr>
              <a:spLocks noChangeShapeType="1"/>
            </p:cNvSpPr>
            <p:nvPr/>
          </p:nvSpPr>
          <p:spPr bwMode="auto">
            <a:xfrm flipH="1" flipV="1">
              <a:off x="4800" y="2631"/>
              <a:ext cx="48" cy="240"/>
            </a:xfrm>
            <a:prstGeom prst="line">
              <a:avLst/>
            </a:prstGeom>
            <a:noFill/>
            <a:ln w="57150">
              <a:solidFill>
                <a:srgbClr val="B2B2B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30"/>
            <p:cNvSpPr>
              <a:spLocks noChangeShapeType="1"/>
            </p:cNvSpPr>
            <p:nvPr/>
          </p:nvSpPr>
          <p:spPr bwMode="auto">
            <a:xfrm flipV="1">
              <a:off x="3744" y="1863"/>
              <a:ext cx="192" cy="0"/>
            </a:xfrm>
            <a:prstGeom prst="line">
              <a:avLst/>
            </a:prstGeom>
            <a:noFill/>
            <a:ln w="57150">
              <a:solidFill>
                <a:srgbClr val="B2B2B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332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New abstraction: multi-threading</a:t>
            </a:r>
          </a:p>
        </p:txBody>
      </p:sp>
      <p:sp>
        <p:nvSpPr>
          <p:cNvPr id="22530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process</a:t>
            </a:r>
          </a:p>
          <a:p>
            <a:pPr lvl="1"/>
            <a:r>
              <a:rPr lang="en-US" dirty="0"/>
              <a:t>A single point of execution within a program, i.e., a single PC (program counter) where instructions are being fetched from and executed.</a:t>
            </a:r>
          </a:p>
          <a:p>
            <a:r>
              <a:rPr lang="en-US" dirty="0"/>
              <a:t>A multi-threaded process</a:t>
            </a:r>
          </a:p>
          <a:p>
            <a:pPr lvl="1"/>
            <a:r>
              <a:rPr lang="en-US" dirty="0"/>
              <a:t>More than one point of execution, i.e., multiple PCs, each of which is being fetched and executed from. </a:t>
            </a:r>
          </a:p>
          <a:p>
            <a:pPr lvl="1"/>
            <a:r>
              <a:rPr lang="en-US" dirty="0"/>
              <a:t>Threads in a process share the same address space.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45AD81-6891-43E9-80BE-5CA6B3509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FD6249-C7C5-4B3B-BA06-9285785055F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a typeface="ＭＳ Ｐゴシック" pitchFamily="34" charset="-128"/>
              </a:rPr>
              <a:t>Multi-threaded process in memory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B6AA86-BBE9-455C-A9BD-D76B6E48E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70F8A2-C51A-43EB-B29D-1D7C43770838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pic>
        <p:nvPicPr>
          <p:cNvPr id="23554" name="Picture 13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685800" y="971764"/>
            <a:ext cx="3170238" cy="5334000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Unique for each thread</a:t>
            </a:r>
          </a:p>
          <a:p>
            <a:pPr lvl="1"/>
            <a:r>
              <a:rPr lang="en-US" dirty="0"/>
              <a:t>Program counter (PC)</a:t>
            </a:r>
          </a:p>
          <a:p>
            <a:pPr lvl="1"/>
            <a:r>
              <a:rPr lang="en-US" dirty="0"/>
              <a:t>Register set</a:t>
            </a:r>
          </a:p>
          <a:p>
            <a:pPr lvl="1"/>
            <a:r>
              <a:rPr lang="en-US" dirty="0"/>
              <a:t>Stack</a:t>
            </a:r>
          </a:p>
          <a:p>
            <a:r>
              <a:rPr lang="en-US" dirty="0"/>
              <a:t>Shared address space</a:t>
            </a:r>
          </a:p>
          <a:p>
            <a:pPr lvl="1"/>
            <a:r>
              <a:rPr lang="en-US" dirty="0"/>
              <a:t>Code</a:t>
            </a:r>
          </a:p>
          <a:p>
            <a:pPr lvl="1"/>
            <a:r>
              <a:rPr lang="en-US" dirty="0"/>
              <a:t>Data </a:t>
            </a:r>
          </a:p>
          <a:p>
            <a:pPr lvl="1"/>
            <a:r>
              <a:rPr lang="en-US" dirty="0"/>
              <a:t>Heap</a:t>
            </a:r>
          </a:p>
          <a:p>
            <a:pPr lvl="1"/>
            <a:r>
              <a:rPr lang="en-US" dirty="0"/>
              <a:t>Open files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221FD2-98DC-4F17-87F4-CBDC25FD4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FD6249-C7C5-4B3B-BA06-9285785055F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Benefits of multi-threading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Resource sharing: sharing memory.</a:t>
            </a:r>
          </a:p>
          <a:p>
            <a:r>
              <a:rPr lang="en-US" dirty="0"/>
              <a:t>Responsiveness: fast thread-creating.</a:t>
            </a:r>
          </a:p>
          <a:p>
            <a:r>
              <a:rPr lang="en-US" dirty="0"/>
              <a:t>Parallel executing</a:t>
            </a:r>
          </a:p>
          <a:p>
            <a:pPr lvl="1"/>
            <a:r>
              <a:rPr lang="en-US" dirty="0"/>
              <a:t>Utilizing multi cores: </a:t>
            </a:r>
            <a:r>
              <a:rPr lang="en-US" dirty="0" err="1"/>
              <a:t>e.g</a:t>
            </a:r>
            <a:r>
              <a:rPr lang="en-US" dirty="0"/>
              <a:t>, adding two large arrays together in parallel</a:t>
            </a:r>
          </a:p>
          <a:p>
            <a:pPr lvl="1"/>
            <a:r>
              <a:rPr lang="en-US" dirty="0"/>
              <a:t>Avoiding blocking program progress due to slow I/O (e.g., loading web pages with images).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3E0450-9738-4095-BA68-F2BC22AEF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FD6249-C7C5-4B3B-BA06-9285785055F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2946400" y="165100"/>
            <a:ext cx="3100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endParaRPr kumimoji="1" lang="en-US" sz="3200" b="1">
              <a:solidFill>
                <a:schemeClr val="tx2"/>
              </a:solidFill>
              <a:latin typeface="Helvetica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A multithreaded web server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9DACB9-18B4-4E92-927C-760ED8C2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70F8A2-C51A-43EB-B29D-1D7C43770838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32771" name="Picture 4" descr="2-10"/>
          <p:cNvPicPr>
            <a:picLocks noChangeAspect="1" noChangeArrowheads="1"/>
          </p:cNvPicPr>
          <p:nvPr/>
        </p:nvPicPr>
        <p:blipFill>
          <a:blip r:embed="rId3"/>
          <a:srcRect r="14351"/>
          <a:stretch>
            <a:fillRect/>
          </a:stretch>
        </p:blipFill>
        <p:spPr bwMode="auto">
          <a:xfrm>
            <a:off x="2895600" y="1295400"/>
            <a:ext cx="6656388" cy="5151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control block (TCB)</a:t>
            </a:r>
          </a:p>
        </p:txBody>
      </p:sp>
      <p:sp>
        <p:nvSpPr>
          <p:cNvPr id="2662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TCB contain thread specific information such as </a:t>
            </a:r>
          </a:p>
          <a:p>
            <a:pPr lvl="1"/>
            <a:r>
              <a:rPr lang="en-US" dirty="0"/>
              <a:t>PC</a:t>
            </a:r>
          </a:p>
          <a:p>
            <a:pPr lvl="1"/>
            <a:r>
              <a:rPr lang="en-US" dirty="0"/>
              <a:t>thread state (running, …)</a:t>
            </a:r>
          </a:p>
          <a:p>
            <a:pPr lvl="1"/>
            <a:r>
              <a:rPr lang="en-US" dirty="0"/>
              <a:t>register values</a:t>
            </a:r>
          </a:p>
          <a:p>
            <a:pPr lvl="1"/>
            <a:r>
              <a:rPr lang="en-US" dirty="0"/>
              <a:t>stack pointer</a:t>
            </a:r>
          </a:p>
          <a:p>
            <a:pPr lvl="1"/>
            <a:r>
              <a:rPr lang="en-US" dirty="0"/>
              <a:t>a pointer to PCB</a:t>
            </a:r>
          </a:p>
          <a:p>
            <a:pPr lvl="1"/>
            <a:r>
              <a:rPr lang="en-US" dirty="0"/>
              <a:t>…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3B60F3-6E1D-4A3A-B420-295C25135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FD6249-C7C5-4B3B-BA06-9285785055F3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Context switches with multithreading</a:t>
            </a:r>
          </a:p>
        </p:txBody>
      </p:sp>
      <p:sp>
        <p:nvSpPr>
          <p:cNvPr id="2765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</a:t>
            </a:r>
          </a:p>
          <a:p>
            <a:pPr lvl="1"/>
            <a:r>
              <a:rPr lang="en-US" dirty="0"/>
              <a:t>The address space remains the same.</a:t>
            </a:r>
          </a:p>
          <a:p>
            <a:r>
              <a:rPr lang="en-US" dirty="0"/>
              <a:t>Differences</a:t>
            </a:r>
          </a:p>
          <a:p>
            <a:pPr lvl="1"/>
            <a:r>
              <a:rPr lang="en-US" dirty="0"/>
              <a:t>The context switch is performed between threads as compared to processes.</a:t>
            </a:r>
          </a:p>
          <a:p>
            <a:pPr lvl="1"/>
            <a:r>
              <a:rPr lang="en-US" dirty="0"/>
              <a:t>Need one or more TCBs to store the state of each thread instead of PCBs.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CE3131-6CD7-43F2-A2F4-BC5F2DA67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FD6249-C7C5-4B3B-BA06-9285785055F3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Multi-threaded process execution</a:t>
            </a:r>
          </a:p>
        </p:txBody>
      </p:sp>
      <p:sp>
        <p:nvSpPr>
          <p:cNvPr id="55304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process with two threads of execution on a single processor: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672920-C55B-40BA-A709-411872722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FD6249-C7C5-4B3B-BA06-9285785055F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55301" name="Picture 5" descr="File:Multithreaded process.sv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33800" y="2592389"/>
            <a:ext cx="3962400" cy="3741737"/>
          </a:xfrm>
          <a:prstGeom prst="rect">
            <a:avLst/>
          </a:prstGeom>
          <a:noFill/>
        </p:spPr>
      </p:pic>
      <p:sp>
        <p:nvSpPr>
          <p:cNvPr id="55303" name="Rectangle 7"/>
          <p:cNvSpPr>
            <a:spLocks noChangeArrowheads="1"/>
          </p:cNvSpPr>
          <p:nvPr/>
        </p:nvSpPr>
        <p:spPr bwMode="auto">
          <a:xfrm>
            <a:off x="2667000" y="6324601"/>
            <a:ext cx="5867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</a:rPr>
              <a:t>http://en.wikipedia.org/wiki/Thread_(computing)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Summary: Process vs. thread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</a:t>
            </a:r>
          </a:p>
          <a:p>
            <a:pPr lvl="1"/>
            <a:r>
              <a:rPr lang="en-US" dirty="0"/>
              <a:t>Memory isolation for protection and reliability</a:t>
            </a:r>
          </a:p>
          <a:p>
            <a:pPr lvl="1"/>
            <a:r>
              <a:rPr lang="en-US" dirty="0"/>
              <a:t>e.g.: Google Chrome browser</a:t>
            </a:r>
          </a:p>
          <a:p>
            <a:r>
              <a:rPr lang="en-US" dirty="0"/>
              <a:t>Thread</a:t>
            </a:r>
          </a:p>
          <a:p>
            <a:pPr lvl="1"/>
            <a:r>
              <a:rPr lang="en-US" dirty="0"/>
              <a:t>Fast in creating threads.</a:t>
            </a:r>
          </a:p>
          <a:p>
            <a:pPr lvl="1"/>
            <a:r>
              <a:rPr lang="en-US" dirty="0"/>
              <a:t>Saving memory space by sharing among different threads from the same process if possible.</a:t>
            </a:r>
          </a:p>
          <a:p>
            <a:pPr lvl="1"/>
            <a:r>
              <a:rPr lang="en-US" dirty="0"/>
              <a:t>e.g.: web servers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16197D-8906-4266-A39E-7B217527B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FD6249-C7C5-4B3B-BA06-9285785055F3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Analogy: two one-bedroom apartments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811B97-07EC-4CC8-9E7B-EC50F2002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FD6249-C7C5-4B3B-BA06-9285785055F3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 bwMode="auto">
          <a:xfrm>
            <a:off x="2209800" y="2133600"/>
            <a:ext cx="10668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ndara" panose="020E0502030303020204" pitchFamily="34" charset="0"/>
              </a:rPr>
              <a:t>Bathroom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3276600" y="2133600"/>
            <a:ext cx="2362200" cy="14478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ndara" panose="020E0502030303020204" pitchFamily="34" charset="0"/>
              </a:rPr>
              <a:t>Bedroom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2209800" y="3581400"/>
            <a:ext cx="1066800" cy="1143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ndara" panose="020E0502030303020204" pitchFamily="34" charset="0"/>
              </a:rPr>
              <a:t>Kitchen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3276600" y="3581400"/>
            <a:ext cx="2362200" cy="1143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ndara" panose="020E0502030303020204" pitchFamily="34" charset="0"/>
              </a:rPr>
              <a:t>Living room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6629400" y="2133600"/>
            <a:ext cx="10668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ndara" panose="020E0502030303020204" pitchFamily="34" charset="0"/>
              </a:rPr>
              <a:t>Bathroom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7696200" y="2133600"/>
            <a:ext cx="2362200" cy="14478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ndara" panose="020E0502030303020204" pitchFamily="34" charset="0"/>
              </a:rPr>
              <a:t>Bedroom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6629400" y="3581400"/>
            <a:ext cx="1066800" cy="1143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ndara" panose="020E0502030303020204" pitchFamily="34" charset="0"/>
              </a:rPr>
              <a:t>Kitchen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7696200" y="3581400"/>
            <a:ext cx="2362200" cy="1143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ndara" panose="020E0502030303020204" pitchFamily="34" charset="0"/>
              </a:rPr>
              <a:t>Living room</a:t>
            </a:r>
          </a:p>
        </p:txBody>
      </p:sp>
      <p:sp>
        <p:nvSpPr>
          <p:cNvPr id="36875" name="TextBox 16"/>
          <p:cNvSpPr txBox="1">
            <a:spLocks noChangeArrowheads="1"/>
          </p:cNvSpPr>
          <p:nvPr/>
        </p:nvSpPr>
        <p:spPr bwMode="auto">
          <a:xfrm>
            <a:off x="3352801" y="5410200"/>
            <a:ext cx="516519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Each one has his/her own one-bedroom apartment.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ＭＳ Ｐゴシック" pitchFamily="34" charset="-128"/>
              </a:rPr>
              <a:t>Analogy: one two-bedroom apartment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22C341-B643-4A70-9E07-C6794F0D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FD6249-C7C5-4B3B-BA06-9285785055F3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 bwMode="auto">
          <a:xfrm>
            <a:off x="3200400" y="1600200"/>
            <a:ext cx="1905000" cy="1828800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ndara" panose="020E0502030303020204" pitchFamily="34" charset="0"/>
              </a:rPr>
              <a:t>Bedroom I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3200400" y="3429000"/>
            <a:ext cx="1295400" cy="1600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ndara" panose="020E0502030303020204" pitchFamily="34" charset="0"/>
              </a:rPr>
              <a:t>Kitchen</a:t>
            </a:r>
          </a:p>
        </p:txBody>
      </p:sp>
      <p:sp>
        <p:nvSpPr>
          <p:cNvPr id="37893" name="TextBox 16"/>
          <p:cNvSpPr txBox="1">
            <a:spLocks noChangeArrowheads="1"/>
          </p:cNvSpPr>
          <p:nvPr/>
        </p:nvSpPr>
        <p:spPr bwMode="auto">
          <a:xfrm>
            <a:off x="3200400" y="5410200"/>
            <a:ext cx="506478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Two roommates share a two-bedroom apartment.</a:t>
            </a:r>
          </a:p>
        </p:txBody>
      </p:sp>
      <p:sp>
        <p:nvSpPr>
          <p:cNvPr id="18" name="Rectangle 17"/>
          <p:cNvSpPr/>
          <p:nvPr/>
        </p:nvSpPr>
        <p:spPr bwMode="auto">
          <a:xfrm>
            <a:off x="5105400" y="1600200"/>
            <a:ext cx="1066800" cy="18288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ndara" panose="020E0502030303020204" pitchFamily="34" charset="0"/>
              </a:rPr>
              <a:t>Bathroom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6172200" y="1600200"/>
            <a:ext cx="2362200" cy="1828800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ndara" panose="020E0502030303020204" pitchFamily="34" charset="0"/>
              </a:rPr>
              <a:t>Bedroom II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4495800" y="3429000"/>
            <a:ext cx="4038600" cy="1600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ndara" panose="020E0502030303020204" pitchFamily="34" charset="0"/>
              </a:rPr>
              <a:t>Living room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Outline</a:t>
            </a:r>
          </a:p>
        </p:txBody>
      </p:sp>
      <p:sp>
        <p:nvSpPr>
          <p:cNvPr id="409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Multi-threading</a:t>
            </a:r>
          </a:p>
          <a:p>
            <a:r>
              <a:rPr lang="en-US" dirty="0" err="1">
                <a:solidFill>
                  <a:srgbClr val="FF0000"/>
                </a:solidFill>
                <a:ea typeface="ＭＳ Ｐゴシック" pitchFamily="34" charset="-128"/>
              </a:rPr>
              <a:t>Pthread</a:t>
            </a:r>
            <a:endParaRPr lang="en-US" dirty="0">
              <a:solidFill>
                <a:srgbClr val="FF0000"/>
              </a:solidFill>
              <a:ea typeface="ＭＳ Ｐゴシック" pitchFamily="34" charset="-128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045B23-F35D-4F0B-8E03-1CBA0C45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FD6249-C7C5-4B3B-BA06-9285785055F3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library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thread library provides an API for creating and managing threads.</a:t>
            </a:r>
          </a:p>
          <a:p>
            <a:r>
              <a:rPr lang="en-US" dirty="0"/>
              <a:t>How to implement a thread library? (system design issue)</a:t>
            </a:r>
          </a:p>
          <a:p>
            <a:pPr lvl="1"/>
            <a:r>
              <a:rPr lang="en-US" dirty="0"/>
              <a:t>All codes and data structure for the library exist in user space (local function call).</a:t>
            </a:r>
          </a:p>
          <a:p>
            <a:pPr lvl="1"/>
            <a:r>
              <a:rPr lang="en-US" dirty="0"/>
              <a:t>All codes and data structure for the library exist in kernel space (system call).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920916-66AF-4107-B882-11DBD26E6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FD6249-C7C5-4B3B-BA06-9285785055F3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</a:t>
            </a:r>
            <a:r>
              <a:rPr lang="en-US" dirty="0" err="1"/>
              <a:t>Pthreads</a:t>
            </a:r>
            <a:r>
              <a:rPr lang="en-US" dirty="0"/>
              <a:t>? </a:t>
            </a:r>
          </a:p>
        </p:txBody>
      </p:sp>
      <p:sp>
        <p:nvSpPr>
          <p:cNvPr id="44034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Historically, hardware vendors have implemented their own proprietary versions of threads.  </a:t>
            </a:r>
          </a:p>
          <a:p>
            <a:pPr lvl="1"/>
            <a:r>
              <a:rPr lang="en-US" dirty="0"/>
              <a:t>Not portable. </a:t>
            </a:r>
          </a:p>
          <a:p>
            <a:r>
              <a:rPr lang="en-US" dirty="0" err="1"/>
              <a:t>Pthread</a:t>
            </a:r>
            <a:r>
              <a:rPr lang="en-US" dirty="0"/>
              <a:t> is a standardized thread programming interface.</a:t>
            </a:r>
          </a:p>
          <a:p>
            <a:pPr lvl="1"/>
            <a:r>
              <a:rPr lang="en-US" dirty="0"/>
              <a:t>Specified by the IEEE POSIX (portable operating systems interface) in 1995. </a:t>
            </a:r>
          </a:p>
          <a:p>
            <a:pPr lvl="1"/>
            <a:r>
              <a:rPr lang="en-US" dirty="0"/>
              <a:t>UNIX and Linux.</a:t>
            </a:r>
          </a:p>
          <a:p>
            <a:r>
              <a:rPr lang="en-US" dirty="0" err="1"/>
              <a:t>Pthreads</a:t>
            </a:r>
            <a:r>
              <a:rPr lang="en-US" dirty="0"/>
              <a:t> are defined as a set of C language programming types and procedure calls.</a:t>
            </a:r>
          </a:p>
          <a:p>
            <a:pPr lvl="1"/>
            <a:r>
              <a:rPr lang="en-US" dirty="0"/>
              <a:t>Implemented with a </a:t>
            </a:r>
            <a:r>
              <a:rPr lang="en-US" dirty="0" err="1"/>
              <a:t>pthread.h</a:t>
            </a:r>
            <a:r>
              <a:rPr lang="en-US" dirty="0"/>
              <a:t> header/include file and a thread library.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5586B1-CB24-4094-9FF9-66D3F8AE0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FD6249-C7C5-4B3B-BA06-9285785055F3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APIs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11113" indent="0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>
                <a:solidFill>
                  <a:srgbClr val="7030A0"/>
                </a:solidFill>
              </a:rPr>
              <a:t>pthread_create</a:t>
            </a:r>
            <a:r>
              <a:rPr lang="en-US" dirty="0">
                <a:solidFill>
                  <a:srgbClr val="7030A0"/>
                </a:solidFill>
              </a:rPr>
              <a:t>(</a:t>
            </a:r>
            <a:br>
              <a:rPr lang="en-US" dirty="0">
                <a:solidFill>
                  <a:srgbClr val="7030A0"/>
                </a:solidFill>
              </a:rPr>
            </a:br>
            <a:r>
              <a:rPr lang="en-US" dirty="0">
                <a:solidFill>
                  <a:srgbClr val="7030A0"/>
                </a:solidFill>
              </a:rPr>
              <a:t>	</a:t>
            </a:r>
            <a:r>
              <a:rPr lang="en-US" dirty="0" err="1">
                <a:solidFill>
                  <a:srgbClr val="7030A0"/>
                </a:solidFill>
              </a:rPr>
              <a:t>pthread_t</a:t>
            </a:r>
            <a:r>
              <a:rPr lang="en-US" dirty="0">
                <a:solidFill>
                  <a:srgbClr val="7030A0"/>
                </a:solidFill>
              </a:rPr>
              <a:t> *restrict </a:t>
            </a:r>
            <a:r>
              <a:rPr lang="en-US" dirty="0" err="1">
                <a:solidFill>
                  <a:srgbClr val="7030A0"/>
                </a:solidFill>
              </a:rPr>
              <a:t>tid</a:t>
            </a:r>
            <a:r>
              <a:rPr lang="en-US" dirty="0">
                <a:solidFill>
                  <a:srgbClr val="7030A0"/>
                </a:solidFill>
              </a:rPr>
              <a:t>, </a:t>
            </a:r>
            <a:br>
              <a:rPr lang="en-US" dirty="0">
                <a:solidFill>
                  <a:srgbClr val="7030A0"/>
                </a:solidFill>
              </a:rPr>
            </a:br>
            <a:r>
              <a:rPr lang="en-US" dirty="0">
                <a:solidFill>
                  <a:srgbClr val="7030A0"/>
                </a:solidFill>
              </a:rPr>
              <a:t>	</a:t>
            </a:r>
            <a:r>
              <a:rPr lang="en-US" dirty="0" err="1">
                <a:solidFill>
                  <a:srgbClr val="7030A0"/>
                </a:solidFill>
              </a:rPr>
              <a:t>const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pthread_attr_t</a:t>
            </a:r>
            <a:r>
              <a:rPr lang="en-US" dirty="0">
                <a:solidFill>
                  <a:srgbClr val="7030A0"/>
                </a:solidFill>
              </a:rPr>
              <a:t> *restrict </a:t>
            </a:r>
            <a:r>
              <a:rPr lang="en-US" dirty="0" err="1">
                <a:solidFill>
                  <a:srgbClr val="7030A0"/>
                </a:solidFill>
              </a:rPr>
              <a:t>attr</a:t>
            </a:r>
            <a:r>
              <a:rPr lang="en-US" dirty="0">
                <a:solidFill>
                  <a:srgbClr val="7030A0"/>
                </a:solidFill>
              </a:rPr>
              <a:t>,</a:t>
            </a:r>
            <a:br>
              <a:rPr lang="en-US" dirty="0">
                <a:solidFill>
                  <a:srgbClr val="7030A0"/>
                </a:solidFill>
              </a:rPr>
            </a:br>
            <a:r>
              <a:rPr lang="en-US" dirty="0">
                <a:solidFill>
                  <a:srgbClr val="7030A0"/>
                </a:solidFill>
              </a:rPr>
              <a:t>	void *(*</a:t>
            </a:r>
            <a:r>
              <a:rPr lang="en-US" dirty="0" err="1">
                <a:solidFill>
                  <a:srgbClr val="7030A0"/>
                </a:solidFill>
              </a:rPr>
              <a:t>start_routine</a:t>
            </a:r>
            <a:r>
              <a:rPr lang="en-US" dirty="0">
                <a:solidFill>
                  <a:srgbClr val="7030A0"/>
                </a:solidFill>
              </a:rPr>
              <a:t>)(void *),</a:t>
            </a:r>
            <a:br>
              <a:rPr lang="en-US" dirty="0">
                <a:solidFill>
                  <a:srgbClr val="7030A0"/>
                </a:solidFill>
              </a:rPr>
            </a:br>
            <a:r>
              <a:rPr lang="en-US" dirty="0">
                <a:solidFill>
                  <a:srgbClr val="7030A0"/>
                </a:solidFill>
              </a:rPr>
              <a:t>	void *restrict </a:t>
            </a:r>
            <a:r>
              <a:rPr lang="en-US" dirty="0" err="1">
                <a:solidFill>
                  <a:srgbClr val="7030A0"/>
                </a:solidFill>
              </a:rPr>
              <a:t>arg</a:t>
            </a:r>
            <a:r>
              <a:rPr lang="en-US" dirty="0">
                <a:solidFill>
                  <a:srgbClr val="7030A0"/>
                </a:solidFill>
              </a:rPr>
              <a:t>)</a:t>
            </a:r>
          </a:p>
          <a:p>
            <a:r>
              <a:rPr lang="en-US" dirty="0"/>
              <a:t>The </a:t>
            </a:r>
            <a:r>
              <a:rPr lang="en-US" dirty="0" err="1"/>
              <a:t>tid</a:t>
            </a:r>
            <a:r>
              <a:rPr lang="en-US" dirty="0"/>
              <a:t> returns the new thread ID. </a:t>
            </a:r>
          </a:p>
          <a:p>
            <a:r>
              <a:rPr lang="en-US" dirty="0"/>
              <a:t>The </a:t>
            </a:r>
            <a:r>
              <a:rPr lang="en-US" dirty="0" err="1"/>
              <a:t>attr</a:t>
            </a:r>
            <a:r>
              <a:rPr lang="en-US" dirty="0"/>
              <a:t> parameter is used to set thread attributes, NULL for the default values. </a:t>
            </a:r>
          </a:p>
          <a:p>
            <a:r>
              <a:rPr lang="en-US" dirty="0"/>
              <a:t>The </a:t>
            </a:r>
            <a:r>
              <a:rPr lang="en-US" dirty="0" err="1"/>
              <a:t>start_routine</a:t>
            </a:r>
            <a:r>
              <a:rPr lang="en-US" dirty="0"/>
              <a:t> is the C routine that the thread will execute once it is created. </a:t>
            </a:r>
          </a:p>
          <a:p>
            <a:r>
              <a:rPr lang="en-US" dirty="0"/>
              <a:t>A single argument may be passed to </a:t>
            </a:r>
            <a:r>
              <a:rPr lang="en-US" dirty="0" err="1"/>
              <a:t>start_routine</a:t>
            </a:r>
            <a:r>
              <a:rPr lang="en-US" dirty="0"/>
              <a:t> via arg. It must be passed by reference as a pointer cast of type void.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690757-6E09-47D5-9AAC-51C183C9A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FD6249-C7C5-4B3B-BA06-9285785055F3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Creating a thread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989076"/>
            <a:ext cx="4114800" cy="5105400"/>
          </a:xfrm>
          <a:solidFill>
            <a:schemeClr val="bg1"/>
          </a:solidFill>
          <a:ln w="12700" cap="flat" algn="ctr">
            <a:solidFill>
              <a:schemeClr val="tx1"/>
            </a:solidFill>
          </a:ln>
          <a:effectLst>
            <a:outerShdw dist="50800" dir="2700000" algn="ctr" rotWithShape="0">
              <a:srgbClr val="B2B2B2">
                <a:alpha val="74997"/>
              </a:srgbClr>
            </a:outerShdw>
          </a:effectLst>
        </p:spPr>
        <p:txBody>
          <a:bodyPr wrap="none">
            <a:noAutofit/>
          </a:bodyPr>
          <a:lstStyle/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#include &lt;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pthread.h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&gt;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typedef struct __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myarg_t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{</a:t>
            </a:r>
          </a:p>
          <a:p>
            <a:pPr marL="0" indent="0">
              <a:spcBef>
                <a:spcPct val="0"/>
              </a:spcBef>
              <a:spcAft>
                <a:spcPts val="0"/>
              </a:spcAft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	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int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a;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	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int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b;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} 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myarg_t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;</a:t>
            </a:r>
            <a:b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</a:br>
            <a:endParaRPr lang="en-US" sz="2000" dirty="0">
              <a:solidFill>
                <a:srgbClr val="000000"/>
              </a:solidFill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void *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mythread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(void *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arg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) { </a:t>
            </a:r>
          </a:p>
          <a:p>
            <a:pPr marL="0" indent="0">
              <a:spcBef>
                <a:spcPct val="0"/>
              </a:spcBef>
              <a:spcAft>
                <a:spcPts val="0"/>
              </a:spcAft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	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myarg_t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*m = (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myarg_t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*) 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arg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;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	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printf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("%d %d\n", m-&gt;a, m-&gt;b);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	return NULL;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}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…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277CF5-5351-4711-B3DD-1E585D4FB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FD6249-C7C5-4B3B-BA06-9285785055F3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B069C7E-4388-F544-A2C8-713558C3D48F}"/>
              </a:ext>
            </a:extLst>
          </p:cNvPr>
          <p:cNvSpPr txBox="1">
            <a:spLocks noChangeArrowheads="1"/>
          </p:cNvSpPr>
          <p:nvPr/>
        </p:nvSpPr>
        <p:spPr>
          <a:xfrm>
            <a:off x="5029200" y="990600"/>
            <a:ext cx="5909995" cy="5103876"/>
          </a:xfrm>
          <a:prstGeom prst="rect">
            <a:avLst/>
          </a:prstGeom>
          <a:solidFill>
            <a:schemeClr val="bg1"/>
          </a:solidFill>
          <a:ln w="12700" cap="flat" algn="ctr">
            <a:solidFill>
              <a:schemeClr val="tx1"/>
            </a:solidFill>
          </a:ln>
          <a:effectLst>
            <a:outerShdw dist="50800" dir="2700000" algn="ctr" rotWithShape="0">
              <a:srgbClr val="B2B2B2">
                <a:alpha val="74997"/>
              </a:srgbClr>
            </a:outerShdw>
          </a:effectLst>
        </p:spPr>
        <p:txBody>
          <a:bodyPr vert="horz" wrap="none" lIns="54864" tIns="91440" rtlCol="0">
            <a:noAutofit/>
          </a:bodyPr>
          <a:lstStyle>
            <a:lvl1pPr marL="350838" indent="-339725" algn="l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/>
              <a:defRPr kumimoji="0" lang="en-US" sz="3200" b="0" i="0" kern="1200" dirty="0" smtClean="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Calibri" pitchFamily="34" charset="0"/>
              </a:defRPr>
            </a:lvl1pPr>
            <a:lvl2pPr marL="628650" indent="-277813" algn="l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/>
              <a:defRPr kumimoji="0" lang="en-US" sz="2800" b="0" i="0" kern="1200" dirty="0" smtClean="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Calibri" pitchFamily="34" charset="0"/>
              </a:defRPr>
            </a:lvl2pPr>
            <a:lvl3pPr marL="863600" indent="-234950" algn="l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/>
              <a:defRPr kumimoji="0" lang="en-US" sz="2400" b="0" i="0" kern="1200" dirty="0" smtClean="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Calibri" pitchFamily="34" charset="0"/>
              </a:defRPr>
            </a:lvl3pPr>
            <a:lvl4pPr marL="1087438" indent="-223838" algn="l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/>
              <a:defRPr kumimoji="0" lang="en-US" sz="2000" b="0" i="0" kern="1200" dirty="0">
                <a:solidFill>
                  <a:schemeClr val="tx1"/>
                </a:solidFill>
                <a:latin typeface="Candara" panose="020E0502030303020204" pitchFamily="34" charset="0"/>
                <a:ea typeface="+mn-ea"/>
                <a:cs typeface="Calibri" pitchFamily="34" charset="0"/>
              </a:defRPr>
            </a:lvl4pPr>
            <a:lvl5pPr marL="1604963" indent="-223838" algn="l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itchFamily="2" charset="2"/>
              <a:buChar char="§"/>
              <a:tabLst/>
              <a:defRPr kumimoji="0" lang="en-US" sz="2000" kern="120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1627632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100000"/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 pitchFamily="18" charset="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31136" indent="-18288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 pitchFamily="18" charset="2"/>
              <a:buChar char="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indent="0" fontAlgn="auto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…</a:t>
            </a:r>
          </a:p>
          <a:p>
            <a:pPr marL="0" indent="0" fontAlgn="auto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int main(int 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argc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, char *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argv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[]) {</a:t>
            </a:r>
          </a:p>
          <a:p>
            <a:pPr marL="0" indent="0" fontAlgn="auto"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	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pthread_t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p;</a:t>
            </a:r>
          </a:p>
          <a:p>
            <a:pPr marL="0" indent="0" fontAlgn="auto"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	int 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rc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;</a:t>
            </a:r>
          </a:p>
          <a:p>
            <a:pPr marL="0" indent="0" fontAlgn="auto"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	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myarg_t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args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;</a:t>
            </a:r>
          </a:p>
          <a:p>
            <a:pPr marL="0" indent="0" fontAlgn="auto"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	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args.a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= 10;</a:t>
            </a:r>
          </a:p>
          <a:p>
            <a:pPr marL="0" indent="0" fontAlgn="auto"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	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args.b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= 20;</a:t>
            </a:r>
          </a:p>
          <a:p>
            <a:pPr marL="0" indent="0" fontAlgn="auto"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	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rc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= 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pthread_create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(&amp;p, NULL, 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mythread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, &amp;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args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); </a:t>
            </a:r>
          </a:p>
          <a:p>
            <a:pPr marL="0" indent="0" fontAlgn="auto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	...</a:t>
            </a:r>
          </a:p>
          <a:p>
            <a:pPr marL="0" indent="0" fontAlgn="auto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}</a:t>
            </a:r>
          </a:p>
          <a:p>
            <a:pPr marL="0" indent="0" fontAlgn="auto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  <a:tabLst>
                <a:tab pos="460375" algn="l"/>
              </a:tabLst>
              <a:defRPr/>
            </a:pPr>
            <a:endParaRPr lang="en-US" sz="2000" dirty="0">
              <a:solidFill>
                <a:srgbClr val="000000"/>
              </a:solidFill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APIs (cont’d)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void </a:t>
            </a:r>
            <a:r>
              <a:rPr lang="en-US" dirty="0" err="1">
                <a:solidFill>
                  <a:srgbClr val="7030A0"/>
                </a:solidFill>
              </a:rPr>
              <a:t>pthread_exit</a:t>
            </a:r>
            <a:r>
              <a:rPr lang="en-US" dirty="0">
                <a:solidFill>
                  <a:srgbClr val="7030A0"/>
                </a:solidFill>
              </a:rPr>
              <a:t>(void *</a:t>
            </a:r>
            <a:r>
              <a:rPr lang="en-US" dirty="0" err="1">
                <a:solidFill>
                  <a:srgbClr val="7030A0"/>
                </a:solidFill>
              </a:rPr>
              <a:t>value_ptr</a:t>
            </a:r>
            <a:r>
              <a:rPr lang="en-US" dirty="0">
                <a:solidFill>
                  <a:srgbClr val="7030A0"/>
                </a:solidFill>
              </a:rPr>
              <a:t>)</a:t>
            </a:r>
          </a:p>
          <a:p>
            <a:pPr lvl="1"/>
            <a:r>
              <a:rPr lang="en-US" dirty="0"/>
              <a:t>It terminates the calling thread and makes the      value </a:t>
            </a:r>
            <a:r>
              <a:rPr lang="en-US" dirty="0" err="1"/>
              <a:t>value_ptr</a:t>
            </a:r>
            <a:r>
              <a:rPr lang="en-US" dirty="0"/>
              <a:t> available to any successful join with the terminating thread.</a:t>
            </a:r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>
                <a:solidFill>
                  <a:srgbClr val="7030A0"/>
                </a:solidFill>
              </a:rPr>
              <a:t>pthread_join</a:t>
            </a:r>
            <a:r>
              <a:rPr lang="en-US" dirty="0">
                <a:solidFill>
                  <a:srgbClr val="7030A0"/>
                </a:solidFill>
              </a:rPr>
              <a:t>(</a:t>
            </a:r>
            <a:r>
              <a:rPr lang="en-US" dirty="0" err="1">
                <a:solidFill>
                  <a:srgbClr val="7030A0"/>
                </a:solidFill>
              </a:rPr>
              <a:t>pthread_t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tid</a:t>
            </a:r>
            <a:r>
              <a:rPr lang="en-US" dirty="0">
                <a:solidFill>
                  <a:srgbClr val="7030A0"/>
                </a:solidFill>
              </a:rPr>
              <a:t>, void **</a:t>
            </a:r>
            <a:r>
              <a:rPr lang="en-US" dirty="0" err="1">
                <a:solidFill>
                  <a:srgbClr val="7030A0"/>
                </a:solidFill>
              </a:rPr>
              <a:t>value_ptr</a:t>
            </a:r>
            <a:r>
              <a:rPr lang="en-US" dirty="0">
                <a:solidFill>
                  <a:srgbClr val="7030A0"/>
                </a:solidFill>
              </a:rPr>
              <a:t>)</a:t>
            </a:r>
          </a:p>
          <a:p>
            <a:pPr lvl="1"/>
            <a:r>
              <a:rPr lang="en-US" dirty="0"/>
              <a:t>It blocks the calling thread until the specified </a:t>
            </a:r>
            <a:r>
              <a:rPr lang="en-US" dirty="0" err="1"/>
              <a:t>tid</a:t>
            </a:r>
            <a:r>
              <a:rPr lang="en-US" dirty="0"/>
              <a:t> thread terminates. </a:t>
            </a:r>
          </a:p>
          <a:p>
            <a:pPr lvl="1"/>
            <a:r>
              <a:rPr lang="en-US" dirty="0"/>
              <a:t>Return 0 on success, and negative on failure.</a:t>
            </a:r>
          </a:p>
          <a:p>
            <a:pPr lvl="2"/>
            <a:r>
              <a:rPr lang="en-US" dirty="0"/>
              <a:t>The returned value is a pointer returned by reference.</a:t>
            </a:r>
          </a:p>
          <a:p>
            <a:pPr lvl="2"/>
            <a:r>
              <a:rPr lang="en-US" dirty="0"/>
              <a:t>If you do not care about the return value, you can pass NULL for the second argument.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A20345-E05A-4F49-8C72-8711D2BC8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FD6249-C7C5-4B3B-BA06-9285785055F3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Waiting for thread completion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039779"/>
            <a:ext cx="4267200" cy="5486400"/>
          </a:xfrm>
          <a:solidFill>
            <a:schemeClr val="bg1"/>
          </a:solidFill>
          <a:ln w="12700" cap="flat" algn="ctr">
            <a:solidFill>
              <a:schemeClr val="tx1"/>
            </a:solidFill>
          </a:ln>
          <a:effectLst>
            <a:outerShdw dist="50800" dir="2700000" algn="ctr" rotWithShape="0">
              <a:srgbClr val="B2B2B2">
                <a:alpha val="74997"/>
              </a:srgbClr>
            </a:outerShdw>
          </a:effectLst>
        </p:spPr>
        <p:txBody>
          <a:bodyPr wrap="none">
            <a:normAutofit fontScale="92500" lnSpcReduction="20000"/>
          </a:bodyPr>
          <a:lstStyle/>
          <a:p>
            <a:pPr marL="0" indent="0">
              <a:spcBef>
                <a:spcPct val="0"/>
              </a:spcBef>
              <a:spcAft>
                <a:spcPts val="0"/>
              </a:spcAft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#include &lt;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stdio.h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&gt;</a:t>
            </a:r>
          </a:p>
          <a:p>
            <a:pPr marL="0" indent="0">
              <a:spcBef>
                <a:spcPct val="0"/>
              </a:spcBef>
              <a:spcAft>
                <a:spcPts val="0"/>
              </a:spcAft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#include &lt;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pthread.h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&gt;</a:t>
            </a:r>
          </a:p>
          <a:p>
            <a:pPr marL="0" indent="0">
              <a:spcBef>
                <a:spcPct val="0"/>
              </a:spcBef>
              <a:spcAft>
                <a:spcPts val="0"/>
              </a:spcAft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#include &lt;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assert.h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&gt;</a:t>
            </a:r>
          </a:p>
          <a:p>
            <a:pPr marL="0" indent="0">
              <a:spcBef>
                <a:spcPct val="0"/>
              </a:spcBef>
              <a:spcAft>
                <a:spcPts val="0"/>
              </a:spcAft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#include &lt;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stdlib.h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&gt;</a:t>
            </a:r>
          </a:p>
          <a:p>
            <a:pPr marL="0" indent="0">
              <a:spcBef>
                <a:spcPct val="0"/>
              </a:spcBef>
              <a:spcAft>
                <a:spcPts val="0"/>
              </a:spcAft>
              <a:buClrTx/>
              <a:buSzTx/>
              <a:buNone/>
              <a:tabLst>
                <a:tab pos="460375" algn="l"/>
              </a:tabLst>
              <a:defRPr/>
            </a:pPr>
            <a:endParaRPr lang="en-US" sz="1800" dirty="0">
              <a:solidFill>
                <a:srgbClr val="000000"/>
              </a:solidFill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spcAft>
                <a:spcPts val="0"/>
              </a:spcAft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typedef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struct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 __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myarg_t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 {</a:t>
            </a:r>
          </a:p>
          <a:p>
            <a:pPr marL="0" indent="0">
              <a:spcBef>
                <a:spcPct val="0"/>
              </a:spcBef>
              <a:spcAft>
                <a:spcPts val="0"/>
              </a:spcAft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int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 a;</a:t>
            </a:r>
          </a:p>
          <a:p>
            <a:pPr marL="0" indent="0">
              <a:spcBef>
                <a:spcPct val="0"/>
              </a:spcBef>
              <a:spcAft>
                <a:spcPts val="0"/>
              </a:spcAft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int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 b;</a:t>
            </a:r>
          </a:p>
          <a:p>
            <a:pPr marL="0" indent="0">
              <a:spcBef>
                <a:spcPct val="0"/>
              </a:spcBef>
              <a:spcAft>
                <a:spcPts val="0"/>
              </a:spcAft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} 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myarg_t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;</a:t>
            </a:r>
          </a:p>
          <a:p>
            <a:pPr marL="0" indent="0">
              <a:spcBef>
                <a:spcPct val="0"/>
              </a:spcBef>
              <a:spcAft>
                <a:spcPts val="0"/>
              </a:spcAft>
              <a:buClrTx/>
              <a:buSzTx/>
              <a:buNone/>
              <a:tabLst>
                <a:tab pos="460375" algn="l"/>
              </a:tabLst>
              <a:defRPr/>
            </a:pPr>
            <a:endParaRPr lang="en-US" sz="1800" dirty="0">
              <a:solidFill>
                <a:srgbClr val="000000"/>
              </a:solidFill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spcAft>
                <a:spcPts val="0"/>
              </a:spcAft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typedef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struct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 __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myret_t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 {</a:t>
            </a:r>
          </a:p>
          <a:p>
            <a:pPr marL="0" indent="0">
              <a:spcBef>
                <a:spcPct val="0"/>
              </a:spcBef>
              <a:spcAft>
                <a:spcPts val="0"/>
              </a:spcAft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int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 x;</a:t>
            </a:r>
          </a:p>
          <a:p>
            <a:pPr marL="0" indent="0">
              <a:spcBef>
                <a:spcPct val="0"/>
              </a:spcBef>
              <a:spcAft>
                <a:spcPts val="0"/>
              </a:spcAft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int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 y;</a:t>
            </a:r>
          </a:p>
          <a:p>
            <a:pPr marL="0" indent="0">
              <a:spcBef>
                <a:spcPct val="0"/>
              </a:spcBef>
              <a:spcAft>
                <a:spcPts val="0"/>
              </a:spcAft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} 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myret_t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;</a:t>
            </a:r>
          </a:p>
          <a:p>
            <a:pPr marL="0" indent="0">
              <a:spcBef>
                <a:spcPct val="0"/>
              </a:spcBef>
              <a:spcAft>
                <a:spcPts val="0"/>
              </a:spcAft>
              <a:buClrTx/>
              <a:buSzTx/>
              <a:buNone/>
              <a:tabLst>
                <a:tab pos="460375" algn="l"/>
              </a:tabLst>
              <a:defRPr/>
            </a:pPr>
            <a:endParaRPr lang="en-US" sz="1800" dirty="0">
              <a:solidFill>
                <a:srgbClr val="000000"/>
              </a:solidFill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spcAft>
                <a:spcPts val="0"/>
              </a:spcAft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void *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mythread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(void *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arg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) { </a:t>
            </a:r>
          </a:p>
          <a:p>
            <a:pPr marL="0" indent="0">
              <a:spcBef>
                <a:spcPct val="0"/>
              </a:spcBef>
              <a:spcAft>
                <a:spcPts val="0"/>
              </a:spcAft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myarg_t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 *m = (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myarg_t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 *) 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arg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; </a:t>
            </a:r>
          </a:p>
          <a:p>
            <a:pPr marL="0" indent="0">
              <a:spcBef>
                <a:spcPct val="0"/>
              </a:spcBef>
              <a:spcAft>
                <a:spcPts val="0"/>
              </a:spcAft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printf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("%d %d\n", m-&gt;a, m-&gt;b); </a:t>
            </a:r>
          </a:p>
          <a:p>
            <a:pPr marL="0" indent="0">
              <a:spcBef>
                <a:spcPct val="0"/>
              </a:spcBef>
              <a:spcAft>
                <a:spcPts val="0"/>
              </a:spcAft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myret_t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 *r = 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malloc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(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sizeof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(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myret_t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)); </a:t>
            </a:r>
          </a:p>
          <a:p>
            <a:pPr marL="0" indent="0">
              <a:spcBef>
                <a:spcPct val="0"/>
              </a:spcBef>
              <a:spcAft>
                <a:spcPts val="0"/>
              </a:spcAft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	r-&gt;x = 1;</a:t>
            </a:r>
          </a:p>
          <a:p>
            <a:pPr marL="0" indent="0">
              <a:spcBef>
                <a:spcPct val="0"/>
              </a:spcBef>
              <a:spcAft>
                <a:spcPts val="0"/>
              </a:spcAft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	r-&gt;y = 2;</a:t>
            </a:r>
          </a:p>
          <a:p>
            <a:pPr marL="0" indent="0">
              <a:spcBef>
                <a:spcPct val="0"/>
              </a:spcBef>
              <a:spcAft>
                <a:spcPts val="0"/>
              </a:spcAft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	return (void *) r;</a:t>
            </a:r>
          </a:p>
          <a:p>
            <a:pPr marL="0" indent="0">
              <a:spcBef>
                <a:spcPct val="0"/>
              </a:spcBef>
              <a:spcAft>
                <a:spcPts val="0"/>
              </a:spcAft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}</a:t>
            </a:r>
          </a:p>
          <a:p>
            <a:pPr marL="0" indent="0">
              <a:spcBef>
                <a:spcPct val="0"/>
              </a:spcBef>
              <a:spcAft>
                <a:spcPts val="0"/>
              </a:spcAft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…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55C68C-2410-4A91-A36E-2E169A3DA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FD6249-C7C5-4B3B-BA06-9285785055F3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105399" y="1038067"/>
            <a:ext cx="5486401" cy="5486400"/>
          </a:xfrm>
          <a:prstGeom prst="rect">
            <a:avLst/>
          </a:prstGeom>
          <a:solidFill>
            <a:schemeClr val="bg1"/>
          </a:solidFill>
          <a:ln w="12700" cap="flat" algn="ctr">
            <a:solidFill>
              <a:schemeClr val="tx1"/>
            </a:solidFill>
            <a:miter lim="800000"/>
            <a:headEnd/>
            <a:tailEnd/>
          </a:ln>
          <a:effectLst>
            <a:outerShdw dist="50800" dir="2700000" algn="ctr" rotWithShape="0">
              <a:srgbClr val="B2B2B2">
                <a:alpha val="74997"/>
              </a:srgbClr>
            </a:outerShdw>
          </a:effectLst>
        </p:spPr>
        <p:txBody>
          <a:bodyPr wrap="none"/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…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int main(int 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argc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, char *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argv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[]) {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rc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endParaRPr lang="en-US" sz="1800" dirty="0">
              <a:solidFill>
                <a:srgbClr val="000000"/>
              </a:solidFill>
              <a:latin typeface="Candara" panose="020E0502030303020204" pitchFamily="34" charset="0"/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pthread_t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p;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myarg_t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args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myret_t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*m;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endParaRPr lang="en-US" sz="1800" dirty="0">
              <a:solidFill>
                <a:srgbClr val="000000"/>
              </a:solidFill>
              <a:latin typeface="Candara" panose="020E0502030303020204" pitchFamily="34" charset="0"/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args.a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= 10;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args.b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= 20;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rc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pthread_create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(&amp;p, NULL, 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mythread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, &amp;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args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);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pthread_join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(p, (void **) &amp;m);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endParaRPr lang="en-US" sz="1800" dirty="0">
              <a:solidFill>
                <a:srgbClr val="000000"/>
              </a:solidFill>
              <a:latin typeface="Candara" panose="020E0502030303020204" pitchFamily="34" charset="0"/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printf</a:t>
            </a: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("returned %d %d\n", m-&gt;x, m-&gt;y);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	return 0;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andara" panose="020E0502030303020204" pitchFamily="34" charset="0"/>
                <a:ea typeface="ＭＳ Ｐゴシック" pitchFamily="34" charset="-128"/>
              </a:rPr>
              <a:t>}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endParaRPr lang="en-US" sz="1800" dirty="0">
              <a:solidFill>
                <a:srgbClr val="000000"/>
              </a:solidFill>
              <a:latin typeface="Candara" panose="020E0502030303020204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409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Multi-threading</a:t>
            </a:r>
          </a:p>
          <a:p>
            <a:r>
              <a:rPr lang="en-US" dirty="0" err="1"/>
              <a:t>Pthread</a:t>
            </a:r>
            <a:endParaRPr lang="en-US" dirty="0"/>
          </a:p>
          <a:p>
            <a:r>
              <a:rPr lang="en-US" dirty="0"/>
              <a:t>Race Condition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045B23-F35D-4F0B-8E03-1CBA0C45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D6249-C7C5-4B3B-BA06-9285785055F3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3383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ea typeface="ＭＳ Ｐゴシック" pitchFamily="34" charset="-128"/>
              </a:rPr>
              <a:t>Example: </a:t>
            </a:r>
            <a:br>
              <a:rPr lang="en-US" sz="3600" dirty="0">
                <a:ea typeface="ＭＳ Ｐゴシック" pitchFamily="34" charset="-128"/>
              </a:rPr>
            </a:br>
            <a:r>
              <a:rPr lang="en-US" sz="3600" dirty="0" err="1">
                <a:ea typeface="ＭＳ Ｐゴシック" pitchFamily="34" charset="-128"/>
              </a:rPr>
              <a:t>thread.c</a:t>
            </a:r>
            <a:endParaRPr lang="en-US" sz="3600" dirty="0">
              <a:ea typeface="ＭＳ Ｐゴシック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6E2FAD-583A-4D00-BA65-381257BEF45F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21507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10114" y="0"/>
            <a:ext cx="5957887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Demo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6E2FAD-583A-4D00-BA65-381257BEF45F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pic>
        <p:nvPicPr>
          <p:cNvPr id="2253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25900" y="0"/>
            <a:ext cx="41275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happened?</a:t>
            </a:r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As it turns out, the reason for these odd and unusual outcomes relate to how instructions are executed. </a:t>
            </a:r>
          </a:p>
          <a:p>
            <a:r>
              <a:rPr lang="en-US" dirty="0"/>
              <a:t>Unfortunately, a key part of the program above, where the shared counter is incremented, takes three instructions: </a:t>
            </a:r>
          </a:p>
          <a:p>
            <a:pPr lvl="1"/>
            <a:r>
              <a:rPr lang="sk-SK" dirty="0" err="1">
                <a:solidFill>
                  <a:srgbClr val="FF0000"/>
                </a:solidFill>
              </a:rPr>
              <a:t>mov</a:t>
            </a:r>
            <a:r>
              <a:rPr lang="sk-SK" dirty="0">
                <a:solidFill>
                  <a:srgbClr val="FF0000"/>
                </a:solidFill>
              </a:rPr>
              <a:t> 0x8049a1c, %</a:t>
            </a:r>
            <a:r>
              <a:rPr lang="sk-SK" dirty="0" err="1">
                <a:solidFill>
                  <a:srgbClr val="FF0000"/>
                </a:solidFill>
              </a:rPr>
              <a:t>eax</a:t>
            </a:r>
            <a:r>
              <a:rPr lang="sk-SK" dirty="0"/>
              <a:t>: </a:t>
            </a:r>
            <a:r>
              <a:rPr lang="en-US" dirty="0"/>
              <a:t>load the value of the counter from memory into a register </a:t>
            </a:r>
          </a:p>
          <a:p>
            <a:pPr lvl="1"/>
            <a:r>
              <a:rPr lang="sv-SE" dirty="0" err="1">
                <a:solidFill>
                  <a:srgbClr val="FF0000"/>
                </a:solidFill>
              </a:rPr>
              <a:t>add</a:t>
            </a:r>
            <a:r>
              <a:rPr lang="sv-SE" dirty="0">
                <a:solidFill>
                  <a:srgbClr val="FF0000"/>
                </a:solidFill>
              </a:rPr>
              <a:t> $0x1, %</a:t>
            </a:r>
            <a:r>
              <a:rPr lang="sv-SE" dirty="0" err="1">
                <a:solidFill>
                  <a:srgbClr val="FF0000"/>
                </a:solidFill>
              </a:rPr>
              <a:t>eax</a:t>
            </a:r>
            <a:r>
              <a:rPr lang="sv-SE" dirty="0"/>
              <a:t>: </a:t>
            </a:r>
            <a:r>
              <a:rPr lang="en-US" dirty="0"/>
              <a:t>increment it</a:t>
            </a:r>
          </a:p>
          <a:p>
            <a:pPr lvl="1"/>
            <a:r>
              <a:rPr lang="sk-SK" dirty="0" err="1">
                <a:solidFill>
                  <a:srgbClr val="FF0000"/>
                </a:solidFill>
              </a:rPr>
              <a:t>mov</a:t>
            </a:r>
            <a:r>
              <a:rPr lang="sk-SK" dirty="0">
                <a:solidFill>
                  <a:srgbClr val="FF0000"/>
                </a:solidFill>
              </a:rPr>
              <a:t> %</a:t>
            </a:r>
            <a:r>
              <a:rPr lang="sk-SK" dirty="0" err="1">
                <a:solidFill>
                  <a:srgbClr val="FF0000"/>
                </a:solidFill>
              </a:rPr>
              <a:t>eax</a:t>
            </a:r>
            <a:r>
              <a:rPr lang="sk-SK" dirty="0">
                <a:solidFill>
                  <a:srgbClr val="FF0000"/>
                </a:solidFill>
              </a:rPr>
              <a:t>, 0x8049a1c</a:t>
            </a:r>
            <a:r>
              <a:rPr lang="sk-SK" dirty="0"/>
              <a:t>: </a:t>
            </a:r>
            <a:r>
              <a:rPr lang="en-US" dirty="0"/>
              <a:t>store it back into memory</a:t>
            </a:r>
          </a:p>
          <a:p>
            <a:r>
              <a:rPr lang="en-US" dirty="0"/>
              <a:t>Because these three instructions do not execute atomically (all at once), sorts of strange things can happen.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2FAD-583A-4D00-BA65-381257BEF45F}" type="slidenum">
              <a:rPr lang="en-US" smtClean="0"/>
              <a:pPr/>
              <a:t>26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ea typeface="ＭＳ Ｐゴシック" pitchFamily="34" charset="-128"/>
              </a:rPr>
              <a:t>Uncontrolled scheduling: </a:t>
            </a:r>
            <a:br>
              <a:rPr lang="en-US" sz="3600" dirty="0">
                <a:ea typeface="ＭＳ Ｐゴシック" pitchFamily="34" charset="-128"/>
              </a:rPr>
            </a:br>
            <a:r>
              <a:rPr lang="en-US" sz="3600" dirty="0">
                <a:ea typeface="ＭＳ Ｐゴシック" pitchFamily="34" charset="-128"/>
              </a:rPr>
              <a:t>interleaved operations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6E2FAD-583A-4D00-BA65-381257BEF45F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graphicFrame>
        <p:nvGraphicFramePr>
          <p:cNvPr id="938042" name="Group 58"/>
          <p:cNvGraphicFramePr>
            <a:graphicFrameLocks noGrp="1"/>
          </p:cNvGraphicFramePr>
          <p:nvPr/>
        </p:nvGraphicFramePr>
        <p:xfrm>
          <a:off x="1981200" y="1851025"/>
          <a:ext cx="8305800" cy="3983990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ＭＳ Ｐゴシック" pitchFamily="34" charset="-128"/>
                      </a:endParaRPr>
                    </a:p>
                  </a:txBody>
                  <a:tcPr marT="91440" marB="91440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Thread 1</a:t>
                      </a:r>
                    </a:p>
                  </a:txBody>
                  <a:tcPr marT="91440" marB="91440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Thread 2</a:t>
                      </a:r>
                    </a:p>
                  </a:txBody>
                  <a:tcPr marT="91440" marB="91440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Operation</a:t>
                      </a:r>
                    </a:p>
                  </a:txBody>
                  <a:tcPr marT="91440" marB="91440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counter = counter + 1</a:t>
                      </a:r>
                    </a:p>
                  </a:txBody>
                  <a:tcPr marT="91440" marB="91440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counter = counter + 1</a:t>
                      </a:r>
                    </a:p>
                  </a:txBody>
                  <a:tcPr marT="91440" marB="91440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On CPU</a:t>
                      </a:r>
                    </a:p>
                  </a:txBody>
                  <a:tcPr marT="91440" marB="91440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mov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: register1 = counter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add: register1 = register1 + 1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</a:b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mov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: counter = register1</a:t>
                      </a:r>
                    </a:p>
                  </a:txBody>
                  <a:tcPr marT="91440" marB="91440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mov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: register2 = counter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add: register2 = register2 + 1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</a:b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mov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: counter = register2</a:t>
                      </a:r>
                    </a:p>
                  </a:txBody>
                  <a:tcPr marT="91440" marB="91440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275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Interleaved execution</a:t>
                      </a:r>
                    </a:p>
                  </a:txBody>
                  <a:tcPr marT="91440" marB="91440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mov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: register1 = counter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add: register1 = register1 + 1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……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……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……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mov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: counter = register1</a:t>
                      </a:r>
                    </a:p>
                  </a:txBody>
                  <a:tcPr marT="91440" marB="91440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……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……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mov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: register2 = counter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add: register2 = register2 + 1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</a:b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mov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: counter = register2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/>
                          <a:latin typeface="Candara" panose="020E0502030303020204" pitchFamily="34" charset="0"/>
                          <a:ea typeface="ＭＳ Ｐゴシック" pitchFamily="34" charset="-128"/>
                        </a:rPr>
                        <a:t>……</a:t>
                      </a:r>
                    </a:p>
                  </a:txBody>
                  <a:tcPr marT="91440" marB="91440" anchor="ctr" horzOverflow="overflow">
                    <a:lnL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62"/>
          <p:cNvSpPr>
            <a:spLocks noChangeArrowheads="1"/>
          </p:cNvSpPr>
          <p:nvPr/>
        </p:nvSpPr>
        <p:spPr bwMode="auto">
          <a:xfrm>
            <a:off x="6324600" y="2209800"/>
            <a:ext cx="1371600" cy="2921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/>
          <a:p>
            <a:pPr marL="342900" indent="-342900" algn="ctr">
              <a:lnSpc>
                <a:spcPct val="80000"/>
              </a:lnSpc>
              <a:spcBef>
                <a:spcPct val="75000"/>
              </a:spcBef>
              <a:buClr>
                <a:schemeClr val="folHlink"/>
              </a:buClr>
              <a:buSzPct val="80000"/>
              <a:defRPr/>
            </a:pPr>
            <a:r>
              <a:rPr lang="en-US" sz="1600" dirty="0">
                <a:solidFill>
                  <a:srgbClr val="FF0000"/>
                </a:solidFill>
                <a:latin typeface="Candara" panose="020E0502030303020204" pitchFamily="34" charset="0"/>
              </a:rPr>
              <a:t>counter = 50</a:t>
            </a:r>
          </a:p>
        </p:txBody>
      </p:sp>
      <p:sp>
        <p:nvSpPr>
          <p:cNvPr id="10" name="Rectangle 62"/>
          <p:cNvSpPr>
            <a:spLocks noChangeArrowheads="1"/>
          </p:cNvSpPr>
          <p:nvPr/>
        </p:nvSpPr>
        <p:spPr bwMode="auto">
          <a:xfrm>
            <a:off x="6324600" y="2895600"/>
            <a:ext cx="1371600" cy="2921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/>
          <a:p>
            <a:pPr marL="342900" indent="-342900" algn="ctr">
              <a:lnSpc>
                <a:spcPct val="80000"/>
              </a:lnSpc>
              <a:spcBef>
                <a:spcPct val="75000"/>
              </a:spcBef>
              <a:buClr>
                <a:schemeClr val="folHlink"/>
              </a:buClr>
              <a:buSzPct val="80000"/>
              <a:defRPr/>
            </a:pPr>
            <a:r>
              <a:rPr lang="en-US" sz="1600" dirty="0">
                <a:solidFill>
                  <a:srgbClr val="FF0000"/>
                </a:solidFill>
                <a:latin typeface="Candara" panose="020E0502030303020204" pitchFamily="34" charset="0"/>
              </a:rPr>
              <a:t>counter = 52</a:t>
            </a:r>
          </a:p>
        </p:txBody>
      </p:sp>
      <p:sp>
        <p:nvSpPr>
          <p:cNvPr id="11" name="Rectangle 62"/>
          <p:cNvSpPr>
            <a:spLocks noChangeArrowheads="1"/>
          </p:cNvSpPr>
          <p:nvPr/>
        </p:nvSpPr>
        <p:spPr bwMode="auto">
          <a:xfrm>
            <a:off x="6324600" y="3898900"/>
            <a:ext cx="1371600" cy="2921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/>
          <a:p>
            <a:pPr marL="342900" indent="-342900" algn="ctr">
              <a:lnSpc>
                <a:spcPct val="80000"/>
              </a:lnSpc>
              <a:spcBef>
                <a:spcPct val="75000"/>
              </a:spcBef>
              <a:buClr>
                <a:schemeClr val="folHlink"/>
              </a:buClr>
              <a:buSzPct val="80000"/>
              <a:defRPr/>
            </a:pPr>
            <a:r>
              <a:rPr lang="en-US" sz="1600" dirty="0">
                <a:solidFill>
                  <a:srgbClr val="FF0000"/>
                </a:solidFill>
                <a:latin typeface="Candara" panose="020E0502030303020204" pitchFamily="34" charset="0"/>
              </a:rPr>
              <a:t>counter = 50</a:t>
            </a:r>
          </a:p>
        </p:txBody>
      </p:sp>
      <p:sp>
        <p:nvSpPr>
          <p:cNvPr id="12" name="Rectangle 62"/>
          <p:cNvSpPr>
            <a:spLocks noChangeArrowheads="1"/>
          </p:cNvSpPr>
          <p:nvPr/>
        </p:nvSpPr>
        <p:spPr bwMode="auto">
          <a:xfrm>
            <a:off x="6324600" y="5791200"/>
            <a:ext cx="1371600" cy="2921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/>
          <a:p>
            <a:pPr marL="342900" indent="-342900" algn="ctr">
              <a:lnSpc>
                <a:spcPct val="80000"/>
              </a:lnSpc>
              <a:spcBef>
                <a:spcPct val="75000"/>
              </a:spcBef>
              <a:buClr>
                <a:schemeClr val="folHlink"/>
              </a:buClr>
              <a:buSzPct val="80000"/>
              <a:defRPr/>
            </a:pPr>
            <a:r>
              <a:rPr lang="en-US" sz="1600" dirty="0">
                <a:solidFill>
                  <a:srgbClr val="FF0000"/>
                </a:solidFill>
                <a:latin typeface="Candara" panose="020E0502030303020204" pitchFamily="34" charset="0"/>
              </a:rPr>
              <a:t>counter = 51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3BFA2-4830-6247-8254-407532021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a typeface="ＭＳ Ｐゴシック" pitchFamily="34" charset="-128"/>
              </a:rPr>
              <a:t>Uncontrolled scheduling: </a:t>
            </a:r>
            <a:br>
              <a:rPr lang="en-US" dirty="0">
                <a:ea typeface="ＭＳ Ｐゴシック" pitchFamily="34" charset="-128"/>
              </a:rPr>
            </a:br>
            <a:r>
              <a:rPr lang="en-US" dirty="0">
                <a:ea typeface="ＭＳ Ｐゴシック" pitchFamily="34" charset="-128"/>
              </a:rPr>
              <a:t>interleaved operations (cont’d)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7900" y="1625600"/>
            <a:ext cx="10236200" cy="45212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6E2FAD-583A-4D00-BA65-381257BEF45F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200400" y="2286000"/>
            <a:ext cx="2872581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i="1" dirty="0">
                <a:solidFill>
                  <a:srgbClr val="2D3158"/>
                </a:solidFill>
                <a:latin typeface="Arial" charset="0"/>
                <a:ea typeface="Arial" charset="0"/>
                <a:cs typeface="Arial" charset="0"/>
              </a:rPr>
              <a:t>before interleaved operation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9619" y="569976"/>
            <a:ext cx="2667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ndara" panose="020E0502030303020204" pitchFamily="34" charset="0"/>
                <a:ea typeface="Arial" charset="0"/>
                <a:cs typeface="Arial" charset="0"/>
              </a:rPr>
              <a:t>100 </a:t>
            </a:r>
            <a:r>
              <a:rPr lang="en-US" dirty="0" err="1">
                <a:latin typeface="Candara" panose="020E0502030303020204" pitchFamily="34" charset="0"/>
                <a:ea typeface="Arial" charset="0"/>
                <a:cs typeface="Arial" charset="0"/>
              </a:rPr>
              <a:t>mov</a:t>
            </a:r>
            <a:r>
              <a:rPr lang="en-US" dirty="0">
                <a:latin typeface="Candara" panose="020E0502030303020204" pitchFamily="34" charset="0"/>
                <a:ea typeface="Arial" charset="0"/>
                <a:cs typeface="Arial" charset="0"/>
              </a:rPr>
              <a:t> 0x8049a1c, %</a:t>
            </a:r>
            <a:r>
              <a:rPr lang="en-US" dirty="0" err="1">
                <a:latin typeface="Candara" panose="020E0502030303020204" pitchFamily="34" charset="0"/>
                <a:ea typeface="Arial" charset="0"/>
                <a:cs typeface="Arial" charset="0"/>
              </a:rPr>
              <a:t>eax</a:t>
            </a:r>
            <a:r>
              <a:rPr lang="en-US" dirty="0">
                <a:latin typeface="Candara" panose="020E0502030303020204" pitchFamily="34" charset="0"/>
                <a:ea typeface="Arial" charset="0"/>
                <a:cs typeface="Arial" charset="0"/>
              </a:rPr>
              <a:t> </a:t>
            </a:r>
          </a:p>
          <a:p>
            <a:r>
              <a:rPr lang="en-US" dirty="0">
                <a:latin typeface="Candara" panose="020E0502030303020204" pitchFamily="34" charset="0"/>
                <a:ea typeface="Arial" charset="0"/>
                <a:cs typeface="Arial" charset="0"/>
              </a:rPr>
              <a:t>105 add $0x1, %</a:t>
            </a:r>
            <a:r>
              <a:rPr lang="en-US" dirty="0" err="1">
                <a:latin typeface="Candara" panose="020E0502030303020204" pitchFamily="34" charset="0"/>
                <a:ea typeface="Arial" charset="0"/>
                <a:cs typeface="Arial" charset="0"/>
              </a:rPr>
              <a:t>eax</a:t>
            </a:r>
            <a:r>
              <a:rPr lang="en-US" dirty="0">
                <a:latin typeface="Candara" panose="020E0502030303020204" pitchFamily="34" charset="0"/>
                <a:ea typeface="Arial" charset="0"/>
                <a:cs typeface="Arial" charset="0"/>
              </a:rPr>
              <a:t> </a:t>
            </a:r>
          </a:p>
          <a:p>
            <a:r>
              <a:rPr lang="en-US" dirty="0">
                <a:latin typeface="Candara" panose="020E0502030303020204" pitchFamily="34" charset="0"/>
                <a:ea typeface="Arial" charset="0"/>
                <a:cs typeface="Arial" charset="0"/>
              </a:rPr>
              <a:t>108 </a:t>
            </a:r>
            <a:r>
              <a:rPr lang="en-US" dirty="0" err="1">
                <a:latin typeface="Candara" panose="020E0502030303020204" pitchFamily="34" charset="0"/>
                <a:ea typeface="Arial" charset="0"/>
                <a:cs typeface="Arial" charset="0"/>
              </a:rPr>
              <a:t>mov</a:t>
            </a:r>
            <a:r>
              <a:rPr lang="en-US" dirty="0">
                <a:latin typeface="Candara" panose="020E0502030303020204" pitchFamily="34" charset="0"/>
                <a:ea typeface="Arial" charset="0"/>
                <a:cs typeface="Arial" charset="0"/>
              </a:rPr>
              <a:t> %</a:t>
            </a:r>
            <a:r>
              <a:rPr lang="en-US" dirty="0" err="1">
                <a:latin typeface="Candara" panose="020E0502030303020204" pitchFamily="34" charset="0"/>
                <a:ea typeface="Arial" charset="0"/>
                <a:cs typeface="Arial" charset="0"/>
              </a:rPr>
              <a:t>eax</a:t>
            </a:r>
            <a:r>
              <a:rPr lang="en-US" dirty="0">
                <a:latin typeface="Candara" panose="020E0502030303020204" pitchFamily="34" charset="0"/>
                <a:ea typeface="Arial" charset="0"/>
                <a:cs typeface="Arial" charset="0"/>
              </a:rPr>
              <a:t>, 0x8049a1c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9619" y="76200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ndara" panose="020E0502030303020204" pitchFamily="34" charset="0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81407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Simulation: x86.py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./x86.py -p </a:t>
            </a:r>
            <a:r>
              <a:rPr lang="pl-PL" dirty="0" err="1"/>
              <a:t>simple-race.s</a:t>
            </a:r>
            <a:r>
              <a:rPr lang="pl-PL" dirty="0"/>
              <a:t> -t 1 </a:t>
            </a:r>
          </a:p>
          <a:p>
            <a:r>
              <a:rPr lang="pl-PL" dirty="0"/>
              <a:t>./x86.py -p </a:t>
            </a:r>
            <a:r>
              <a:rPr lang="pl-PL" dirty="0" err="1"/>
              <a:t>simple-race.s</a:t>
            </a:r>
            <a:r>
              <a:rPr lang="pl-PL" dirty="0"/>
              <a:t> -t 1 -M 2000 -R </a:t>
            </a:r>
            <a:r>
              <a:rPr lang="pl-PL" dirty="0" err="1"/>
              <a:t>ax,bx</a:t>
            </a:r>
            <a:endParaRPr lang="pl-PL" dirty="0"/>
          </a:p>
          <a:p>
            <a:r>
              <a:rPr lang="en-US" dirty="0"/>
              <a:t>./x86.py -p </a:t>
            </a:r>
            <a:r>
              <a:rPr lang="en-US" dirty="0" err="1"/>
              <a:t>loop.s</a:t>
            </a:r>
            <a:r>
              <a:rPr lang="en-US" dirty="0"/>
              <a:t> -t 1 -a dx=3 -R dx -C -c</a:t>
            </a:r>
          </a:p>
          <a:p>
            <a:r>
              <a:rPr lang="en-US" dirty="0"/>
              <a:t>./x86.py -p looping-race-</a:t>
            </a:r>
            <a:r>
              <a:rPr lang="en-US" dirty="0" err="1"/>
              <a:t>nolock.s</a:t>
            </a:r>
            <a:r>
              <a:rPr lang="en-US" dirty="0"/>
              <a:t> -t 2 -a </a:t>
            </a:r>
            <a:r>
              <a:rPr lang="en-US" dirty="0" err="1"/>
              <a:t>bx</a:t>
            </a:r>
            <a:r>
              <a:rPr lang="en-US" dirty="0"/>
              <a:t>=1 -M 2000 -c</a:t>
            </a:r>
          </a:p>
          <a:p>
            <a:r>
              <a:rPr lang="en-US" dirty="0"/>
              <a:t>./x86.py -p looping-race-</a:t>
            </a:r>
            <a:r>
              <a:rPr lang="en-US" dirty="0" err="1"/>
              <a:t>nolock.s</a:t>
            </a:r>
            <a:r>
              <a:rPr lang="en-US" dirty="0"/>
              <a:t> -t 2 -a </a:t>
            </a:r>
            <a:r>
              <a:rPr lang="en-US" dirty="0" err="1"/>
              <a:t>bx</a:t>
            </a:r>
            <a:r>
              <a:rPr lang="en-US" dirty="0"/>
              <a:t>=1 -M 2000 –</a:t>
            </a:r>
            <a:r>
              <a:rPr lang="en-US" dirty="0" err="1"/>
              <a:t>i</a:t>
            </a:r>
            <a:r>
              <a:rPr lang="en-US" dirty="0"/>
              <a:t>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87FFC-078E-4C4B-89AA-8D6C025FC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FD6249-C7C5-4B3B-BA06-9285785055F3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726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70D29C-D432-4CF5-8673-EA76867D9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FD6249-C7C5-4B3B-BA06-9285785055F3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895600" y="1066800"/>
            <a:ext cx="7391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./x86.py -p looping-race-</a:t>
            </a:r>
            <a:r>
              <a:rPr lang="en-US" dirty="0" err="1">
                <a:solidFill>
                  <a:srgbClr val="FF0000"/>
                </a:solidFill>
                <a:latin typeface="Candara" panose="020E0502030303020204" pitchFamily="34" charset="0"/>
              </a:rPr>
              <a:t>nolock.s</a:t>
            </a:r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 -t 2 -a </a:t>
            </a:r>
            <a:r>
              <a:rPr lang="en-US" dirty="0" err="1">
                <a:solidFill>
                  <a:srgbClr val="FF0000"/>
                </a:solidFill>
                <a:latin typeface="Candara" panose="020E0502030303020204" pitchFamily="34" charset="0"/>
              </a:rPr>
              <a:t>bx</a:t>
            </a:r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=1 -M 2000 -R </a:t>
            </a:r>
            <a:r>
              <a:rPr lang="en-US" dirty="0" err="1">
                <a:solidFill>
                  <a:srgbClr val="FF0000"/>
                </a:solidFill>
                <a:latin typeface="Candara" panose="020E0502030303020204" pitchFamily="34" charset="0"/>
              </a:rPr>
              <a:t>ax,bx</a:t>
            </a:r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 -</a:t>
            </a:r>
            <a:r>
              <a:rPr lang="en-US" dirty="0" err="1">
                <a:solidFill>
                  <a:srgbClr val="FF0000"/>
                </a:solidFill>
                <a:latin typeface="Candara" panose="020E0502030303020204" pitchFamily="34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 3</a:t>
            </a:r>
          </a:p>
        </p:txBody>
      </p:sp>
      <p:sp>
        <p:nvSpPr>
          <p:cNvPr id="8" name="Rectangle 7"/>
          <p:cNvSpPr/>
          <p:nvPr/>
        </p:nvSpPr>
        <p:spPr>
          <a:xfrm>
            <a:off x="1524000" y="1595020"/>
            <a:ext cx="906780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Menlo"/>
                <a:ea typeface="Menlo"/>
                <a:cs typeface="Menlo"/>
              </a:rPr>
              <a:t> 2000      ax    bx          Thread 0              Thread 1         </a:t>
            </a:r>
          </a:p>
          <a:p>
            <a:r>
              <a:rPr lang="en-US" sz="1400" dirty="0">
                <a:latin typeface="Menlo"/>
                <a:ea typeface="Menlo"/>
                <a:cs typeface="Menlo"/>
              </a:rPr>
              <a:t>    0       0     1   </a:t>
            </a:r>
          </a:p>
          <a:p>
            <a:r>
              <a:rPr lang="en-US" sz="1400" dirty="0">
                <a:latin typeface="Menlo"/>
                <a:ea typeface="Menlo"/>
                <a:cs typeface="Menlo"/>
              </a:rPr>
              <a:t>    ?       ?     ?   1000 </a:t>
            </a:r>
            <a:r>
              <a:rPr lang="en-US" sz="1400" dirty="0" err="1">
                <a:latin typeface="Menlo"/>
                <a:ea typeface="Menlo"/>
                <a:cs typeface="Menlo"/>
              </a:rPr>
              <a:t>mov</a:t>
            </a:r>
            <a:r>
              <a:rPr lang="en-US" sz="1400" dirty="0">
                <a:latin typeface="Menlo"/>
                <a:ea typeface="Menlo"/>
                <a:cs typeface="Menlo"/>
              </a:rPr>
              <a:t> 2000, %ax</a:t>
            </a:r>
          </a:p>
          <a:p>
            <a:r>
              <a:rPr lang="en-US" sz="1400" dirty="0">
                <a:latin typeface="Menlo"/>
                <a:ea typeface="Menlo"/>
                <a:cs typeface="Menlo"/>
              </a:rPr>
              <a:t>    ?       ?     ?   1001 add $1, %ax</a:t>
            </a:r>
          </a:p>
          <a:p>
            <a:r>
              <a:rPr lang="en-US" sz="1400" dirty="0">
                <a:latin typeface="Menlo"/>
                <a:ea typeface="Menlo"/>
                <a:cs typeface="Menlo"/>
              </a:rPr>
              <a:t>    ?       ?     ?   1002 </a:t>
            </a:r>
            <a:r>
              <a:rPr lang="en-US" sz="1400" dirty="0" err="1">
                <a:latin typeface="Menlo"/>
                <a:ea typeface="Menlo"/>
                <a:cs typeface="Menlo"/>
              </a:rPr>
              <a:t>mov</a:t>
            </a:r>
            <a:r>
              <a:rPr lang="en-US" sz="1400" dirty="0">
                <a:latin typeface="Menlo"/>
                <a:ea typeface="Menlo"/>
                <a:cs typeface="Menlo"/>
              </a:rPr>
              <a:t> %ax, 2000</a:t>
            </a:r>
          </a:p>
          <a:p>
            <a:r>
              <a:rPr lang="en-US" sz="1400" dirty="0">
                <a:latin typeface="Menlo"/>
                <a:ea typeface="Menlo"/>
                <a:cs typeface="Menlo"/>
              </a:rPr>
              <a:t>    ?       ?     ?   ------ Interrupt ------  ------ Interrupt ------  </a:t>
            </a:r>
          </a:p>
          <a:p>
            <a:r>
              <a:rPr lang="en-US" sz="1400" dirty="0">
                <a:latin typeface="Menlo"/>
                <a:ea typeface="Menlo"/>
                <a:cs typeface="Menlo"/>
              </a:rPr>
              <a:t>    ?       ?     ?                            1000 mov 2000, %ax</a:t>
            </a:r>
          </a:p>
          <a:p>
            <a:r>
              <a:rPr lang="en-US" sz="1400" dirty="0">
                <a:latin typeface="Menlo"/>
                <a:ea typeface="Menlo"/>
                <a:cs typeface="Menlo"/>
              </a:rPr>
              <a:t>    ?       ?     ?                            1001 add $1, %ax</a:t>
            </a:r>
          </a:p>
          <a:p>
            <a:r>
              <a:rPr lang="en-US" sz="1400" dirty="0">
                <a:latin typeface="Menlo"/>
                <a:ea typeface="Menlo"/>
                <a:cs typeface="Menlo"/>
              </a:rPr>
              <a:t>    ?       ?     ?                            1002 </a:t>
            </a:r>
            <a:r>
              <a:rPr lang="en-US" sz="1400" dirty="0" err="1">
                <a:latin typeface="Menlo"/>
                <a:ea typeface="Menlo"/>
                <a:cs typeface="Menlo"/>
              </a:rPr>
              <a:t>mov</a:t>
            </a:r>
            <a:r>
              <a:rPr lang="en-US" sz="1400" dirty="0">
                <a:latin typeface="Menlo"/>
                <a:ea typeface="Menlo"/>
                <a:cs typeface="Menlo"/>
              </a:rPr>
              <a:t> %ax, 2000</a:t>
            </a:r>
          </a:p>
          <a:p>
            <a:r>
              <a:rPr lang="en-US" sz="1400" dirty="0">
                <a:latin typeface="Menlo"/>
                <a:ea typeface="Menlo"/>
                <a:cs typeface="Menlo"/>
              </a:rPr>
              <a:t>    ?       ?     ?   ------ Interrupt ------  ------ Interrupt ------  </a:t>
            </a:r>
          </a:p>
          <a:p>
            <a:r>
              <a:rPr lang="en-US" sz="1400" dirty="0">
                <a:latin typeface="Menlo"/>
                <a:ea typeface="Menlo"/>
                <a:cs typeface="Menlo"/>
              </a:rPr>
              <a:t>    ?       ?     ?   1003 sub  $1, %</a:t>
            </a:r>
            <a:r>
              <a:rPr lang="en-US" sz="1400" dirty="0" err="1">
                <a:latin typeface="Menlo"/>
                <a:ea typeface="Menlo"/>
                <a:cs typeface="Menlo"/>
              </a:rPr>
              <a:t>bx</a:t>
            </a:r>
            <a:endParaRPr lang="en-US" sz="1400" dirty="0">
              <a:latin typeface="Menlo"/>
              <a:ea typeface="Menlo"/>
              <a:cs typeface="Menlo"/>
            </a:endParaRPr>
          </a:p>
          <a:p>
            <a:r>
              <a:rPr lang="en-US" sz="1400" dirty="0">
                <a:latin typeface="Menlo"/>
                <a:ea typeface="Menlo"/>
                <a:cs typeface="Menlo"/>
              </a:rPr>
              <a:t>    ?       ?     ?   1004 test $0, %</a:t>
            </a:r>
            <a:r>
              <a:rPr lang="en-US" sz="1400" dirty="0" err="1">
                <a:latin typeface="Menlo"/>
                <a:ea typeface="Menlo"/>
                <a:cs typeface="Menlo"/>
              </a:rPr>
              <a:t>bx</a:t>
            </a:r>
            <a:endParaRPr lang="en-US" sz="1400" dirty="0">
              <a:latin typeface="Menlo"/>
              <a:ea typeface="Menlo"/>
              <a:cs typeface="Menlo"/>
            </a:endParaRPr>
          </a:p>
          <a:p>
            <a:r>
              <a:rPr lang="en-US" sz="1400" dirty="0">
                <a:latin typeface="Menlo"/>
                <a:ea typeface="Menlo"/>
                <a:cs typeface="Menlo"/>
              </a:rPr>
              <a:t>    ?       ?     ?   1005 </a:t>
            </a:r>
            <a:r>
              <a:rPr lang="en-US" sz="1400" dirty="0" err="1">
                <a:latin typeface="Menlo"/>
                <a:ea typeface="Menlo"/>
                <a:cs typeface="Menlo"/>
              </a:rPr>
              <a:t>jgt</a:t>
            </a:r>
            <a:r>
              <a:rPr lang="en-US" sz="1400" dirty="0">
                <a:latin typeface="Menlo"/>
                <a:ea typeface="Menlo"/>
                <a:cs typeface="Menlo"/>
              </a:rPr>
              <a:t> .top</a:t>
            </a:r>
          </a:p>
          <a:p>
            <a:r>
              <a:rPr lang="en-US" sz="1400" dirty="0">
                <a:latin typeface="Menlo"/>
                <a:ea typeface="Menlo"/>
                <a:cs typeface="Menlo"/>
              </a:rPr>
              <a:t>    ?       ?     ?   ------ Interrupt ------  ------ Interrupt ------  </a:t>
            </a:r>
          </a:p>
          <a:p>
            <a:r>
              <a:rPr lang="en-US" sz="1400" dirty="0">
                <a:latin typeface="Menlo"/>
                <a:ea typeface="Menlo"/>
                <a:cs typeface="Menlo"/>
              </a:rPr>
              <a:t>    ?       ?     ?                            1003 sub  $1, %</a:t>
            </a:r>
            <a:r>
              <a:rPr lang="en-US" sz="1400" dirty="0" err="1">
                <a:latin typeface="Menlo"/>
                <a:ea typeface="Menlo"/>
                <a:cs typeface="Menlo"/>
              </a:rPr>
              <a:t>bx</a:t>
            </a:r>
            <a:endParaRPr lang="en-US" sz="1400" dirty="0">
              <a:latin typeface="Menlo"/>
              <a:ea typeface="Menlo"/>
              <a:cs typeface="Menlo"/>
            </a:endParaRPr>
          </a:p>
          <a:p>
            <a:r>
              <a:rPr lang="en-US" sz="1400" dirty="0">
                <a:latin typeface="Menlo"/>
                <a:ea typeface="Menlo"/>
                <a:cs typeface="Menlo"/>
              </a:rPr>
              <a:t>    ?       ?     ?                            1004 test $0, %</a:t>
            </a:r>
            <a:r>
              <a:rPr lang="en-US" sz="1400" dirty="0" err="1">
                <a:latin typeface="Menlo"/>
                <a:ea typeface="Menlo"/>
                <a:cs typeface="Menlo"/>
              </a:rPr>
              <a:t>bx</a:t>
            </a:r>
            <a:endParaRPr lang="en-US" sz="1400" dirty="0">
              <a:latin typeface="Menlo"/>
              <a:ea typeface="Menlo"/>
              <a:cs typeface="Menlo"/>
            </a:endParaRPr>
          </a:p>
          <a:p>
            <a:r>
              <a:rPr lang="en-US" sz="1400" dirty="0">
                <a:latin typeface="Menlo"/>
                <a:ea typeface="Menlo"/>
                <a:cs typeface="Menlo"/>
              </a:rPr>
              <a:t>    ?       ?     ?                            1005 </a:t>
            </a:r>
            <a:r>
              <a:rPr lang="en-US" sz="1400" dirty="0" err="1">
                <a:latin typeface="Menlo"/>
                <a:ea typeface="Menlo"/>
                <a:cs typeface="Menlo"/>
              </a:rPr>
              <a:t>jgt</a:t>
            </a:r>
            <a:r>
              <a:rPr lang="en-US" sz="1400" dirty="0">
                <a:latin typeface="Menlo"/>
                <a:ea typeface="Menlo"/>
                <a:cs typeface="Menlo"/>
              </a:rPr>
              <a:t> .top</a:t>
            </a:r>
          </a:p>
          <a:p>
            <a:r>
              <a:rPr lang="en-US" sz="1400" dirty="0">
                <a:latin typeface="Menlo"/>
                <a:ea typeface="Menlo"/>
                <a:cs typeface="Menlo"/>
              </a:rPr>
              <a:t>    ?       ?     ?   ------ Interrupt ------  ------ Interrupt ------  </a:t>
            </a:r>
          </a:p>
          <a:p>
            <a:r>
              <a:rPr lang="en-US" sz="1400" dirty="0">
                <a:latin typeface="Menlo"/>
                <a:ea typeface="Menlo"/>
                <a:cs typeface="Menlo"/>
              </a:rPr>
              <a:t>    ?       ?     ?   1006 halt</a:t>
            </a:r>
          </a:p>
          <a:p>
            <a:r>
              <a:rPr lang="en-US" sz="1400" dirty="0">
                <a:latin typeface="Menlo"/>
                <a:ea typeface="Menlo"/>
                <a:cs typeface="Menlo"/>
              </a:rPr>
              <a:t>    ?       ?     ?   ----- </a:t>
            </a:r>
            <a:r>
              <a:rPr lang="en-US" sz="1400" dirty="0" err="1">
                <a:latin typeface="Menlo"/>
                <a:ea typeface="Menlo"/>
                <a:cs typeface="Menlo"/>
              </a:rPr>
              <a:t>Halt;Switch</a:t>
            </a:r>
            <a:r>
              <a:rPr lang="en-US" sz="1400" dirty="0">
                <a:latin typeface="Menlo"/>
                <a:ea typeface="Menlo"/>
                <a:cs typeface="Menlo"/>
              </a:rPr>
              <a:t> -----  ----- </a:t>
            </a:r>
            <a:r>
              <a:rPr lang="en-US" sz="1400" dirty="0" err="1">
                <a:latin typeface="Menlo"/>
                <a:ea typeface="Menlo"/>
                <a:cs typeface="Menlo"/>
              </a:rPr>
              <a:t>Halt;Switch</a:t>
            </a:r>
            <a:r>
              <a:rPr lang="en-US" sz="1400" dirty="0">
                <a:latin typeface="Menlo"/>
                <a:ea typeface="Menlo"/>
                <a:cs typeface="Menlo"/>
              </a:rPr>
              <a:t> -----  </a:t>
            </a:r>
          </a:p>
          <a:p>
            <a:r>
              <a:rPr lang="en-US" sz="1400" dirty="0">
                <a:latin typeface="Menlo"/>
                <a:ea typeface="Menlo"/>
                <a:cs typeface="Menlo"/>
              </a:rPr>
              <a:t>    ?       ?     ?                            1006 halt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16217402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7227D3-91E0-4040-B318-E986AC2B3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FD6249-C7C5-4B3B-BA06-9285785055F3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895600" y="1066800"/>
            <a:ext cx="7391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./x86.py -p looping-race-</a:t>
            </a:r>
            <a:r>
              <a:rPr lang="en-US" dirty="0" err="1">
                <a:solidFill>
                  <a:srgbClr val="FF0000"/>
                </a:solidFill>
                <a:latin typeface="Candara" panose="020E0502030303020204" pitchFamily="34" charset="0"/>
              </a:rPr>
              <a:t>nolock.s</a:t>
            </a:r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 -t 2 -a </a:t>
            </a:r>
            <a:r>
              <a:rPr lang="en-US" dirty="0" err="1">
                <a:solidFill>
                  <a:srgbClr val="FF0000"/>
                </a:solidFill>
                <a:latin typeface="Candara" panose="020E0502030303020204" pitchFamily="34" charset="0"/>
              </a:rPr>
              <a:t>bx</a:t>
            </a:r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=1 -M 2000 -R </a:t>
            </a:r>
            <a:r>
              <a:rPr lang="en-US" dirty="0" err="1">
                <a:solidFill>
                  <a:srgbClr val="FF0000"/>
                </a:solidFill>
                <a:latin typeface="Candara" panose="020E0502030303020204" pitchFamily="34" charset="0"/>
              </a:rPr>
              <a:t>ax,bx</a:t>
            </a:r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 -</a:t>
            </a:r>
            <a:r>
              <a:rPr lang="en-US" dirty="0" err="1">
                <a:solidFill>
                  <a:srgbClr val="FF0000"/>
                </a:solidFill>
                <a:latin typeface="Candara" panose="020E0502030303020204" pitchFamily="34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 3</a:t>
            </a:r>
          </a:p>
        </p:txBody>
      </p:sp>
      <p:sp>
        <p:nvSpPr>
          <p:cNvPr id="8" name="Rectangle 7"/>
          <p:cNvSpPr/>
          <p:nvPr/>
        </p:nvSpPr>
        <p:spPr>
          <a:xfrm>
            <a:off x="1524000" y="1595020"/>
            <a:ext cx="906780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2000      ax    bx          Thread 0              Thread 1         </a:t>
            </a:r>
          </a:p>
          <a:p>
            <a:r>
              <a:rPr lang="en-US" sz="1400" dirty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0       0     1   </a:t>
            </a:r>
          </a:p>
          <a:p>
            <a:r>
              <a:rPr lang="en-US" sz="1400" dirty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0       0     1   1000 </a:t>
            </a:r>
            <a:r>
              <a:rPr lang="en-US" sz="1400" dirty="0" err="1">
                <a:solidFill>
                  <a:srgbClr val="000000"/>
                </a:solidFill>
                <a:latin typeface="Menlo"/>
                <a:ea typeface="Menlo"/>
                <a:cs typeface="Menlo"/>
              </a:rPr>
              <a:t>mov</a:t>
            </a:r>
            <a:r>
              <a:rPr lang="en-US" sz="1400" dirty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2000, %ax</a:t>
            </a:r>
          </a:p>
          <a:p>
            <a:r>
              <a:rPr lang="en-US" sz="1400" dirty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0       1     1   1001 add $1, %ax</a:t>
            </a:r>
          </a:p>
          <a:p>
            <a:r>
              <a:rPr lang="en-US" sz="1400" dirty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1       1     1   1002 </a:t>
            </a:r>
            <a:r>
              <a:rPr lang="en-US" sz="1400" dirty="0" err="1">
                <a:solidFill>
                  <a:srgbClr val="000000"/>
                </a:solidFill>
                <a:latin typeface="Menlo"/>
                <a:ea typeface="Menlo"/>
                <a:cs typeface="Menlo"/>
              </a:rPr>
              <a:t>mov</a:t>
            </a:r>
            <a:r>
              <a:rPr lang="en-US" sz="1400" dirty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%ax, 2000</a:t>
            </a:r>
          </a:p>
          <a:p>
            <a:r>
              <a:rPr lang="en-US" sz="1400" dirty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1       0     1   ------ Interrupt ------  ------ Interrupt ------  </a:t>
            </a:r>
          </a:p>
          <a:p>
            <a:r>
              <a:rPr lang="en-US" sz="1400" dirty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1       1     1                            1000 mov 2000, %ax</a:t>
            </a:r>
          </a:p>
          <a:p>
            <a:r>
              <a:rPr lang="en-US" sz="1400" dirty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1       2     1                            1001 add $1, %ax</a:t>
            </a:r>
          </a:p>
          <a:p>
            <a:r>
              <a:rPr lang="en-US" sz="1400" dirty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2       2     1                            1002 mov %ax, 2000</a:t>
            </a:r>
          </a:p>
          <a:p>
            <a:r>
              <a:rPr lang="en-US" sz="1400" dirty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2       1     1   ------ Interrupt ------  ------ Interrupt ------  </a:t>
            </a:r>
          </a:p>
          <a:p>
            <a:r>
              <a:rPr lang="en-US" sz="1400" dirty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2       1     0   1003 sub  $1, %</a:t>
            </a:r>
            <a:r>
              <a:rPr lang="en-US" sz="1400" dirty="0" err="1">
                <a:solidFill>
                  <a:srgbClr val="000000"/>
                </a:solidFill>
                <a:latin typeface="Menlo"/>
                <a:ea typeface="Menlo"/>
                <a:cs typeface="Menlo"/>
              </a:rPr>
              <a:t>bx</a:t>
            </a:r>
            <a:endParaRPr lang="en-US" sz="1400" dirty="0">
              <a:solidFill>
                <a:srgbClr val="000000"/>
              </a:solidFill>
              <a:latin typeface="Menlo"/>
              <a:ea typeface="Menlo"/>
              <a:cs typeface="Menlo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2       1     0   1004 test $0, %</a:t>
            </a:r>
            <a:r>
              <a:rPr lang="en-US" sz="1400" dirty="0" err="1">
                <a:solidFill>
                  <a:srgbClr val="000000"/>
                </a:solidFill>
                <a:latin typeface="Menlo"/>
                <a:ea typeface="Menlo"/>
                <a:cs typeface="Menlo"/>
              </a:rPr>
              <a:t>bx</a:t>
            </a:r>
            <a:endParaRPr lang="en-US" sz="1400" dirty="0">
              <a:solidFill>
                <a:srgbClr val="000000"/>
              </a:solidFill>
              <a:latin typeface="Menlo"/>
              <a:ea typeface="Menlo"/>
              <a:cs typeface="Menlo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2       1     0   1005 </a:t>
            </a:r>
            <a:r>
              <a:rPr lang="en-US" sz="1400" dirty="0" err="1">
                <a:solidFill>
                  <a:srgbClr val="000000"/>
                </a:solidFill>
                <a:latin typeface="Menlo"/>
                <a:ea typeface="Menlo"/>
                <a:cs typeface="Menlo"/>
              </a:rPr>
              <a:t>jgt</a:t>
            </a:r>
            <a:r>
              <a:rPr lang="en-US" sz="1400" dirty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.top</a:t>
            </a:r>
          </a:p>
          <a:p>
            <a:r>
              <a:rPr lang="en-US" sz="1400" dirty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2       2     1   ------ Interrupt ------  ------ Interrupt ------  </a:t>
            </a:r>
          </a:p>
          <a:p>
            <a:r>
              <a:rPr lang="en-US" sz="1400" dirty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2       2     0                            1003 sub  $1, %bx</a:t>
            </a:r>
          </a:p>
          <a:p>
            <a:r>
              <a:rPr lang="en-US" sz="1400" dirty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2       2     0                            1004 test $0, %bx</a:t>
            </a:r>
          </a:p>
          <a:p>
            <a:r>
              <a:rPr lang="en-US" sz="1400" dirty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2       2     0                            1005 </a:t>
            </a:r>
            <a:r>
              <a:rPr lang="en-US" sz="1400" dirty="0" err="1">
                <a:solidFill>
                  <a:srgbClr val="000000"/>
                </a:solidFill>
                <a:latin typeface="Menlo"/>
                <a:ea typeface="Menlo"/>
                <a:cs typeface="Menlo"/>
              </a:rPr>
              <a:t>jgt</a:t>
            </a:r>
            <a:r>
              <a:rPr lang="en-US" sz="1400" dirty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.top</a:t>
            </a:r>
          </a:p>
          <a:p>
            <a:r>
              <a:rPr lang="en-US" sz="1400" dirty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2       1     0   ------ Interrupt ------  ------ Interrupt ------  </a:t>
            </a:r>
          </a:p>
          <a:p>
            <a:r>
              <a:rPr lang="en-US" sz="1400" dirty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2       1     0   1006 halt</a:t>
            </a:r>
          </a:p>
          <a:p>
            <a:r>
              <a:rPr lang="en-US" sz="1400" dirty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2       2     0   ----- </a:t>
            </a:r>
            <a:r>
              <a:rPr lang="en-US" sz="1400" dirty="0" err="1">
                <a:solidFill>
                  <a:srgbClr val="000000"/>
                </a:solidFill>
                <a:latin typeface="Menlo"/>
                <a:ea typeface="Menlo"/>
                <a:cs typeface="Menlo"/>
              </a:rPr>
              <a:t>Halt;Switch</a:t>
            </a:r>
            <a:r>
              <a:rPr lang="en-US" sz="1400" dirty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-----  ----- </a:t>
            </a:r>
            <a:r>
              <a:rPr lang="en-US" sz="1400" dirty="0" err="1">
                <a:solidFill>
                  <a:srgbClr val="000000"/>
                </a:solidFill>
                <a:latin typeface="Menlo"/>
                <a:ea typeface="Menlo"/>
                <a:cs typeface="Menlo"/>
              </a:rPr>
              <a:t>Halt;Switch</a:t>
            </a:r>
            <a:r>
              <a:rPr lang="en-US" sz="1400" dirty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-----  </a:t>
            </a:r>
          </a:p>
          <a:p>
            <a:r>
              <a:rPr lang="en-US" sz="1400" dirty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   2       2     0                            1006 halt</a:t>
            </a:r>
            <a:endParaRPr lang="de-DE" sz="1400" dirty="0">
              <a:solidFill>
                <a:srgbClr val="000000"/>
              </a:solidFill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1981200" y="2057400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1981200" y="2271183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1981200" y="2484966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1981200" y="2698749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981200" y="2912532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981200" y="3126315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1981200" y="3340098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1981200" y="3553881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981200" y="3767664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1981200" y="3981447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1981200" y="4195230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1981200" y="4409013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1981200" y="4622796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1981200" y="4836579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1981200" y="5050362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1981200" y="5264145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1981200" y="5691711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1981200" y="5905500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F01EB0-3ACC-274F-A0BE-5A1E7CB53E4B}"/>
              </a:ext>
            </a:extLst>
          </p:cNvPr>
          <p:cNvSpPr/>
          <p:nvPr/>
        </p:nvSpPr>
        <p:spPr bwMode="auto">
          <a:xfrm>
            <a:off x="1981200" y="5477928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018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82A42B-FE3E-4AA6-A88D-F2FAFFCB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FD6249-C7C5-4B3B-BA06-9285785055F3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895600" y="1066800"/>
            <a:ext cx="7391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./x86.py -p looping-race-</a:t>
            </a:r>
            <a:r>
              <a:rPr lang="en-US" dirty="0" err="1">
                <a:solidFill>
                  <a:srgbClr val="FF0000"/>
                </a:solidFill>
                <a:latin typeface="Candara" panose="020E0502030303020204" pitchFamily="34" charset="0"/>
              </a:rPr>
              <a:t>nolock.s</a:t>
            </a:r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 -t 2 -a </a:t>
            </a:r>
            <a:r>
              <a:rPr lang="en-US" dirty="0" err="1">
                <a:solidFill>
                  <a:srgbClr val="FF0000"/>
                </a:solidFill>
                <a:latin typeface="Candara" panose="020E0502030303020204" pitchFamily="34" charset="0"/>
              </a:rPr>
              <a:t>bx</a:t>
            </a:r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=0 -M 2000 -R </a:t>
            </a:r>
            <a:r>
              <a:rPr lang="en-US" dirty="0" err="1">
                <a:solidFill>
                  <a:srgbClr val="FF0000"/>
                </a:solidFill>
                <a:latin typeface="Candara" panose="020E0502030303020204" pitchFamily="34" charset="0"/>
              </a:rPr>
              <a:t>ax,bx</a:t>
            </a:r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 -</a:t>
            </a:r>
            <a:r>
              <a:rPr lang="en-US" dirty="0" err="1">
                <a:solidFill>
                  <a:srgbClr val="FF0000"/>
                </a:solidFill>
                <a:latin typeface="Candara" panose="020E0502030303020204" pitchFamily="34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 3</a:t>
            </a:r>
          </a:p>
        </p:txBody>
      </p:sp>
      <p:sp>
        <p:nvSpPr>
          <p:cNvPr id="8" name="Rectangle 7"/>
          <p:cNvSpPr/>
          <p:nvPr/>
        </p:nvSpPr>
        <p:spPr>
          <a:xfrm>
            <a:off x="1524000" y="1595020"/>
            <a:ext cx="906780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Menlo"/>
                <a:ea typeface="Menlo"/>
                <a:cs typeface="Menlo"/>
              </a:rPr>
              <a:t> 2000      ax    bx          Thread 0             Thread 1         </a:t>
            </a:r>
          </a:p>
          <a:p>
            <a:r>
              <a:rPr lang="en-US" sz="1400" dirty="0">
                <a:latin typeface="Menlo"/>
                <a:ea typeface="Menlo"/>
                <a:cs typeface="Menlo"/>
              </a:rPr>
              <a:t>    0       0     0   </a:t>
            </a:r>
          </a:p>
          <a:p>
            <a:r>
              <a:rPr lang="sk-SK" sz="1400" dirty="0">
                <a:latin typeface="Menlo"/>
                <a:ea typeface="Menlo"/>
                <a:cs typeface="Menlo"/>
              </a:rPr>
              <a:t>    ?       ?     ?   1000 mov 2000, %ax</a:t>
            </a:r>
          </a:p>
          <a:p>
            <a:r>
              <a:rPr lang="sk-SK" sz="1400" dirty="0">
                <a:latin typeface="Menlo"/>
                <a:ea typeface="Menlo"/>
                <a:cs typeface="Menlo"/>
              </a:rPr>
              <a:t>    ?       ?     ?   1001 add $1, %ax</a:t>
            </a:r>
          </a:p>
          <a:p>
            <a:r>
              <a:rPr lang="sk-SK" sz="1400" dirty="0">
                <a:latin typeface="Menlo"/>
                <a:ea typeface="Menlo"/>
                <a:cs typeface="Menlo"/>
              </a:rPr>
              <a:t>    ?       ?     ?   1002 mov %ax, 2000</a:t>
            </a:r>
          </a:p>
          <a:p>
            <a:r>
              <a:rPr lang="sk-SK" sz="1400" dirty="0">
                <a:latin typeface="Menlo"/>
                <a:ea typeface="Menlo"/>
                <a:cs typeface="Menlo"/>
              </a:rPr>
              <a:t>    ?       ?     ?   ------ Interrupt ------  ------ Interrupt ------  </a:t>
            </a:r>
          </a:p>
          <a:p>
            <a:r>
              <a:rPr lang="sk-SK" sz="1400" dirty="0">
                <a:latin typeface="Menlo"/>
                <a:ea typeface="Menlo"/>
                <a:cs typeface="Menlo"/>
              </a:rPr>
              <a:t>    ?       ?     ?                         </a:t>
            </a:r>
            <a:r>
              <a:rPr lang="en-US" sz="1400" dirty="0">
                <a:latin typeface="Menlo"/>
                <a:ea typeface="Menlo"/>
                <a:cs typeface="Menlo"/>
              </a:rPr>
              <a:t> </a:t>
            </a:r>
            <a:r>
              <a:rPr lang="sk-SK" sz="1400" dirty="0">
                <a:latin typeface="Menlo"/>
                <a:ea typeface="Menlo"/>
                <a:cs typeface="Menlo"/>
              </a:rPr>
              <a:t>  1000 mov 2000, %ax</a:t>
            </a:r>
          </a:p>
          <a:p>
            <a:r>
              <a:rPr lang="sk-SK" sz="1400" dirty="0">
                <a:latin typeface="Menlo"/>
                <a:ea typeface="Menlo"/>
                <a:cs typeface="Menlo"/>
              </a:rPr>
              <a:t>    ?       ?     ?                         </a:t>
            </a:r>
            <a:r>
              <a:rPr lang="en-US" sz="1400" dirty="0">
                <a:latin typeface="Menlo"/>
                <a:ea typeface="Menlo"/>
                <a:cs typeface="Menlo"/>
              </a:rPr>
              <a:t>  </a:t>
            </a:r>
            <a:r>
              <a:rPr lang="sk-SK" sz="1400" dirty="0">
                <a:latin typeface="Menlo"/>
                <a:ea typeface="Menlo"/>
                <a:cs typeface="Menlo"/>
              </a:rPr>
              <a:t> 1001 add $1, %ax</a:t>
            </a:r>
          </a:p>
          <a:p>
            <a:r>
              <a:rPr lang="sk-SK" sz="1400" dirty="0">
                <a:latin typeface="Menlo"/>
                <a:ea typeface="Menlo"/>
                <a:cs typeface="Menlo"/>
              </a:rPr>
              <a:t>    ?       ?     ?                         </a:t>
            </a:r>
            <a:r>
              <a:rPr lang="en-US" sz="1400" dirty="0">
                <a:latin typeface="Menlo"/>
                <a:ea typeface="Menlo"/>
                <a:cs typeface="Menlo"/>
              </a:rPr>
              <a:t>  </a:t>
            </a:r>
            <a:r>
              <a:rPr lang="sk-SK" sz="1400" dirty="0">
                <a:latin typeface="Menlo"/>
                <a:ea typeface="Menlo"/>
                <a:cs typeface="Menlo"/>
              </a:rPr>
              <a:t> 1002 mov %ax, 2000</a:t>
            </a:r>
          </a:p>
          <a:p>
            <a:r>
              <a:rPr lang="sk-SK" sz="1400" dirty="0">
                <a:latin typeface="Menlo"/>
                <a:ea typeface="Menlo"/>
                <a:cs typeface="Menlo"/>
              </a:rPr>
              <a:t>    ?       ?     ?   ------ Interrupt ------  ------ Interrupt ------  </a:t>
            </a:r>
          </a:p>
          <a:p>
            <a:r>
              <a:rPr lang="sk-SK" sz="1400" dirty="0">
                <a:latin typeface="Menlo"/>
                <a:ea typeface="Menlo"/>
                <a:cs typeface="Menlo"/>
              </a:rPr>
              <a:t>    ?       ?     ?   1003 sub  $1, %bx</a:t>
            </a:r>
          </a:p>
          <a:p>
            <a:r>
              <a:rPr lang="sk-SK" sz="1400" dirty="0">
                <a:latin typeface="Menlo"/>
                <a:ea typeface="Menlo"/>
                <a:cs typeface="Menlo"/>
              </a:rPr>
              <a:t>    ?       ?     ?   1004 test $0, %bx</a:t>
            </a:r>
          </a:p>
          <a:p>
            <a:r>
              <a:rPr lang="sk-SK" sz="1400" dirty="0">
                <a:latin typeface="Menlo"/>
                <a:ea typeface="Menlo"/>
                <a:cs typeface="Menlo"/>
              </a:rPr>
              <a:t>    ?       ?     ?   1005 jgt .top</a:t>
            </a:r>
          </a:p>
          <a:p>
            <a:r>
              <a:rPr lang="sk-SK" sz="1400" dirty="0">
                <a:latin typeface="Menlo"/>
                <a:ea typeface="Menlo"/>
                <a:cs typeface="Menlo"/>
              </a:rPr>
              <a:t>    ?       ?     ?   ------ Interrupt ------  ------ Interrupt ------  </a:t>
            </a:r>
          </a:p>
          <a:p>
            <a:r>
              <a:rPr lang="sk-SK" sz="1400" dirty="0">
                <a:latin typeface="Menlo"/>
                <a:ea typeface="Menlo"/>
                <a:cs typeface="Menlo"/>
              </a:rPr>
              <a:t>    ?       ?     ?                        </a:t>
            </a:r>
            <a:r>
              <a:rPr lang="en-US" sz="1400" dirty="0">
                <a:latin typeface="Menlo"/>
                <a:ea typeface="Menlo"/>
                <a:cs typeface="Menlo"/>
              </a:rPr>
              <a:t> </a:t>
            </a:r>
            <a:r>
              <a:rPr lang="sk-SK" sz="1400" dirty="0">
                <a:latin typeface="Menlo"/>
                <a:ea typeface="Menlo"/>
                <a:cs typeface="Menlo"/>
              </a:rPr>
              <a:t>   1003 sub  $1, %bx</a:t>
            </a:r>
          </a:p>
          <a:p>
            <a:r>
              <a:rPr lang="sk-SK" sz="1400" dirty="0">
                <a:latin typeface="Menlo"/>
                <a:ea typeface="Menlo"/>
                <a:cs typeface="Menlo"/>
              </a:rPr>
              <a:t>    ?       ?     ?                    </a:t>
            </a:r>
            <a:r>
              <a:rPr lang="en-US" sz="1400" dirty="0">
                <a:latin typeface="Menlo"/>
                <a:ea typeface="Menlo"/>
                <a:cs typeface="Menlo"/>
              </a:rPr>
              <a:t>      </a:t>
            </a:r>
            <a:r>
              <a:rPr lang="sk-SK" sz="1400" dirty="0">
                <a:latin typeface="Menlo"/>
                <a:ea typeface="Menlo"/>
                <a:cs typeface="Menlo"/>
              </a:rPr>
              <a:t>  1004 test $0, %bx</a:t>
            </a:r>
          </a:p>
          <a:p>
            <a:r>
              <a:rPr lang="sk-SK" sz="1400" dirty="0">
                <a:latin typeface="Menlo"/>
                <a:ea typeface="Menlo"/>
                <a:cs typeface="Menlo"/>
              </a:rPr>
              <a:t>    ?       ?     ?                      </a:t>
            </a:r>
            <a:r>
              <a:rPr lang="en-US" sz="1400" dirty="0">
                <a:latin typeface="Menlo"/>
                <a:ea typeface="Menlo"/>
                <a:cs typeface="Menlo"/>
              </a:rPr>
              <a:t>      </a:t>
            </a:r>
            <a:r>
              <a:rPr lang="sk-SK" sz="1400" dirty="0">
                <a:latin typeface="Menlo"/>
                <a:ea typeface="Menlo"/>
                <a:cs typeface="Menlo"/>
              </a:rPr>
              <a:t>1005 jgt .top</a:t>
            </a:r>
          </a:p>
          <a:p>
            <a:r>
              <a:rPr lang="sk-SK" sz="1400" dirty="0">
                <a:latin typeface="Menlo"/>
                <a:ea typeface="Menlo"/>
                <a:cs typeface="Menlo"/>
              </a:rPr>
              <a:t>    ?       ?     ?   ------ Interrupt ------  ------ Interrupt ------  </a:t>
            </a:r>
          </a:p>
          <a:p>
            <a:r>
              <a:rPr lang="sk-SK" sz="1400" dirty="0">
                <a:latin typeface="Menlo"/>
                <a:ea typeface="Menlo"/>
                <a:cs typeface="Menlo"/>
              </a:rPr>
              <a:t>    ?       ?     ?   1006 halt</a:t>
            </a:r>
          </a:p>
          <a:p>
            <a:r>
              <a:rPr lang="sk-SK" sz="1400" dirty="0">
                <a:latin typeface="Menlo"/>
                <a:ea typeface="Menlo"/>
                <a:cs typeface="Menlo"/>
              </a:rPr>
              <a:t>    ?       ?     ?   ----- </a:t>
            </a:r>
            <a:r>
              <a:rPr lang="sk-SK" sz="1400" dirty="0" err="1">
                <a:latin typeface="Menlo"/>
                <a:ea typeface="Menlo"/>
                <a:cs typeface="Menlo"/>
              </a:rPr>
              <a:t>Halt;Switch</a:t>
            </a:r>
            <a:r>
              <a:rPr lang="sk-SK" sz="1400" dirty="0">
                <a:latin typeface="Menlo"/>
                <a:ea typeface="Menlo"/>
                <a:cs typeface="Menlo"/>
              </a:rPr>
              <a:t> -----  ----- Halt;Switch -----  </a:t>
            </a:r>
          </a:p>
          <a:p>
            <a:r>
              <a:rPr lang="sk-SK" sz="1400" dirty="0">
                <a:latin typeface="Menlo"/>
                <a:ea typeface="Menlo"/>
                <a:cs typeface="Menlo"/>
              </a:rPr>
              <a:t>    ?       ?     ?                        </a:t>
            </a:r>
            <a:r>
              <a:rPr lang="en-US" sz="1400" dirty="0">
                <a:latin typeface="Menlo"/>
                <a:ea typeface="Menlo"/>
                <a:cs typeface="Menlo"/>
              </a:rPr>
              <a:t>    </a:t>
            </a:r>
            <a:r>
              <a:rPr lang="sk-SK" sz="1400" dirty="0">
                <a:latin typeface="Menlo"/>
                <a:ea typeface="Menlo"/>
                <a:cs typeface="Menlo"/>
              </a:rPr>
              <a:t>1006 halt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19239957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Quiz: answer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940411-F04F-417D-BE40-D0F180977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FD6249-C7C5-4B3B-BA06-9285785055F3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895600" y="1066800"/>
            <a:ext cx="7391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./x86.py -p looping-race-</a:t>
            </a:r>
            <a:r>
              <a:rPr lang="en-US" dirty="0" err="1">
                <a:solidFill>
                  <a:srgbClr val="FF0000"/>
                </a:solidFill>
                <a:latin typeface="Candara" panose="020E0502030303020204" pitchFamily="34" charset="0"/>
              </a:rPr>
              <a:t>nolock.s</a:t>
            </a:r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 -t 2 -a </a:t>
            </a:r>
            <a:r>
              <a:rPr lang="en-US" dirty="0" err="1">
                <a:solidFill>
                  <a:srgbClr val="FF0000"/>
                </a:solidFill>
                <a:latin typeface="Candara" panose="020E0502030303020204" pitchFamily="34" charset="0"/>
              </a:rPr>
              <a:t>bx</a:t>
            </a:r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=0 -M 2000 -R </a:t>
            </a:r>
            <a:r>
              <a:rPr lang="en-US" dirty="0" err="1">
                <a:solidFill>
                  <a:srgbClr val="FF0000"/>
                </a:solidFill>
                <a:latin typeface="Candara" panose="020E0502030303020204" pitchFamily="34" charset="0"/>
              </a:rPr>
              <a:t>ax,bx</a:t>
            </a:r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 -</a:t>
            </a:r>
            <a:r>
              <a:rPr lang="en-US" dirty="0" err="1">
                <a:solidFill>
                  <a:srgbClr val="FF0000"/>
                </a:solidFill>
                <a:latin typeface="Candara" panose="020E0502030303020204" pitchFamily="34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 3</a:t>
            </a:r>
          </a:p>
        </p:txBody>
      </p:sp>
      <p:sp>
        <p:nvSpPr>
          <p:cNvPr id="8" name="Rectangle 7"/>
          <p:cNvSpPr/>
          <p:nvPr/>
        </p:nvSpPr>
        <p:spPr>
          <a:xfrm>
            <a:off x="1524000" y="1595020"/>
            <a:ext cx="906780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Menlo-Regular"/>
              </a:rPr>
              <a:t> 2000      ax    bx          Thread 0                Thread 1         </a:t>
            </a:r>
          </a:p>
          <a:p>
            <a:r>
              <a:rPr lang="en-US" sz="1400" dirty="0">
                <a:solidFill>
                  <a:srgbClr val="000000"/>
                </a:solidFill>
                <a:latin typeface="Menlo-Regular"/>
              </a:rPr>
              <a:t>    0       0     0   </a:t>
            </a:r>
          </a:p>
          <a:p>
            <a:r>
              <a:rPr lang="sk-SK" sz="1400" dirty="0">
                <a:solidFill>
                  <a:srgbClr val="000000"/>
                </a:solidFill>
                <a:latin typeface="Menlo-Regular"/>
              </a:rPr>
              <a:t>    0       0     0   1000 mov 2000, %ax</a:t>
            </a:r>
          </a:p>
          <a:p>
            <a:r>
              <a:rPr lang="en-US" sz="1400" dirty="0">
                <a:solidFill>
                  <a:srgbClr val="000000"/>
                </a:solidFill>
                <a:latin typeface="Menlo-Regular"/>
              </a:rPr>
              <a:t>    0       1     0   1001 add $1, %ax</a:t>
            </a:r>
          </a:p>
          <a:p>
            <a:r>
              <a:rPr lang="sk-SK" sz="1400" dirty="0">
                <a:solidFill>
                  <a:srgbClr val="000000"/>
                </a:solidFill>
                <a:latin typeface="Menlo-Regular"/>
              </a:rPr>
              <a:t>    1       1     0   1002 mov %ax, 2000</a:t>
            </a:r>
          </a:p>
          <a:p>
            <a:r>
              <a:rPr lang="de-DE" sz="1400" dirty="0">
                <a:solidFill>
                  <a:srgbClr val="000000"/>
                </a:solidFill>
                <a:latin typeface="Menlo-Regular"/>
              </a:rPr>
              <a:t>    1       0     0   ------ Interrupt ------  ------ Interrupt ------  </a:t>
            </a:r>
          </a:p>
          <a:p>
            <a:r>
              <a:rPr lang="sk-SK" sz="1400" dirty="0">
                <a:solidFill>
                  <a:srgbClr val="000000"/>
                </a:solidFill>
                <a:latin typeface="Menlo-Regular"/>
              </a:rPr>
              <a:t>    1       1     0                   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        </a:t>
            </a:r>
            <a:r>
              <a:rPr lang="sk-SK" sz="1400" dirty="0">
                <a:solidFill>
                  <a:srgbClr val="000000"/>
                </a:solidFill>
                <a:latin typeface="Menlo-Regular"/>
              </a:rPr>
              <a:t> 1000 mov 2000, %ax</a:t>
            </a:r>
          </a:p>
          <a:p>
            <a:r>
              <a:rPr lang="en-US" sz="1400" dirty="0">
                <a:solidFill>
                  <a:srgbClr val="000000"/>
                </a:solidFill>
                <a:latin typeface="Menlo-Regular"/>
              </a:rPr>
              <a:t>    1       2     0              </a:t>
            </a:r>
            <a:r>
              <a:rPr lang="sk-SK" sz="14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   </a:t>
            </a:r>
            <a:r>
              <a:rPr lang="sk-SK" sz="1400" dirty="0">
                <a:solidFill>
                  <a:srgbClr val="000000"/>
                </a:solidFill>
                <a:latin typeface="Menlo-Regular"/>
              </a:rPr>
              <a:t>  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        1001 add $1, %ax</a:t>
            </a:r>
          </a:p>
          <a:p>
            <a:r>
              <a:rPr lang="sk-SK" sz="1400" dirty="0">
                <a:solidFill>
                  <a:srgbClr val="000000"/>
                </a:solidFill>
                <a:latin typeface="Menlo-Regular"/>
              </a:rPr>
              <a:t>    2       2     0                      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sk-SK" sz="1400" dirty="0">
                <a:solidFill>
                  <a:srgbClr val="000000"/>
                </a:solidFill>
                <a:latin typeface="Menlo-Regular"/>
              </a:rPr>
              <a:t>  1002 mov %ax, 2000</a:t>
            </a:r>
          </a:p>
          <a:p>
            <a:r>
              <a:rPr lang="de-DE" sz="1400" dirty="0">
                <a:solidFill>
                  <a:srgbClr val="000000"/>
                </a:solidFill>
                <a:latin typeface="Menlo-Regular"/>
              </a:rPr>
              <a:t>    2       1     0   ------ Interrupt ------  ------ Interrupt ------  </a:t>
            </a:r>
          </a:p>
          <a:p>
            <a:r>
              <a:rPr lang="ro-RO" sz="1400" dirty="0">
                <a:solidFill>
                  <a:srgbClr val="000000"/>
                </a:solidFill>
                <a:latin typeface="Menlo-Regular"/>
              </a:rPr>
              <a:t>    2       1    -1   1003 sub  $1, %bx</a:t>
            </a:r>
          </a:p>
          <a:p>
            <a:r>
              <a:rPr lang="ro-RO" sz="1400" dirty="0">
                <a:solidFill>
                  <a:srgbClr val="000000"/>
                </a:solidFill>
                <a:latin typeface="Menlo-Regular"/>
              </a:rPr>
              <a:t>    2       1    -1   1004 test $0, %bx</a:t>
            </a:r>
          </a:p>
          <a:p>
            <a:r>
              <a:rPr lang="nl-NL" sz="1400" dirty="0">
                <a:solidFill>
                  <a:srgbClr val="000000"/>
                </a:solidFill>
                <a:latin typeface="Menlo-Regular"/>
              </a:rPr>
              <a:t>    2       1    -1   1005 </a:t>
            </a:r>
            <a:r>
              <a:rPr lang="nl-NL" sz="1400" dirty="0" err="1">
                <a:solidFill>
                  <a:srgbClr val="000000"/>
                </a:solidFill>
                <a:latin typeface="Menlo-Regular"/>
              </a:rPr>
              <a:t>jgt</a:t>
            </a:r>
            <a:r>
              <a:rPr lang="nl-NL" sz="1400" dirty="0">
                <a:solidFill>
                  <a:srgbClr val="000000"/>
                </a:solidFill>
                <a:latin typeface="Menlo-Regular"/>
              </a:rPr>
              <a:t> .top</a:t>
            </a:r>
          </a:p>
          <a:p>
            <a:r>
              <a:rPr lang="de-DE" sz="1400" dirty="0">
                <a:solidFill>
                  <a:srgbClr val="000000"/>
                </a:solidFill>
                <a:latin typeface="Menlo-Regular"/>
              </a:rPr>
              <a:t>    2       2     0   ------ Interrupt ------  ------ Interrupt ------  </a:t>
            </a:r>
          </a:p>
          <a:p>
            <a:r>
              <a:rPr lang="ro-RO" sz="1400" dirty="0">
                <a:solidFill>
                  <a:srgbClr val="000000"/>
                </a:solidFill>
                <a:latin typeface="Menlo-Regular"/>
              </a:rPr>
              <a:t>    2       2    -1                          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  </a:t>
            </a:r>
            <a:r>
              <a:rPr lang="ro-RO" sz="1400" dirty="0">
                <a:solidFill>
                  <a:srgbClr val="000000"/>
                </a:solidFill>
                <a:latin typeface="Menlo-Regular"/>
              </a:rPr>
              <a:t>1003 sub  $1, %bx</a:t>
            </a:r>
          </a:p>
          <a:p>
            <a:r>
              <a:rPr lang="ro-RO" sz="1400" dirty="0">
                <a:solidFill>
                  <a:srgbClr val="000000"/>
                </a:solidFill>
                <a:latin typeface="Menlo-Regular"/>
              </a:rPr>
              <a:t>    2       2    -1                       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ro-RO" sz="1400" dirty="0">
                <a:solidFill>
                  <a:srgbClr val="000000"/>
                </a:solidFill>
                <a:latin typeface="Menlo-Regular"/>
              </a:rPr>
              <a:t> 1004 test $0, %bx</a:t>
            </a:r>
          </a:p>
          <a:p>
            <a:r>
              <a:rPr lang="nl-NL" sz="1400" dirty="0">
                <a:solidFill>
                  <a:srgbClr val="000000"/>
                </a:solidFill>
                <a:latin typeface="Menlo-Regular"/>
              </a:rPr>
              <a:t>    2       2    -1                                      1005 jgt .top</a:t>
            </a:r>
          </a:p>
          <a:p>
            <a:r>
              <a:rPr lang="de-DE" sz="1400" dirty="0">
                <a:solidFill>
                  <a:srgbClr val="000000"/>
                </a:solidFill>
                <a:latin typeface="Menlo-Regular"/>
              </a:rPr>
              <a:t>    2       1    -1   ------ Interrupt ------  ------ Interrupt ------  </a:t>
            </a:r>
          </a:p>
          <a:p>
            <a:r>
              <a:rPr lang="de-DE" sz="1400" dirty="0">
                <a:solidFill>
                  <a:srgbClr val="000000"/>
                </a:solidFill>
                <a:latin typeface="Menlo-Regular"/>
              </a:rPr>
              <a:t>    2       1    -1   1006 halt</a:t>
            </a:r>
          </a:p>
          <a:p>
            <a:r>
              <a:rPr lang="en-US" sz="1400" dirty="0">
                <a:solidFill>
                  <a:srgbClr val="000000"/>
                </a:solidFill>
                <a:latin typeface="Menlo-Regular"/>
              </a:rPr>
              <a:t>    2       2    -1   ----- </a:t>
            </a:r>
            <a:r>
              <a:rPr lang="en-US" sz="1400" dirty="0" err="1">
                <a:solidFill>
                  <a:srgbClr val="000000"/>
                </a:solidFill>
                <a:latin typeface="Menlo-Regular"/>
              </a:rPr>
              <a:t>Halt;Switch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 -----  ----- </a:t>
            </a:r>
            <a:r>
              <a:rPr lang="en-US" sz="1400" dirty="0" err="1">
                <a:solidFill>
                  <a:srgbClr val="000000"/>
                </a:solidFill>
                <a:latin typeface="Menlo-Regular"/>
              </a:rPr>
              <a:t>Halt;Switch</a:t>
            </a:r>
            <a:r>
              <a:rPr lang="en-US" sz="1400" dirty="0">
                <a:solidFill>
                  <a:srgbClr val="000000"/>
                </a:solidFill>
                <a:latin typeface="Menlo-Regular"/>
              </a:rPr>
              <a:t> -----  </a:t>
            </a:r>
          </a:p>
          <a:p>
            <a:r>
              <a:rPr lang="de-DE" sz="1400" dirty="0">
                <a:solidFill>
                  <a:srgbClr val="000000"/>
                </a:solidFill>
                <a:latin typeface="Menlo-Regular"/>
              </a:rPr>
              <a:t>    2       2    -1                            1006 halt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53FCA6-BAF0-7E4C-A427-A5E5D76DAAA8}"/>
              </a:ext>
            </a:extLst>
          </p:cNvPr>
          <p:cNvSpPr/>
          <p:nvPr/>
        </p:nvSpPr>
        <p:spPr bwMode="auto">
          <a:xfrm>
            <a:off x="1981200" y="2057400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0EE580-AD39-6547-848A-23B149A8F80A}"/>
              </a:ext>
            </a:extLst>
          </p:cNvPr>
          <p:cNvSpPr/>
          <p:nvPr/>
        </p:nvSpPr>
        <p:spPr bwMode="auto">
          <a:xfrm>
            <a:off x="1981200" y="2271183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22AD7F-1882-DB42-B4ED-1D3FC773051F}"/>
              </a:ext>
            </a:extLst>
          </p:cNvPr>
          <p:cNvSpPr/>
          <p:nvPr/>
        </p:nvSpPr>
        <p:spPr bwMode="auto">
          <a:xfrm>
            <a:off x="1981200" y="2484966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EB126F-D388-0044-B2AD-616D7B64CAD4}"/>
              </a:ext>
            </a:extLst>
          </p:cNvPr>
          <p:cNvSpPr/>
          <p:nvPr/>
        </p:nvSpPr>
        <p:spPr bwMode="auto">
          <a:xfrm>
            <a:off x="1981200" y="2698749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FB549F-94EA-A541-AB6E-E0A4336832D6}"/>
              </a:ext>
            </a:extLst>
          </p:cNvPr>
          <p:cNvSpPr/>
          <p:nvPr/>
        </p:nvSpPr>
        <p:spPr bwMode="auto">
          <a:xfrm>
            <a:off x="1981200" y="2912532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AC4D93-5398-974A-947A-BACF2BDE2A79}"/>
              </a:ext>
            </a:extLst>
          </p:cNvPr>
          <p:cNvSpPr/>
          <p:nvPr/>
        </p:nvSpPr>
        <p:spPr bwMode="auto">
          <a:xfrm>
            <a:off x="1981200" y="3126315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A71A94-2D4D-0A4D-9246-9010F1593FE5}"/>
              </a:ext>
            </a:extLst>
          </p:cNvPr>
          <p:cNvSpPr/>
          <p:nvPr/>
        </p:nvSpPr>
        <p:spPr bwMode="auto">
          <a:xfrm>
            <a:off x="1981200" y="3340098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FBF9D0-93B6-3B4E-90C4-F0C74605CCB8}"/>
              </a:ext>
            </a:extLst>
          </p:cNvPr>
          <p:cNvSpPr/>
          <p:nvPr/>
        </p:nvSpPr>
        <p:spPr bwMode="auto">
          <a:xfrm>
            <a:off x="1981200" y="3553881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23440B-9FAD-314F-8232-09CAEF7FB643}"/>
              </a:ext>
            </a:extLst>
          </p:cNvPr>
          <p:cNvSpPr/>
          <p:nvPr/>
        </p:nvSpPr>
        <p:spPr bwMode="auto">
          <a:xfrm>
            <a:off x="1981200" y="3767664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66268F-2E6B-1A4E-88C7-092ADC7717F7}"/>
              </a:ext>
            </a:extLst>
          </p:cNvPr>
          <p:cNvSpPr/>
          <p:nvPr/>
        </p:nvSpPr>
        <p:spPr bwMode="auto">
          <a:xfrm>
            <a:off x="1981200" y="3981447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DFDE86-69B1-0943-A044-5857D17713FA}"/>
              </a:ext>
            </a:extLst>
          </p:cNvPr>
          <p:cNvSpPr/>
          <p:nvPr/>
        </p:nvSpPr>
        <p:spPr bwMode="auto">
          <a:xfrm>
            <a:off x="1981200" y="4195230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8C1FA6-11B3-A84A-AA36-7A3A101FA65B}"/>
              </a:ext>
            </a:extLst>
          </p:cNvPr>
          <p:cNvSpPr/>
          <p:nvPr/>
        </p:nvSpPr>
        <p:spPr bwMode="auto">
          <a:xfrm>
            <a:off x="1981200" y="4409013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9DBF93-C9CB-9847-A683-F7EAF868F585}"/>
              </a:ext>
            </a:extLst>
          </p:cNvPr>
          <p:cNvSpPr/>
          <p:nvPr/>
        </p:nvSpPr>
        <p:spPr bwMode="auto">
          <a:xfrm>
            <a:off x="1981200" y="4622796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2CE917-807A-F146-9E15-59D9B92B0511}"/>
              </a:ext>
            </a:extLst>
          </p:cNvPr>
          <p:cNvSpPr/>
          <p:nvPr/>
        </p:nvSpPr>
        <p:spPr bwMode="auto">
          <a:xfrm>
            <a:off x="1981200" y="4836579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953DC6-4C13-3646-AF87-5C0CA0439EEF}"/>
              </a:ext>
            </a:extLst>
          </p:cNvPr>
          <p:cNvSpPr/>
          <p:nvPr/>
        </p:nvSpPr>
        <p:spPr bwMode="auto">
          <a:xfrm>
            <a:off x="1981200" y="5050362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73806A-2CDB-2A41-A3D3-8857D68E45B9}"/>
              </a:ext>
            </a:extLst>
          </p:cNvPr>
          <p:cNvSpPr/>
          <p:nvPr/>
        </p:nvSpPr>
        <p:spPr bwMode="auto">
          <a:xfrm>
            <a:off x="1981200" y="5264145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D46F65-FC9E-D644-BB0F-A88C54294120}"/>
              </a:ext>
            </a:extLst>
          </p:cNvPr>
          <p:cNvSpPr/>
          <p:nvPr/>
        </p:nvSpPr>
        <p:spPr bwMode="auto">
          <a:xfrm>
            <a:off x="1981200" y="5691711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7D6B75-4CFB-FE48-A6B3-F4AB8DE7F9D0}"/>
              </a:ext>
            </a:extLst>
          </p:cNvPr>
          <p:cNvSpPr/>
          <p:nvPr/>
        </p:nvSpPr>
        <p:spPr bwMode="auto">
          <a:xfrm>
            <a:off x="1981200" y="5905500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4C757E-6E6D-9D4C-9419-6CFCEDF2EBF6}"/>
              </a:ext>
            </a:extLst>
          </p:cNvPr>
          <p:cNvSpPr/>
          <p:nvPr/>
        </p:nvSpPr>
        <p:spPr bwMode="auto">
          <a:xfrm>
            <a:off x="1981200" y="5477928"/>
            <a:ext cx="1676400" cy="190500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56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4800F-1D5F-4AAA-A78A-4CC143542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in OS?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BCCEC-E7FE-415F-94BC-864D8154D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OS was the first concurrent program, and many techniques were created for use within the OS.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In xv6, each CPU calls scheduler() after setting itself up, which will modify the shared </a:t>
            </a:r>
            <a:r>
              <a:rPr lang="en-US" dirty="0" err="1">
                <a:solidFill>
                  <a:srgbClr val="FF0000"/>
                </a:solidFill>
              </a:rPr>
              <a:t>ptable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Two processes try to append data to the same file.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041AE-6747-4D52-89A0-A74E8E520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FD6249-C7C5-4B3B-BA06-9285785055F3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363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concurrency terms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solidFill>
                  <a:srgbClr val="FF0000"/>
                </a:solidFill>
              </a:rPr>
              <a:t>Critical section </a:t>
            </a:r>
            <a:r>
              <a:rPr lang="en-US" dirty="0"/>
              <a:t>is a segment of code, in which multiple threads may be changing shared variables (or more generally, a shared resource).</a:t>
            </a:r>
          </a:p>
          <a:p>
            <a:pPr lvl="1"/>
            <a:r>
              <a:rPr lang="en-US" dirty="0"/>
              <a:t>Such as “counter++” in previous example.</a:t>
            </a:r>
          </a:p>
          <a:p>
            <a:r>
              <a:rPr lang="en-US" dirty="0"/>
              <a:t>Multiple threads executing the critical section can result in a </a:t>
            </a:r>
            <a:r>
              <a:rPr lang="en-US" dirty="0">
                <a:solidFill>
                  <a:srgbClr val="FF0000"/>
                </a:solidFill>
              </a:rPr>
              <a:t>race condition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Such as two threads’ executing “counter++” </a:t>
            </a:r>
          </a:p>
          <a:p>
            <a:r>
              <a:rPr lang="en-US" dirty="0">
                <a:solidFill>
                  <a:srgbClr val="FF0000"/>
                </a:solidFill>
              </a:rPr>
              <a:t>Mutual exclusion</a:t>
            </a:r>
            <a:r>
              <a:rPr lang="en-US" dirty="0"/>
              <a:t>: If one thread’s PC is already inside its critical section, the others will be prevented from entering theirs.</a:t>
            </a:r>
          </a:p>
          <a:p>
            <a:pPr lvl="1"/>
            <a:r>
              <a:rPr lang="en-US" dirty="0"/>
              <a:t>One kind of </a:t>
            </a:r>
            <a:r>
              <a:rPr lang="en-US" dirty="0">
                <a:solidFill>
                  <a:srgbClr val="FF0000"/>
                </a:solidFill>
              </a:rPr>
              <a:t>synchronization</a:t>
            </a:r>
            <a:r>
              <a:rPr lang="en-US" dirty="0"/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E2FAD-583A-4D00-BA65-381257BEF45F}" type="slidenum">
              <a:rPr lang="en-US" smtClean="0"/>
              <a:pPr/>
              <a:t>35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>
    <a:spDef>
      <a:spPr>
        <a:ln w="38100">
          <a:solidFill>
            <a:srgbClr val="008000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spDef>
    <a:lnDef>
      <a:spPr>
        <a:ln w="28575"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/>
      <a:bodyPr vert="horz" lIns="91440" tIns="0" rIns="45720" bIns="0" rtlCol="0" anchor="t">
        <a:normAutofit/>
        <a:scene3d>
          <a:camera prst="orthographicFront"/>
          <a:lightRig rig="threePt" dir="t">
            <a:rot lat="0" lon="0" rev="4800000"/>
          </a:lightRig>
        </a:scene3d>
        <a:sp3d prstMaterial="matte">
          <a:bevelT w="50800" h="10160"/>
        </a:sp3d>
      </a:bodyPr>
      <a:lstStyle>
        <a:defPPr algn="ctr">
          <a:defRPr sz="3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urse-2019-09" id="{B316ACE2-95DC-AC4D-9B1C-A91C775734BE}" vid="{64A54FAB-7894-1E4A-B404-E7ABACBA1228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course-2019-09</Template>
  <TotalTime>4595</TotalTime>
  <Words>2717</Words>
  <Application>Microsoft Office PowerPoint</Application>
  <PresentationFormat>Widescreen</PresentationFormat>
  <Paragraphs>379</Paragraphs>
  <Slides>35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6" baseType="lpstr">
      <vt:lpstr>Arial</vt:lpstr>
      <vt:lpstr>Calibri</vt:lpstr>
      <vt:lpstr>Candara</vt:lpstr>
      <vt:lpstr>Comic Sans MS</vt:lpstr>
      <vt:lpstr>Helvetica</vt:lpstr>
      <vt:lpstr>Menlo</vt:lpstr>
      <vt:lpstr>Menlo-Regular</vt:lpstr>
      <vt:lpstr>Times New Roman</vt:lpstr>
      <vt:lpstr>Wingdings</vt:lpstr>
      <vt:lpstr>Wingdings 2</vt:lpstr>
      <vt:lpstr>Module</vt:lpstr>
      <vt:lpstr>Concurrency: Thread</vt:lpstr>
      <vt:lpstr>Outline</vt:lpstr>
      <vt:lpstr>An example: web server</vt:lpstr>
      <vt:lpstr>An example: web server (cont.)</vt:lpstr>
      <vt:lpstr>New abstraction: multi-threading</vt:lpstr>
      <vt:lpstr>Multi-threaded process in memory</vt:lpstr>
      <vt:lpstr>Features</vt:lpstr>
      <vt:lpstr>Benefits of multi-threading</vt:lpstr>
      <vt:lpstr>A multithreaded web server</vt:lpstr>
      <vt:lpstr>Thread control block (TCB)</vt:lpstr>
      <vt:lpstr>Context switches with multithreading</vt:lpstr>
      <vt:lpstr>Multi-threaded process execution</vt:lpstr>
      <vt:lpstr>Summary: Process vs. thread</vt:lpstr>
      <vt:lpstr>Analogy: two one-bedroom apartments</vt:lpstr>
      <vt:lpstr>Analogy: one two-bedroom apartment</vt:lpstr>
      <vt:lpstr>Outline</vt:lpstr>
      <vt:lpstr>Thread library</vt:lpstr>
      <vt:lpstr>What are Pthreads? </vt:lpstr>
      <vt:lpstr>Thread APIs</vt:lpstr>
      <vt:lpstr>Creating a thread</vt:lpstr>
      <vt:lpstr>Thread APIs (cont’d)</vt:lpstr>
      <vt:lpstr>Waiting for thread completion</vt:lpstr>
      <vt:lpstr>Outline</vt:lpstr>
      <vt:lpstr>Example:  thread.c</vt:lpstr>
      <vt:lpstr>Demo</vt:lpstr>
      <vt:lpstr>What happened?</vt:lpstr>
      <vt:lpstr>Uncontrolled scheduling:  interleaved operations</vt:lpstr>
      <vt:lpstr>Uncontrolled scheduling:  interleaved operations (cont’d)</vt:lpstr>
      <vt:lpstr>Simulation: x86.py</vt:lpstr>
      <vt:lpstr>Exercise</vt:lpstr>
      <vt:lpstr>Answer</vt:lpstr>
      <vt:lpstr>Quiz</vt:lpstr>
      <vt:lpstr>Quiz: answer</vt:lpstr>
      <vt:lpstr>Why in OS?</vt:lpstr>
      <vt:lpstr>Key concurrency terms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Probir Roy</dc:creator>
  <cp:lastModifiedBy>Probir Roy</cp:lastModifiedBy>
  <cp:revision>514</cp:revision>
  <cp:lastPrinted>2008-01-09T20:50:56Z</cp:lastPrinted>
  <dcterms:created xsi:type="dcterms:W3CDTF">2010-09-02T17:38:46Z</dcterms:created>
  <dcterms:modified xsi:type="dcterms:W3CDTF">2021-10-06T17:41:06Z</dcterms:modified>
</cp:coreProperties>
</file>