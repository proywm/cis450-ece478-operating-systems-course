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9" r:id="rId1"/>
  </p:sldMasterIdLst>
  <p:notesMasterIdLst>
    <p:notesMasterId r:id="rId41"/>
  </p:notesMasterIdLst>
  <p:handoutMasterIdLst>
    <p:handoutMasterId r:id="rId42"/>
  </p:handoutMasterIdLst>
  <p:sldIdLst>
    <p:sldId id="267" r:id="rId2"/>
    <p:sldId id="352" r:id="rId3"/>
    <p:sldId id="353" r:id="rId4"/>
    <p:sldId id="269" r:id="rId5"/>
    <p:sldId id="347" r:id="rId6"/>
    <p:sldId id="350" r:id="rId7"/>
    <p:sldId id="271" r:id="rId8"/>
    <p:sldId id="272" r:id="rId9"/>
    <p:sldId id="273" r:id="rId10"/>
    <p:sldId id="344" r:id="rId11"/>
    <p:sldId id="346" r:id="rId12"/>
    <p:sldId id="274" r:id="rId13"/>
    <p:sldId id="275" r:id="rId14"/>
    <p:sldId id="276" r:id="rId15"/>
    <p:sldId id="277" r:id="rId16"/>
    <p:sldId id="278" r:id="rId17"/>
    <p:sldId id="279" r:id="rId18"/>
    <p:sldId id="326" r:id="rId19"/>
    <p:sldId id="280" r:id="rId20"/>
    <p:sldId id="281" r:id="rId21"/>
    <p:sldId id="292" r:id="rId22"/>
    <p:sldId id="283" r:id="rId23"/>
    <p:sldId id="284" r:id="rId24"/>
    <p:sldId id="285" r:id="rId25"/>
    <p:sldId id="286" r:id="rId26"/>
    <p:sldId id="321" r:id="rId27"/>
    <p:sldId id="322" r:id="rId28"/>
    <p:sldId id="323" r:id="rId29"/>
    <p:sldId id="345" r:id="rId30"/>
    <p:sldId id="289" r:id="rId31"/>
    <p:sldId id="290" r:id="rId32"/>
    <p:sldId id="293" r:id="rId33"/>
    <p:sldId id="294" r:id="rId34"/>
    <p:sldId id="295" r:id="rId35"/>
    <p:sldId id="296" r:id="rId36"/>
    <p:sldId id="343" r:id="rId37"/>
    <p:sldId id="311" r:id="rId38"/>
    <p:sldId id="312" r:id="rId39"/>
    <p:sldId id="320" r:id="rId40"/>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Comic Sans MS" pitchFamily="66" charset="0"/>
        <a:ea typeface="+mn-ea"/>
        <a:cs typeface="+mn-cs"/>
      </a:defRPr>
    </a:lvl1pPr>
    <a:lvl2pPr marL="457200" algn="l" rtl="0" fontAlgn="base">
      <a:spcBef>
        <a:spcPct val="0"/>
      </a:spcBef>
      <a:spcAft>
        <a:spcPct val="0"/>
      </a:spcAft>
      <a:defRPr kern="1200">
        <a:solidFill>
          <a:schemeClr val="tx1"/>
        </a:solidFill>
        <a:latin typeface="Comic Sans MS" pitchFamily="66" charset="0"/>
        <a:ea typeface="+mn-ea"/>
        <a:cs typeface="+mn-cs"/>
      </a:defRPr>
    </a:lvl2pPr>
    <a:lvl3pPr marL="914400" algn="l" rtl="0" fontAlgn="base">
      <a:spcBef>
        <a:spcPct val="0"/>
      </a:spcBef>
      <a:spcAft>
        <a:spcPct val="0"/>
      </a:spcAft>
      <a:defRPr kern="1200">
        <a:solidFill>
          <a:schemeClr val="tx1"/>
        </a:solidFill>
        <a:latin typeface="Comic Sans MS" pitchFamily="66" charset="0"/>
        <a:ea typeface="+mn-ea"/>
        <a:cs typeface="+mn-cs"/>
      </a:defRPr>
    </a:lvl3pPr>
    <a:lvl4pPr marL="1371600" algn="l" rtl="0" fontAlgn="base">
      <a:spcBef>
        <a:spcPct val="0"/>
      </a:spcBef>
      <a:spcAft>
        <a:spcPct val="0"/>
      </a:spcAft>
      <a:defRPr kern="1200">
        <a:solidFill>
          <a:schemeClr val="tx1"/>
        </a:solidFill>
        <a:latin typeface="Comic Sans MS" pitchFamily="66" charset="0"/>
        <a:ea typeface="+mn-ea"/>
        <a:cs typeface="+mn-cs"/>
      </a:defRPr>
    </a:lvl4pPr>
    <a:lvl5pPr marL="1828800" algn="l" rtl="0" fontAlgn="base">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CC00"/>
    <a:srgbClr val="000066"/>
    <a:srgbClr val="FFFF00"/>
    <a:srgbClr val="0000CC"/>
    <a:srgbClr val="FF99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2"/>
    <p:restoredTop sz="92264" autoAdjust="0"/>
  </p:normalViewPr>
  <p:slideViewPr>
    <p:cSldViewPr>
      <p:cViewPr varScale="1">
        <p:scale>
          <a:sx n="79" d="100"/>
          <a:sy n="79" d="100"/>
        </p:scale>
        <p:origin x="1051" y="7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100" d="100"/>
        <a:sy n="100" d="100"/>
      </p:scale>
      <p:origin x="0" y="0"/>
    </p:cViewPr>
  </p:notesTextViewPr>
  <p:sorterViewPr>
    <p:cViewPr>
      <p:scale>
        <a:sx n="100" d="100"/>
        <a:sy n="100" d="100"/>
      </p:scale>
      <p:origin x="0" y="62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19.xml"/><Relationship Id="rId18" Type="http://schemas.openxmlformats.org/officeDocument/2006/relationships/slide" Target="slides/slide25.xml"/><Relationship Id="rId3" Type="http://schemas.openxmlformats.org/officeDocument/2006/relationships/slide" Target="slides/slide7.xml"/><Relationship Id="rId21" Type="http://schemas.openxmlformats.org/officeDocument/2006/relationships/slide" Target="slides/slide29.xml"/><Relationship Id="rId7" Type="http://schemas.openxmlformats.org/officeDocument/2006/relationships/slide" Target="slides/slide13.xml"/><Relationship Id="rId12" Type="http://schemas.openxmlformats.org/officeDocument/2006/relationships/slide" Target="slides/slide18.xml"/><Relationship Id="rId17" Type="http://schemas.openxmlformats.org/officeDocument/2006/relationships/slide" Target="slides/slide24.xml"/><Relationship Id="rId2" Type="http://schemas.openxmlformats.org/officeDocument/2006/relationships/slide" Target="slides/slide5.xml"/><Relationship Id="rId16" Type="http://schemas.openxmlformats.org/officeDocument/2006/relationships/slide" Target="slides/slide23.xml"/><Relationship Id="rId20" Type="http://schemas.openxmlformats.org/officeDocument/2006/relationships/slide" Target="slides/slide27.xml"/><Relationship Id="rId1" Type="http://schemas.openxmlformats.org/officeDocument/2006/relationships/slide" Target="slides/slide4.xml"/><Relationship Id="rId6" Type="http://schemas.openxmlformats.org/officeDocument/2006/relationships/slide" Target="slides/slide12.xml"/><Relationship Id="rId11" Type="http://schemas.openxmlformats.org/officeDocument/2006/relationships/slide" Target="slides/slide17.xml"/><Relationship Id="rId5" Type="http://schemas.openxmlformats.org/officeDocument/2006/relationships/slide" Target="slides/slide11.xml"/><Relationship Id="rId15" Type="http://schemas.openxmlformats.org/officeDocument/2006/relationships/slide" Target="slides/slide22.xml"/><Relationship Id="rId23" Type="http://schemas.openxmlformats.org/officeDocument/2006/relationships/slide" Target="slides/slide31.xml"/><Relationship Id="rId10" Type="http://schemas.openxmlformats.org/officeDocument/2006/relationships/slide" Target="slides/slide16.xml"/><Relationship Id="rId19" Type="http://schemas.openxmlformats.org/officeDocument/2006/relationships/slide" Target="slides/slide26.xml"/><Relationship Id="rId4" Type="http://schemas.openxmlformats.org/officeDocument/2006/relationships/slide" Target="slides/slide8.xml"/><Relationship Id="rId9" Type="http://schemas.openxmlformats.org/officeDocument/2006/relationships/slide" Target="slides/slide15.xml"/><Relationship Id="rId14" Type="http://schemas.openxmlformats.org/officeDocument/2006/relationships/slide" Target="slides/slide20.xml"/><Relationship Id="rId22"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1026"/>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296963" name="Rectangle 1027"/>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08" charset="0"/>
              </a:defRPr>
            </a:lvl1pPr>
          </a:lstStyle>
          <a:p>
            <a:pPr>
              <a:defRPr/>
            </a:pPr>
            <a:endParaRPr lang="en-US"/>
          </a:p>
        </p:txBody>
      </p:sp>
      <p:sp>
        <p:nvSpPr>
          <p:cNvPr id="296964" name="Rectangle 1028"/>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296965" name="Rectangle 1029"/>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08" charset="0"/>
              </a:defRPr>
            </a:lvl1pPr>
          </a:lstStyle>
          <a:p>
            <a:pPr>
              <a:defRPr/>
            </a:pPr>
            <a:fld id="{FDA49D5B-266D-47B5-9797-EAE72B246DF7}" type="slidenum">
              <a:rPr lang="en-US"/>
              <a:pPr>
                <a:defRPr/>
              </a:pPr>
              <a:t>‹#›</a:t>
            </a:fld>
            <a:endParaRPr lang="en-US"/>
          </a:p>
        </p:txBody>
      </p:sp>
    </p:spTree>
    <p:extLst>
      <p:ext uri="{BB962C8B-B14F-4D97-AF65-F5344CB8AC3E}">
        <p14:creationId xmlns:p14="http://schemas.microsoft.com/office/powerpoint/2010/main" val="3292565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512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08"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08" charset="0"/>
              </a:defRPr>
            </a:lvl1pPr>
          </a:lstStyle>
          <a:p>
            <a:pPr>
              <a:defRPr/>
            </a:pPr>
            <a:endParaRPr lang="en-US"/>
          </a:p>
        </p:txBody>
      </p:sp>
      <p:sp>
        <p:nvSpPr>
          <p:cNvPr id="512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08" charset="0"/>
              </a:defRPr>
            </a:lvl1pPr>
          </a:lstStyle>
          <a:p>
            <a:pPr>
              <a:defRPr/>
            </a:pPr>
            <a:fld id="{2A9D1879-8D4D-4511-B1F0-2B5F93C53E23}" type="slidenum">
              <a:rPr lang="en-US"/>
              <a:pPr>
                <a:defRPr/>
              </a:pPr>
              <a:t>‹#›</a:t>
            </a:fld>
            <a:endParaRPr lang="en-US"/>
          </a:p>
        </p:txBody>
      </p:sp>
    </p:spTree>
    <p:extLst>
      <p:ext uri="{BB962C8B-B14F-4D97-AF65-F5344CB8AC3E}">
        <p14:creationId xmlns:p14="http://schemas.microsoft.com/office/powerpoint/2010/main" val="16832935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BC4107E4-6A6B-4F97-AB28-9100B00E51D1}" type="slidenum">
              <a:rPr lang="en-US" sz="1300">
                <a:latin typeface="Times New Roman" pitchFamily="18" charset="0"/>
                <a:ea typeface="ＭＳ Ｐゴシック" pitchFamily="34" charset="-128"/>
              </a:rPr>
              <a:pPr algn="r" defTabSz="966788" eaLnBrk="0" hangingPunct="0"/>
              <a:t>1</a:t>
            </a:fld>
            <a:endParaRPr lang="en-US" sz="1300">
              <a:latin typeface="Times New Roman" pitchFamily="18" charset="0"/>
              <a:ea typeface="ＭＳ Ｐゴシック" pitchFamily="34" charset="-128"/>
            </a:endParaRPr>
          </a:p>
        </p:txBody>
      </p:sp>
      <p:sp>
        <p:nvSpPr>
          <p:cNvPr id="17410" name="Rectangle 2"/>
          <p:cNvSpPr>
            <a:spLocks noGrp="1" noRot="1" noChangeAspect="1" noChangeArrowheads="1" noTextEdit="1"/>
          </p:cNvSpPr>
          <p:nvPr>
            <p:ph type="sldImg"/>
          </p:nvPr>
        </p:nvSpPr>
        <p:spPr>
          <a:xfrm>
            <a:off x="457200" y="720725"/>
            <a:ext cx="6400800" cy="3600450"/>
          </a:xfrm>
          <a:ln/>
        </p:spPr>
      </p:sp>
      <p:sp>
        <p:nvSpPr>
          <p:cNvPr id="17411"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364257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4D7CCC96-2459-4F03-9545-1E66A5B9D7EE}" type="slidenum">
              <a:rPr lang="en-US" sz="1300">
                <a:latin typeface="Times New Roman" pitchFamily="18" charset="0"/>
              </a:rPr>
              <a:pPr algn="r" defTabSz="966788" eaLnBrk="0" hangingPunct="0"/>
              <a:t>4</a:t>
            </a:fld>
            <a:endParaRPr lang="en-US" sz="1300">
              <a:latin typeface="Times New Roman" pitchFamily="18" charset="0"/>
            </a:endParaRPr>
          </a:p>
        </p:txBody>
      </p:sp>
      <p:sp>
        <p:nvSpPr>
          <p:cNvPr id="19458" name="Rectangle 2"/>
          <p:cNvSpPr>
            <a:spLocks noGrp="1" noRot="1" noChangeAspect="1" noChangeArrowheads="1" noTextEdit="1"/>
          </p:cNvSpPr>
          <p:nvPr>
            <p:ph type="sldImg"/>
          </p:nvPr>
        </p:nvSpPr>
        <p:spPr>
          <a:xfrm>
            <a:off x="457200" y="719138"/>
            <a:ext cx="6402388" cy="3602037"/>
          </a:xfrm>
          <a:solidFill>
            <a:srgbClr val="FFFFFF"/>
          </a:solidFill>
          <a:ln/>
        </p:spPr>
      </p:sp>
      <p:sp>
        <p:nvSpPr>
          <p:cNvPr id="19459" name="Rectangle 3"/>
          <p:cNvSpPr>
            <a:spLocks noGrp="1" noChangeArrowheads="1"/>
          </p:cNvSpPr>
          <p:nvPr>
            <p:ph type="body" idx="1"/>
          </p:nvPr>
        </p:nvSpPr>
        <p:spPr>
          <a:xfrm>
            <a:off x="974725" y="4560888"/>
            <a:ext cx="5365750" cy="4321175"/>
          </a:xfrm>
          <a:solidFill>
            <a:srgbClr val="FFFFFF"/>
          </a:solidFill>
          <a:ln>
            <a:solidFill>
              <a:srgbClr val="000000"/>
            </a:solidFill>
          </a:ln>
        </p:spPr>
        <p:txBody>
          <a:bodyPr lIns="95747" tIns="47873" rIns="95747" bIns="47873"/>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9360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4D7CCC96-2459-4F03-9545-1E66A5B9D7EE}" type="slidenum">
              <a:rPr lang="en-US" sz="1300">
                <a:latin typeface="Times New Roman" pitchFamily="18" charset="0"/>
              </a:rPr>
              <a:pPr algn="r" defTabSz="966788" eaLnBrk="0" hangingPunct="0"/>
              <a:t>5</a:t>
            </a:fld>
            <a:endParaRPr lang="en-US" sz="1300">
              <a:latin typeface="Times New Roman" pitchFamily="18" charset="0"/>
            </a:endParaRPr>
          </a:p>
        </p:txBody>
      </p:sp>
      <p:sp>
        <p:nvSpPr>
          <p:cNvPr id="19458" name="Rectangle 2"/>
          <p:cNvSpPr>
            <a:spLocks noGrp="1" noRot="1" noChangeAspect="1" noChangeArrowheads="1" noTextEdit="1"/>
          </p:cNvSpPr>
          <p:nvPr>
            <p:ph type="sldImg"/>
          </p:nvPr>
        </p:nvSpPr>
        <p:spPr>
          <a:xfrm>
            <a:off x="457200" y="719138"/>
            <a:ext cx="6402388" cy="3602037"/>
          </a:xfrm>
          <a:solidFill>
            <a:srgbClr val="FFFFFF"/>
          </a:solidFill>
          <a:ln/>
        </p:spPr>
      </p:sp>
      <p:sp>
        <p:nvSpPr>
          <p:cNvPr id="19459" name="Rectangle 3"/>
          <p:cNvSpPr>
            <a:spLocks noGrp="1" noChangeArrowheads="1"/>
          </p:cNvSpPr>
          <p:nvPr>
            <p:ph type="body" idx="1"/>
          </p:nvPr>
        </p:nvSpPr>
        <p:spPr>
          <a:xfrm>
            <a:off x="974725" y="4560888"/>
            <a:ext cx="5365750" cy="4321175"/>
          </a:xfrm>
          <a:solidFill>
            <a:srgbClr val="FFFFFF"/>
          </a:solidFill>
          <a:ln>
            <a:solidFill>
              <a:srgbClr val="000000"/>
            </a:solidFill>
          </a:ln>
        </p:spPr>
        <p:txBody>
          <a:bodyPr lIns="95747" tIns="47873" rIns="95747" bIns="47873"/>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43132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851D04FD-98A1-4EB5-AD50-A02272FF9B31}" type="slidenum">
              <a:rPr lang="en-US" sz="1300">
                <a:latin typeface="Times New Roman" pitchFamily="18" charset="0"/>
              </a:rPr>
              <a:pPr algn="r" defTabSz="966788" eaLnBrk="0" hangingPunct="0"/>
              <a:t>6</a:t>
            </a:fld>
            <a:endParaRPr lang="en-US" sz="1300">
              <a:latin typeface="Times New Roman" pitchFamily="18" charset="0"/>
            </a:endParaRPr>
          </a:p>
        </p:txBody>
      </p:sp>
      <p:sp>
        <p:nvSpPr>
          <p:cNvPr id="21506" name="Rectangle 2"/>
          <p:cNvSpPr>
            <a:spLocks noGrp="1" noRot="1" noChangeAspect="1" noChangeArrowheads="1" noTextEdit="1"/>
          </p:cNvSpPr>
          <p:nvPr>
            <p:ph type="sldImg"/>
          </p:nvPr>
        </p:nvSpPr>
        <p:spPr>
          <a:xfrm>
            <a:off x="457200" y="717550"/>
            <a:ext cx="6402388" cy="3602038"/>
          </a:xfrm>
          <a:solidFill>
            <a:srgbClr val="FFFFFF"/>
          </a:solidFill>
          <a:ln/>
        </p:spPr>
      </p:sp>
      <p:sp>
        <p:nvSpPr>
          <p:cNvPr id="21507" name="Rectangle 3"/>
          <p:cNvSpPr>
            <a:spLocks noGrp="1" noChangeArrowheads="1"/>
          </p:cNvSpPr>
          <p:nvPr>
            <p:ph type="body" idx="1"/>
          </p:nvPr>
        </p:nvSpPr>
        <p:spPr>
          <a:xfrm>
            <a:off x="976313" y="4560888"/>
            <a:ext cx="5362575" cy="4322762"/>
          </a:xfrm>
          <a:solidFill>
            <a:srgbClr val="FFFFFF"/>
          </a:solidFill>
          <a:ln>
            <a:solidFill>
              <a:srgbClr val="000000"/>
            </a:solidFill>
          </a:ln>
        </p:spPr>
        <p:txBody>
          <a:bodyPr lIns="95747" tIns="47873" rIns="95747" bIns="47873"/>
          <a:lstStyle/>
          <a:p>
            <a:r>
              <a:rPr lang="en-US" sz="500" dirty="0" err="1">
                <a:latin typeface="Times New Roman" pitchFamily="18" charset="0"/>
                <a:ea typeface="ＭＳ Ｐゴシック" pitchFamily="34" charset="-128"/>
              </a:rPr>
              <a:t>VxWorks</a:t>
            </a:r>
            <a:r>
              <a:rPr lang="en-US" sz="500" dirty="0">
                <a:latin typeface="Times New Roman" pitchFamily="18" charset="0"/>
                <a:ea typeface="ＭＳ Ｐゴシック" pitchFamily="34" charset="-128"/>
              </a:rPr>
              <a:t> provides preemptive priority scheduling of threads. Tasks on the Pathfinder spacecraft were executed as threads with priorities that were assigned in the usual manner reflecting the relative urgency of these tasks.</a:t>
            </a:r>
          </a:p>
          <a:p>
            <a:endParaRPr lang="en-US" sz="500" dirty="0">
              <a:latin typeface="Times New Roman" pitchFamily="18" charset="0"/>
              <a:ea typeface="ＭＳ Ｐゴシック" pitchFamily="34" charset="-128"/>
            </a:endParaRPr>
          </a:p>
          <a:p>
            <a:r>
              <a:rPr lang="en-US" sz="500" dirty="0">
                <a:latin typeface="Times New Roman" pitchFamily="18" charset="0"/>
                <a:ea typeface="ＭＳ Ｐゴシック" pitchFamily="34" charset="-128"/>
              </a:rPr>
              <a:t>Pathfinder contained an "information bus", which you can think of as a shared memory area used for passing information between different components of the spacecraft. A bus management task ran frequently with high priority to move certain kinds of data in and out of the information bus. Access to the bus was synchronized with mutual exclusion locks (</a:t>
            </a:r>
            <a:r>
              <a:rPr lang="en-US" sz="500" dirty="0" err="1">
                <a:latin typeface="Times New Roman" pitchFamily="18" charset="0"/>
                <a:ea typeface="ＭＳ Ｐゴシック" pitchFamily="34" charset="-128"/>
              </a:rPr>
              <a:t>mutexes</a:t>
            </a:r>
            <a:r>
              <a:rPr lang="en-US" sz="500" dirty="0">
                <a:latin typeface="Times New Roman" pitchFamily="18" charset="0"/>
                <a:ea typeface="ＭＳ Ｐゴシック" pitchFamily="34" charset="-128"/>
              </a:rPr>
              <a:t>).</a:t>
            </a:r>
          </a:p>
          <a:p>
            <a:endParaRPr lang="en-US" sz="500" dirty="0">
              <a:latin typeface="Times New Roman" pitchFamily="18" charset="0"/>
              <a:ea typeface="ＭＳ Ｐゴシック" pitchFamily="34" charset="-128"/>
            </a:endParaRPr>
          </a:p>
          <a:p>
            <a:r>
              <a:rPr lang="en-US" sz="500" dirty="0">
                <a:latin typeface="Times New Roman" pitchFamily="18" charset="0"/>
                <a:ea typeface="ＭＳ Ｐゴシック" pitchFamily="34" charset="-128"/>
              </a:rPr>
              <a:t>The meteorological data gathering task ran as an infrequent, low priority thread, and used the information bus to publish its data. When publishing its data, it would acquire a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do writes to the bus, and release the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If an interrupt caused the information bus thread to be scheduled while this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was held, and if the information bus thread then attempted to acquire this same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in order to retrieve published data, this would cause it to block on the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waiting until the meteorological thread released the </a:t>
            </a:r>
            <a:r>
              <a:rPr lang="en-US" sz="500" dirty="0" err="1">
                <a:latin typeface="Times New Roman" pitchFamily="18" charset="0"/>
                <a:ea typeface="ＭＳ Ｐゴシック" pitchFamily="34" charset="-128"/>
              </a:rPr>
              <a:t>mutex</a:t>
            </a:r>
            <a:r>
              <a:rPr lang="en-US" sz="500" dirty="0">
                <a:latin typeface="Times New Roman" pitchFamily="18" charset="0"/>
                <a:ea typeface="ＭＳ Ｐゴシック" pitchFamily="34" charset="-128"/>
              </a:rPr>
              <a:t> before it could continue. The spacecraft also contained a communications task that ran with medium priority.</a:t>
            </a:r>
          </a:p>
          <a:p>
            <a:endParaRPr lang="en-US" sz="500" dirty="0">
              <a:latin typeface="Times New Roman" pitchFamily="18" charset="0"/>
              <a:ea typeface="ＭＳ Ｐゴシック" pitchFamily="34" charset="-128"/>
            </a:endParaRPr>
          </a:p>
          <a:p>
            <a:r>
              <a:rPr lang="en-US" sz="500" dirty="0">
                <a:latin typeface="Times New Roman" pitchFamily="18" charset="0"/>
                <a:ea typeface="ＭＳ Ｐゴシック" pitchFamily="34" charset="-128"/>
              </a:rPr>
              <a:t>Most of the time this combination worked fine. However, very infrequently it was possible for an interrupt to occur that caused the (medium priority) communications task to be scheduled during the short interval while the (high priority) information bus thread was blocked waiting for the (low priority) meteorological data thread. In this case, the long-running communications task, having higher priority than the meteorological task, would prevent it from running, consequently preventing the blocked information bus task from running. After some time had passed, a watchdog timer would go off, notice that the data bus task had not been executed for some time, conclude that something had gone drastically wrong, and initiate a total system reset.</a:t>
            </a:r>
          </a:p>
          <a:p>
            <a:endParaRPr lang="en-US" sz="500" dirty="0">
              <a:latin typeface="Times New Roman" pitchFamily="18" charset="0"/>
              <a:ea typeface="ＭＳ Ｐゴシック" pitchFamily="34" charset="-128"/>
            </a:endParaRPr>
          </a:p>
          <a:p>
            <a:r>
              <a:rPr lang="en-US" sz="500" dirty="0">
                <a:latin typeface="Times New Roman" pitchFamily="18" charset="0"/>
                <a:ea typeface="ＭＳ Ｐゴシック" pitchFamily="34" charset="-128"/>
              </a:rPr>
              <a:t>This scenario is a classic case of priority inversion.</a:t>
            </a:r>
          </a:p>
        </p:txBody>
      </p:sp>
    </p:spTree>
    <p:extLst>
      <p:ext uri="{BB962C8B-B14F-4D97-AF65-F5344CB8AC3E}">
        <p14:creationId xmlns:p14="http://schemas.microsoft.com/office/powerpoint/2010/main" val="1322550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9D90319-F4B6-48D8-A205-5DC596C9DC00}" type="slidenum">
              <a:rPr lang="en-US" sz="1300">
                <a:latin typeface="Times New Roman" pitchFamily="18" charset="0"/>
              </a:rPr>
              <a:pPr algn="r" defTabSz="966788" eaLnBrk="0" hangingPunct="0"/>
              <a:t>7</a:t>
            </a:fld>
            <a:endParaRPr lang="en-US" sz="1300">
              <a:latin typeface="Times New Roman" pitchFamily="18" charset="0"/>
            </a:endParaRPr>
          </a:p>
        </p:txBody>
      </p:sp>
      <p:sp>
        <p:nvSpPr>
          <p:cNvPr id="2355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355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726451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14F4E336-C4EA-4F84-89F8-53F671E99796}" type="slidenum">
              <a:rPr lang="en-US" sz="1300">
                <a:latin typeface="Times New Roman" pitchFamily="18" charset="0"/>
              </a:rPr>
              <a:pPr algn="r" defTabSz="966788" eaLnBrk="0" hangingPunct="0"/>
              <a:t>8</a:t>
            </a:fld>
            <a:endParaRPr lang="en-US" sz="1300">
              <a:latin typeface="Times New Roman" pitchFamily="18" charset="0"/>
            </a:endParaRPr>
          </a:p>
        </p:txBody>
      </p:sp>
      <p:sp>
        <p:nvSpPr>
          <p:cNvPr id="25602"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5603"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033171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69EC8E1-3458-4A3B-9174-2841823FC434}" type="slidenum">
              <a:rPr lang="en-US" sz="1300">
                <a:latin typeface="Times New Roman" pitchFamily="18" charset="0"/>
              </a:rPr>
              <a:pPr algn="r" defTabSz="966788" eaLnBrk="0" hangingPunct="0"/>
              <a:t>10</a:t>
            </a:fld>
            <a:endParaRPr lang="en-US" sz="1300">
              <a:latin typeface="Times New Roman" pitchFamily="18" charset="0"/>
            </a:endParaRPr>
          </a:p>
        </p:txBody>
      </p:sp>
      <p:sp>
        <p:nvSpPr>
          <p:cNvPr id="49154" name="Rectangle 2"/>
          <p:cNvSpPr>
            <a:spLocks noGrp="1" noRot="1" noChangeAspect="1" noChangeArrowheads="1" noTextEdit="1"/>
          </p:cNvSpPr>
          <p:nvPr>
            <p:ph type="sldImg"/>
          </p:nvPr>
        </p:nvSpPr>
        <p:spPr>
          <a:xfrm>
            <a:off x="457200" y="720725"/>
            <a:ext cx="6400800" cy="3600450"/>
          </a:xfrm>
          <a:ln/>
        </p:spPr>
      </p:sp>
      <p:sp>
        <p:nvSpPr>
          <p:cNvPr id="49155"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591489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2F50560-67F0-4D24-9060-3FF51799AFEB}" type="slidenum">
              <a:rPr lang="en-US" sz="1300">
                <a:latin typeface="Times New Roman" pitchFamily="18" charset="0"/>
              </a:rPr>
              <a:pPr algn="r" defTabSz="966788" eaLnBrk="0" hangingPunct="0"/>
              <a:t>11</a:t>
            </a:fld>
            <a:endParaRPr lang="en-US" sz="1300">
              <a:latin typeface="Times New Roman" pitchFamily="18" charset="0"/>
            </a:endParaRPr>
          </a:p>
        </p:txBody>
      </p:sp>
      <p:sp>
        <p:nvSpPr>
          <p:cNvPr id="2867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867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967290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2F50560-67F0-4D24-9060-3FF51799AFEB}" type="slidenum">
              <a:rPr lang="en-US" sz="1300">
                <a:latin typeface="Times New Roman" pitchFamily="18" charset="0"/>
              </a:rPr>
              <a:pPr algn="r" defTabSz="966788" eaLnBrk="0" hangingPunct="0"/>
              <a:t>12</a:t>
            </a:fld>
            <a:endParaRPr lang="en-US" sz="1300">
              <a:latin typeface="Times New Roman" pitchFamily="18" charset="0"/>
            </a:endParaRPr>
          </a:p>
        </p:txBody>
      </p:sp>
      <p:sp>
        <p:nvSpPr>
          <p:cNvPr id="2867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2867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115912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FE674E00-96D6-497D-9A5D-37EDE11272EE}" type="slidenum">
              <a:rPr lang="en-US" sz="1300">
                <a:latin typeface="Times New Roman" pitchFamily="18" charset="0"/>
              </a:rPr>
              <a:pPr algn="r" defTabSz="966788" eaLnBrk="0" hangingPunct="0"/>
              <a:t>13</a:t>
            </a:fld>
            <a:endParaRPr lang="en-US" sz="1300">
              <a:latin typeface="Times New Roman" pitchFamily="18" charset="0"/>
            </a:endParaRPr>
          </a:p>
        </p:txBody>
      </p:sp>
      <p:sp>
        <p:nvSpPr>
          <p:cNvPr id="30722" name="Rectangle 2"/>
          <p:cNvSpPr>
            <a:spLocks noGrp="1" noRot="1" noChangeAspect="1" noChangeArrowheads="1" noTextEdit="1"/>
          </p:cNvSpPr>
          <p:nvPr>
            <p:ph type="sldImg"/>
          </p:nvPr>
        </p:nvSpPr>
        <p:spPr>
          <a:xfrm>
            <a:off x="469900" y="727075"/>
            <a:ext cx="6375400" cy="3586163"/>
          </a:xfrm>
          <a:ln/>
        </p:spPr>
      </p:sp>
      <p:sp>
        <p:nvSpPr>
          <p:cNvPr id="30723" name="Rectangle 3"/>
          <p:cNvSpPr>
            <a:spLocks noGrp="1" noChangeArrowheads="1"/>
          </p:cNvSpPr>
          <p:nvPr>
            <p:ph type="body" idx="1"/>
          </p:nvPr>
        </p:nvSpPr>
        <p:spPr>
          <a:xfrm>
            <a:off x="976313" y="4560888"/>
            <a:ext cx="5362575" cy="4319587"/>
          </a:xfrm>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263169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0745F23-BCD5-4C20-8096-FD8AB32BD773}" type="slidenum">
              <a:rPr lang="en-US" sz="1300">
                <a:latin typeface="Times New Roman" pitchFamily="18" charset="0"/>
              </a:rPr>
              <a:pPr algn="r" defTabSz="966788" eaLnBrk="0" hangingPunct="0"/>
              <a:t>14</a:t>
            </a:fld>
            <a:endParaRPr lang="en-US" sz="1300">
              <a:latin typeface="Times New Roman" pitchFamily="18" charset="0"/>
            </a:endParaRPr>
          </a:p>
        </p:txBody>
      </p:sp>
      <p:sp>
        <p:nvSpPr>
          <p:cNvPr id="32770"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32771"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68687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7E97FE51-9530-4801-AF31-4C3EBEA76C3A}" type="slidenum">
              <a:rPr lang="en-US" sz="1300">
                <a:latin typeface="Times New Roman" pitchFamily="18" charset="0"/>
              </a:rPr>
              <a:pPr algn="r" defTabSz="966788" eaLnBrk="0" hangingPunct="0"/>
              <a:t>15</a:t>
            </a:fld>
            <a:endParaRPr lang="en-US" sz="1300">
              <a:latin typeface="Times New Roman" pitchFamily="18" charset="0"/>
            </a:endParaRPr>
          </a:p>
        </p:txBody>
      </p:sp>
      <p:sp>
        <p:nvSpPr>
          <p:cNvPr id="34818"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34819"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233589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4F26FBE-BED4-4DA8-BEAF-7102C6A3A08E}" type="slidenum">
              <a:rPr lang="en-US" sz="1300">
                <a:latin typeface="Times New Roman" pitchFamily="18" charset="0"/>
              </a:rPr>
              <a:pPr algn="r" defTabSz="966788" eaLnBrk="0" hangingPunct="0"/>
              <a:t>16</a:t>
            </a:fld>
            <a:endParaRPr lang="en-US" sz="1300">
              <a:latin typeface="Times New Roman" pitchFamily="18" charset="0"/>
            </a:endParaRPr>
          </a:p>
        </p:txBody>
      </p:sp>
      <p:sp>
        <p:nvSpPr>
          <p:cNvPr id="36866"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36867"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38052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9FC7E76-9303-4A18-A390-32B27EDEF1C8}" type="slidenum">
              <a:rPr lang="en-US" sz="1300">
                <a:latin typeface="Times New Roman" pitchFamily="18" charset="0"/>
              </a:rPr>
              <a:pPr algn="r" defTabSz="966788" eaLnBrk="0" hangingPunct="0"/>
              <a:t>17</a:t>
            </a:fld>
            <a:endParaRPr lang="en-US" sz="1300">
              <a:latin typeface="Times New Roman" pitchFamily="18" charset="0"/>
            </a:endParaRPr>
          </a:p>
        </p:txBody>
      </p:sp>
      <p:sp>
        <p:nvSpPr>
          <p:cNvPr id="3891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3891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754805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9FC7E76-9303-4A18-A390-32B27EDEF1C8}" type="slidenum">
              <a:rPr lang="en-US" sz="1300">
                <a:latin typeface="Times New Roman" pitchFamily="18" charset="0"/>
              </a:rPr>
              <a:pPr algn="r" defTabSz="966788" eaLnBrk="0" hangingPunct="0"/>
              <a:t>18</a:t>
            </a:fld>
            <a:endParaRPr lang="en-US" sz="1300">
              <a:latin typeface="Times New Roman" pitchFamily="18" charset="0"/>
            </a:endParaRPr>
          </a:p>
        </p:txBody>
      </p:sp>
      <p:sp>
        <p:nvSpPr>
          <p:cNvPr id="3891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3891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624257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8CC99B7B-27DD-4EC9-9C42-EC220D3A48C8}" type="slidenum">
              <a:rPr lang="en-US" sz="1300">
                <a:latin typeface="Times New Roman" pitchFamily="18" charset="0"/>
              </a:rPr>
              <a:pPr algn="r" defTabSz="966788" eaLnBrk="0" hangingPunct="0"/>
              <a:t>19</a:t>
            </a:fld>
            <a:endParaRPr lang="en-US" sz="1300">
              <a:latin typeface="Times New Roman" pitchFamily="18" charset="0"/>
            </a:endParaRPr>
          </a:p>
        </p:txBody>
      </p:sp>
      <p:sp>
        <p:nvSpPr>
          <p:cNvPr id="40962"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40963"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77379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344FD08-E216-4CA1-9172-CAF963C4446A}" type="slidenum">
              <a:rPr lang="en-US" sz="1300">
                <a:latin typeface="Times New Roman" pitchFamily="18" charset="0"/>
              </a:rPr>
              <a:pPr algn="r" defTabSz="966788" eaLnBrk="0" hangingPunct="0"/>
              <a:t>20</a:t>
            </a:fld>
            <a:endParaRPr lang="en-US" sz="1300">
              <a:latin typeface="Times New Roman" pitchFamily="18" charset="0"/>
            </a:endParaRPr>
          </a:p>
        </p:txBody>
      </p:sp>
      <p:sp>
        <p:nvSpPr>
          <p:cNvPr id="43010"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43011"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284792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3DBB2BC-6190-4483-8DC2-171AF8B50CDB}" type="slidenum">
              <a:rPr lang="en-US" sz="1300">
                <a:latin typeface="Times New Roman" pitchFamily="18" charset="0"/>
              </a:rPr>
              <a:pPr algn="r" defTabSz="966788" eaLnBrk="0" hangingPunct="0"/>
              <a:t>21</a:t>
            </a:fld>
            <a:endParaRPr lang="en-US" sz="1300">
              <a:latin typeface="Times New Roman" pitchFamily="18" charset="0"/>
            </a:endParaRPr>
          </a:p>
        </p:txBody>
      </p:sp>
      <p:sp>
        <p:nvSpPr>
          <p:cNvPr id="45058" name="Rectangle 2"/>
          <p:cNvSpPr>
            <a:spLocks noGrp="1" noRot="1" noChangeAspect="1" noChangeArrowheads="1" noTextEdit="1"/>
          </p:cNvSpPr>
          <p:nvPr>
            <p:ph type="sldImg"/>
          </p:nvPr>
        </p:nvSpPr>
        <p:spPr>
          <a:xfrm>
            <a:off x="457200" y="720725"/>
            <a:ext cx="6400800" cy="3600450"/>
          </a:xfrm>
          <a:ln/>
        </p:spPr>
      </p:sp>
      <p:sp>
        <p:nvSpPr>
          <p:cNvPr id="45059"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685795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8E02A449-AF55-4CD9-8FEE-6C092F02CA5D}" type="slidenum">
              <a:rPr lang="en-US" sz="1300">
                <a:latin typeface="Times New Roman" pitchFamily="18" charset="0"/>
              </a:rPr>
              <a:pPr algn="r" defTabSz="966788" eaLnBrk="0" hangingPunct="0"/>
              <a:t>22</a:t>
            </a:fld>
            <a:endParaRPr lang="en-US" sz="1300">
              <a:latin typeface="Times New Roman" pitchFamily="18" charset="0"/>
            </a:endParaRPr>
          </a:p>
        </p:txBody>
      </p:sp>
      <p:sp>
        <p:nvSpPr>
          <p:cNvPr id="49154" name="Rectangle 2"/>
          <p:cNvSpPr>
            <a:spLocks noGrp="1" noRot="1" noChangeAspect="1" noChangeArrowheads="1" noTextEdit="1"/>
          </p:cNvSpPr>
          <p:nvPr>
            <p:ph type="sldImg"/>
          </p:nvPr>
        </p:nvSpPr>
        <p:spPr>
          <a:xfrm>
            <a:off x="469900" y="727075"/>
            <a:ext cx="6375400" cy="3586163"/>
          </a:xfrm>
          <a:ln/>
        </p:spPr>
      </p:sp>
      <p:sp>
        <p:nvSpPr>
          <p:cNvPr id="49155" name="Rectangle 3"/>
          <p:cNvSpPr>
            <a:spLocks noGrp="1" noChangeArrowheads="1"/>
          </p:cNvSpPr>
          <p:nvPr>
            <p:ph type="body" idx="1"/>
          </p:nvPr>
        </p:nvSpPr>
        <p:spPr>
          <a:xfrm>
            <a:off x="976313" y="4560888"/>
            <a:ext cx="5362575" cy="4319587"/>
          </a:xfrm>
          <a:noFill/>
          <a:ln/>
        </p:spPr>
        <p:txBody>
          <a:bodyPr/>
          <a:lstStyle/>
          <a:p>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412406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98860FBC-6344-49B0-8C0C-5FCBA9DC1B73}" type="slidenum">
              <a:rPr lang="en-US" sz="1300">
                <a:latin typeface="Times New Roman" pitchFamily="18" charset="0"/>
              </a:rPr>
              <a:pPr algn="r" defTabSz="966788" eaLnBrk="0" hangingPunct="0"/>
              <a:t>23</a:t>
            </a:fld>
            <a:endParaRPr lang="en-US" sz="1300">
              <a:latin typeface="Times New Roman" pitchFamily="18" charset="0"/>
            </a:endParaRPr>
          </a:p>
        </p:txBody>
      </p:sp>
      <p:sp>
        <p:nvSpPr>
          <p:cNvPr id="51202"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51203"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38416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ED4E33CE-8595-433A-A426-DEE7BFE57F50}" type="slidenum">
              <a:rPr lang="en-US" sz="1300">
                <a:latin typeface="Times New Roman" pitchFamily="18" charset="0"/>
              </a:rPr>
              <a:pPr algn="r" defTabSz="966788" eaLnBrk="0" hangingPunct="0"/>
              <a:t>24</a:t>
            </a:fld>
            <a:endParaRPr lang="en-US" sz="1300">
              <a:latin typeface="Times New Roman" pitchFamily="18" charset="0"/>
            </a:endParaRPr>
          </a:p>
        </p:txBody>
      </p:sp>
      <p:sp>
        <p:nvSpPr>
          <p:cNvPr id="53250"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53251"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424601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E4DC60E0-F301-49B9-843F-F1D9A139CB06}" type="slidenum">
              <a:rPr lang="en-US" sz="1300">
                <a:latin typeface="Times New Roman" pitchFamily="18" charset="0"/>
              </a:rPr>
              <a:pPr algn="r" defTabSz="966788" eaLnBrk="0" hangingPunct="0"/>
              <a:t>25</a:t>
            </a:fld>
            <a:endParaRPr lang="en-US" sz="1300">
              <a:latin typeface="Times New Roman" pitchFamily="18" charset="0"/>
            </a:endParaRPr>
          </a:p>
        </p:txBody>
      </p:sp>
      <p:sp>
        <p:nvSpPr>
          <p:cNvPr id="55298"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55299"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978717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9F4EFBCD-F77A-4793-BB36-AABA976118C2}" type="slidenum">
              <a:rPr lang="en-US" sz="1300">
                <a:latin typeface="Times New Roman" pitchFamily="18" charset="0"/>
              </a:rPr>
              <a:pPr algn="r" defTabSz="966788" eaLnBrk="0" hangingPunct="0"/>
              <a:t>26</a:t>
            </a:fld>
            <a:endParaRPr lang="en-US" sz="1300">
              <a:latin typeface="Times New Roman" pitchFamily="18" charset="0"/>
            </a:endParaRPr>
          </a:p>
        </p:txBody>
      </p:sp>
      <p:sp>
        <p:nvSpPr>
          <p:cNvPr id="58370"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58371" name="Rectangle 3"/>
          <p:cNvSpPr>
            <a:spLocks noGrp="1" noChangeArrowheads="1"/>
          </p:cNvSpPr>
          <p:nvPr>
            <p:ph type="body" idx="1"/>
          </p:nvPr>
        </p:nvSpPr>
        <p:spPr>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726660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D7109B9-8D1D-45DF-8990-96B6E8B2852F}" type="slidenum">
              <a:rPr lang="en-US" sz="1300">
                <a:latin typeface="Times New Roman" pitchFamily="18" charset="0"/>
              </a:rPr>
              <a:pPr algn="r" defTabSz="966788" eaLnBrk="0" hangingPunct="0"/>
              <a:t>27</a:t>
            </a:fld>
            <a:endParaRPr lang="en-US" sz="1300">
              <a:latin typeface="Times New Roman" pitchFamily="18" charset="0"/>
            </a:endParaRPr>
          </a:p>
        </p:txBody>
      </p:sp>
      <p:sp>
        <p:nvSpPr>
          <p:cNvPr id="60418"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60419" name="Rectangle 3"/>
          <p:cNvSpPr>
            <a:spLocks noGrp="1" noChangeArrowheads="1"/>
          </p:cNvSpPr>
          <p:nvPr>
            <p:ph type="body" idx="1"/>
          </p:nvPr>
        </p:nvSpPr>
        <p:spPr>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042636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A9D1879-8D4D-4511-B1F0-2B5F93C53E23}" type="slidenum">
              <a:rPr lang="en-US" smtClean="0"/>
              <a:pPr>
                <a:defRPr/>
              </a:pPr>
              <a:t>28</a:t>
            </a:fld>
            <a:endParaRPr lang="en-US"/>
          </a:p>
        </p:txBody>
      </p:sp>
    </p:spTree>
    <p:extLst>
      <p:ext uri="{BB962C8B-B14F-4D97-AF65-F5344CB8AC3E}">
        <p14:creationId xmlns:p14="http://schemas.microsoft.com/office/powerpoint/2010/main" val="3895155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E4DC60E0-F301-49B9-843F-F1D9A139CB06}" type="slidenum">
              <a:rPr lang="en-US" sz="1300">
                <a:latin typeface="Times New Roman" pitchFamily="18" charset="0"/>
              </a:rPr>
              <a:pPr algn="r" defTabSz="966788" eaLnBrk="0" hangingPunct="0"/>
              <a:t>29</a:t>
            </a:fld>
            <a:endParaRPr lang="en-US" sz="1300">
              <a:latin typeface="Times New Roman" pitchFamily="18" charset="0"/>
            </a:endParaRPr>
          </a:p>
        </p:txBody>
      </p:sp>
      <p:sp>
        <p:nvSpPr>
          <p:cNvPr id="55298"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55299"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191126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5B662691-D384-4D99-9480-69D4EECE9D2E}" type="slidenum">
              <a:rPr lang="en-US" sz="1300">
                <a:latin typeface="Times New Roman" pitchFamily="18" charset="0"/>
              </a:rPr>
              <a:pPr algn="r" defTabSz="966788" eaLnBrk="0" hangingPunct="0"/>
              <a:t>30</a:t>
            </a:fld>
            <a:endParaRPr lang="en-US" sz="1300">
              <a:latin typeface="Times New Roman" pitchFamily="18" charset="0"/>
            </a:endParaRPr>
          </a:p>
        </p:txBody>
      </p:sp>
      <p:sp>
        <p:nvSpPr>
          <p:cNvPr id="63490"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63491"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4721882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E98BA43E-FBF0-4952-98E3-CC56530F1840}" type="slidenum">
              <a:rPr lang="en-US" sz="1300">
                <a:latin typeface="Times New Roman" pitchFamily="18" charset="0"/>
              </a:rPr>
              <a:pPr algn="r" defTabSz="966788" eaLnBrk="0" hangingPunct="0"/>
              <a:t>31</a:t>
            </a:fld>
            <a:endParaRPr lang="en-US" sz="1300">
              <a:latin typeface="Times New Roman" pitchFamily="18" charset="0"/>
            </a:endParaRPr>
          </a:p>
        </p:txBody>
      </p:sp>
      <p:sp>
        <p:nvSpPr>
          <p:cNvPr id="65538"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65539"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21340757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9A7318FA-9131-45AD-BE88-466C3E957A85}" type="slidenum">
              <a:rPr lang="en-US" sz="1300">
                <a:latin typeface="Times New Roman" pitchFamily="18" charset="0"/>
              </a:rPr>
              <a:pPr algn="r" defTabSz="966788" eaLnBrk="0" hangingPunct="0"/>
              <a:t>32</a:t>
            </a:fld>
            <a:endParaRPr lang="en-US" sz="1300">
              <a:latin typeface="Times New Roman" pitchFamily="18" charset="0"/>
            </a:endParaRPr>
          </a:p>
        </p:txBody>
      </p:sp>
      <p:sp>
        <p:nvSpPr>
          <p:cNvPr id="67586" name="Rectangle 2"/>
          <p:cNvSpPr>
            <a:spLocks noGrp="1" noRot="1" noChangeAspect="1" noChangeArrowheads="1" noTextEdit="1"/>
          </p:cNvSpPr>
          <p:nvPr>
            <p:ph type="sldImg"/>
          </p:nvPr>
        </p:nvSpPr>
        <p:spPr>
          <a:xfrm>
            <a:off x="469900" y="727075"/>
            <a:ext cx="6375400" cy="3586163"/>
          </a:xfrm>
          <a:ln/>
        </p:spPr>
      </p:sp>
      <p:sp>
        <p:nvSpPr>
          <p:cNvPr id="67587" name="Rectangle 3"/>
          <p:cNvSpPr>
            <a:spLocks noGrp="1" noChangeArrowheads="1"/>
          </p:cNvSpPr>
          <p:nvPr>
            <p:ph type="body" idx="1"/>
          </p:nvPr>
        </p:nvSpPr>
        <p:spPr>
          <a:xfrm>
            <a:off x="976313" y="4560888"/>
            <a:ext cx="5362575" cy="4319587"/>
          </a:xfrm>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39493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6810A758-B701-463C-BBC2-F27D541FB13E}" type="slidenum">
              <a:rPr lang="en-US" sz="1300">
                <a:latin typeface="Times New Roman" pitchFamily="18" charset="0"/>
              </a:rPr>
              <a:pPr algn="r" defTabSz="966788" eaLnBrk="0" hangingPunct="0"/>
              <a:t>33</a:t>
            </a:fld>
            <a:endParaRPr lang="en-US" sz="1300">
              <a:latin typeface="Times New Roman" pitchFamily="18" charset="0"/>
            </a:endParaRPr>
          </a:p>
        </p:txBody>
      </p:sp>
      <p:sp>
        <p:nvSpPr>
          <p:cNvPr id="6963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6963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5601418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a:xfrm>
            <a:off x="457200" y="720725"/>
            <a:ext cx="6400800" cy="3600450"/>
          </a:xfrm>
          <a:ln/>
        </p:spPr>
      </p:sp>
      <p:sp>
        <p:nvSpPr>
          <p:cNvPr id="72706" name="Notes Placeholder 2"/>
          <p:cNvSpPr>
            <a:spLocks noGrp="1"/>
          </p:cNvSpPr>
          <p:nvPr>
            <p:ph type="body" idx="1"/>
          </p:nvPr>
        </p:nvSpPr>
        <p:spPr>
          <a:noFill/>
          <a:ln/>
        </p:spPr>
        <p:txBody>
          <a:bodyPr/>
          <a:lstStyle/>
          <a:p>
            <a:endParaRPr lang="en-US">
              <a:latin typeface="Times New Roman" pitchFamily="18" charset="0"/>
              <a:ea typeface="ＭＳ Ｐゴシック" pitchFamily="34" charset="-128"/>
            </a:endParaRPr>
          </a:p>
        </p:txBody>
      </p:sp>
      <p:sp>
        <p:nvSpPr>
          <p:cNvPr id="72707"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862785DC-702E-47CC-ACB0-81E12C6A03F6}" type="slidenum">
              <a:rPr lang="en-US" sz="1300">
                <a:latin typeface="Times New Roman" pitchFamily="18" charset="0"/>
              </a:rPr>
              <a:pPr algn="r" defTabSz="966788" eaLnBrk="0" hangingPunct="0"/>
              <a:t>35</a:t>
            </a:fld>
            <a:endParaRPr lang="en-US" sz="1300">
              <a:latin typeface="Times New Roman" pitchFamily="18" charset="0"/>
            </a:endParaRPr>
          </a:p>
        </p:txBody>
      </p:sp>
    </p:spTree>
    <p:extLst>
      <p:ext uri="{BB962C8B-B14F-4D97-AF65-F5344CB8AC3E}">
        <p14:creationId xmlns:p14="http://schemas.microsoft.com/office/powerpoint/2010/main" val="5279195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89D24C7C-6D66-4E69-8F35-C44C3332BFA8}" type="slidenum">
              <a:rPr lang="en-US" sz="1300">
                <a:latin typeface="Times New Roman" pitchFamily="18" charset="0"/>
              </a:rPr>
              <a:pPr algn="r" defTabSz="966788" eaLnBrk="0" hangingPunct="0"/>
              <a:t>36</a:t>
            </a:fld>
            <a:endParaRPr lang="en-US" sz="1300">
              <a:latin typeface="Times New Roman" pitchFamily="18" charset="0"/>
            </a:endParaRPr>
          </a:p>
        </p:txBody>
      </p:sp>
      <p:sp>
        <p:nvSpPr>
          <p:cNvPr id="84994"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84995"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4887126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B66B64E8-A7A0-4077-9310-A8427C27EAEA}" type="slidenum">
              <a:rPr lang="en-US" sz="1300">
                <a:latin typeface="Times New Roman" pitchFamily="18" charset="0"/>
              </a:rPr>
              <a:pPr algn="r" defTabSz="966788" eaLnBrk="0" hangingPunct="0"/>
              <a:t>37</a:t>
            </a:fld>
            <a:endParaRPr lang="en-US" sz="1300">
              <a:latin typeface="Times New Roman" pitchFamily="18" charset="0"/>
            </a:endParaRPr>
          </a:p>
        </p:txBody>
      </p:sp>
      <p:sp>
        <p:nvSpPr>
          <p:cNvPr id="101378"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101379"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4607306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04C6A59F-9573-4FFE-8284-84A1DEAA495C}" type="slidenum">
              <a:rPr lang="en-US" sz="1300">
                <a:latin typeface="Times New Roman" pitchFamily="18" charset="0"/>
              </a:rPr>
              <a:pPr algn="r" defTabSz="966788" eaLnBrk="0" hangingPunct="0"/>
              <a:t>38</a:t>
            </a:fld>
            <a:endParaRPr lang="en-US" sz="1300">
              <a:latin typeface="Times New Roman" pitchFamily="18" charset="0"/>
            </a:endParaRPr>
          </a:p>
        </p:txBody>
      </p:sp>
      <p:sp>
        <p:nvSpPr>
          <p:cNvPr id="103426"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103427"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1820932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0" hangingPunct="0"/>
            <a:fld id="{CFD2AC07-8141-46E5-8C0B-F6EB3276F78C}" type="slidenum">
              <a:rPr lang="en-US" sz="1300">
                <a:latin typeface="Times New Roman" pitchFamily="18" charset="0"/>
              </a:rPr>
              <a:pPr algn="r" defTabSz="966788" eaLnBrk="0" hangingPunct="0"/>
              <a:t>39</a:t>
            </a:fld>
            <a:endParaRPr lang="en-US" sz="1300">
              <a:latin typeface="Times New Roman" pitchFamily="18" charset="0"/>
            </a:endParaRPr>
          </a:p>
        </p:txBody>
      </p:sp>
      <p:sp>
        <p:nvSpPr>
          <p:cNvPr id="117762" name="Rectangle 2"/>
          <p:cNvSpPr>
            <a:spLocks noGrp="1" noRot="1" noChangeAspect="1" noChangeArrowheads="1" noTextEdit="1"/>
          </p:cNvSpPr>
          <p:nvPr>
            <p:ph type="sldImg"/>
          </p:nvPr>
        </p:nvSpPr>
        <p:spPr>
          <a:xfrm>
            <a:off x="469900" y="727075"/>
            <a:ext cx="6375400" cy="3586163"/>
          </a:xfrm>
          <a:solidFill>
            <a:srgbClr val="FFFFFF"/>
          </a:solidFill>
          <a:ln/>
        </p:spPr>
      </p:sp>
      <p:sp>
        <p:nvSpPr>
          <p:cNvPr id="117763" name="Rectangle 3"/>
          <p:cNvSpPr>
            <a:spLocks noGrp="1" noChangeArrowheads="1"/>
          </p:cNvSpPr>
          <p:nvPr>
            <p:ph type="body" idx="1"/>
          </p:nvPr>
        </p:nvSpPr>
        <p:spPr>
          <a:xfrm>
            <a:off x="976313" y="4560888"/>
            <a:ext cx="5362575" cy="4319587"/>
          </a:xfrm>
          <a:solidFill>
            <a:srgbClr val="FFFFFF"/>
          </a:solidFill>
          <a:ln>
            <a:solidFill>
              <a:srgbClr val="000000"/>
            </a:solid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val="622805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2800" y="1122363"/>
            <a:ext cx="10668000" cy="2387600"/>
          </a:xfrm>
        </p:spPr>
        <p:txBody>
          <a:bodyPr anchor="b">
            <a:normAutofit/>
          </a:bodyPr>
          <a:lstStyle>
            <a:lvl1pPr algn="ctr">
              <a:defRPr sz="4800" b="1" i="0">
                <a:latin typeface="Candara" panose="020E0502030303020204" pitchFamily="34" charset="0"/>
                <a:cs typeface="Calibri" panose="020F050202020403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12800" y="3602038"/>
            <a:ext cx="10668000" cy="2341562"/>
          </a:xfrm>
        </p:spPr>
        <p:txBody>
          <a:bodyPr/>
          <a:lstStyle>
            <a:lvl1pPr marL="0" indent="0" algn="ctr">
              <a:buNone/>
              <a:defRPr sz="2400" b="0" i="0">
                <a:latin typeface="Candara" panose="020E0502030303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4127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0972800" cy="987552"/>
          </a:xfrm>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endParaRPr kumimoji="0" lang="en-US" dirty="0"/>
          </a:p>
        </p:txBody>
      </p:sp>
      <p:sp>
        <p:nvSpPr>
          <p:cNvPr id="3" name="Content Placeholder 2"/>
          <p:cNvSpPr>
            <a:spLocks noGrp="1"/>
          </p:cNvSpPr>
          <p:nvPr>
            <p:ph idx="1" hasCustomPrompt="1"/>
          </p:nvPr>
        </p:nvSpPr>
        <p:spPr/>
        <p:txBody>
          <a:bodyPr vert="horz" lIns="54864" tIns="91440" rtlCol="0">
            <a:normAutofit/>
          </a:bodyPr>
          <a:lstStyle>
            <a:lvl1pPr>
              <a:defRPr lang="en-US" dirty="0" smtClean="0"/>
            </a:lvl1pPr>
            <a:lvl2pPr>
              <a:defRPr lang="en-US" dirty="0" smtClean="0"/>
            </a:lvl2pPr>
            <a:lvl3pPr>
              <a:defRPr lang="en-US" dirty="0" smtClean="0"/>
            </a:lvl3pPr>
            <a:lvl4pPr>
              <a:defRPr lang="en-US" dirty="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p:txBody>
          <a:bodyPr/>
          <a:lstStyle/>
          <a:p>
            <a:pPr>
              <a:defRPr/>
            </a:pPr>
            <a:fld id="{C91549CA-3F3E-4863-879C-314BFB2A8436}" type="slidenum">
              <a:rPr lang="en-US" smtClean="0"/>
              <a:pPr>
                <a:defRPr/>
              </a:pPr>
              <a:t>‹#›</a:t>
            </a:fld>
            <a:endParaRPr lang="en-US" dirty="0"/>
          </a:p>
        </p:txBody>
      </p:sp>
    </p:spTree>
    <p:extLst>
      <p:ext uri="{BB962C8B-B14F-4D97-AF65-F5344CB8AC3E}">
        <p14:creationId xmlns:p14="http://schemas.microsoft.com/office/powerpoint/2010/main" val="242430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endParaRPr kumimoji="0" lang="en-US" dirty="0"/>
          </a:p>
        </p:txBody>
      </p:sp>
      <p:sp>
        <p:nvSpPr>
          <p:cNvPr id="3" name="Content Placeholder 2"/>
          <p:cNvSpPr>
            <a:spLocks noGrp="1"/>
          </p:cNvSpPr>
          <p:nvPr>
            <p:ph sz="half" idx="1" hasCustomPrompt="1"/>
          </p:nvPr>
        </p:nvSpPr>
        <p:spPr>
          <a:xfrm>
            <a:off x="609600" y="1295400"/>
            <a:ext cx="5384800" cy="5504688"/>
          </a:xfrm>
        </p:spPr>
        <p:txBody>
          <a:bodyPr lIns="91440"/>
          <a:lstStyle>
            <a:lvl1pPr marL="233363" indent="-222250" eaLnBrk="1" latinLnBrk="0" hangingPunct="1">
              <a:tabLst/>
              <a:defRPr sz="2800"/>
            </a:lvl1pPr>
            <a:lvl2pPr marL="458788" indent="-225425" eaLnBrk="1" latinLnBrk="0" hangingPunct="1">
              <a:tabLst/>
              <a:defRPr sz="2400"/>
            </a:lvl2pPr>
            <a:lvl3pPr marL="628650" indent="-169863" eaLnBrk="1" latinLnBrk="0" hangingPunct="1">
              <a:tabLst/>
              <a:defRPr sz="2000"/>
            </a:lvl3pPr>
            <a:lvl4pPr marL="1087438" indent="-292100" eaLnBrk="1" latinLnBrk="0" hangingPunct="1">
              <a:tabLst/>
              <a:defRPr sz="1800"/>
            </a:lvl4pPr>
            <a:lvl5pPr marL="1492250" indent="-203200" eaLnBrk="1" latinLnBrk="0" hangingPunct="1">
              <a:tabLst/>
              <a:defRPr sz="18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p:txBody>
      </p:sp>
      <p:sp>
        <p:nvSpPr>
          <p:cNvPr id="4" name="Content Placeholder 3"/>
          <p:cNvSpPr>
            <a:spLocks noGrp="1"/>
          </p:cNvSpPr>
          <p:nvPr>
            <p:ph sz="half" idx="2" hasCustomPrompt="1"/>
          </p:nvPr>
        </p:nvSpPr>
        <p:spPr>
          <a:xfrm>
            <a:off x="6197600" y="1295400"/>
            <a:ext cx="5384800" cy="5504688"/>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p>
        </p:txBody>
      </p:sp>
      <p:sp>
        <p:nvSpPr>
          <p:cNvPr id="7" name="Slide Number Placeholder 6"/>
          <p:cNvSpPr>
            <a:spLocks noGrp="1"/>
          </p:cNvSpPr>
          <p:nvPr>
            <p:ph type="sldNum" sz="quarter" idx="12"/>
          </p:nvPr>
        </p:nvSpPr>
        <p:spPr/>
        <p:txBody>
          <a:bodyPr/>
          <a:lstStyle/>
          <a:p>
            <a:pPr>
              <a:defRPr/>
            </a:pPr>
            <a:fld id="{E6A16A8C-2D22-4328-8F0C-A3AB0F93D1AC}" type="slidenum">
              <a:rPr lang="en-US" smtClean="0"/>
              <a:pPr>
                <a:defRPr/>
              </a:pPr>
              <a:t>‹#›</a:t>
            </a:fld>
            <a:endParaRPr lang="en-US" dirty="0"/>
          </a:p>
        </p:txBody>
      </p:sp>
    </p:spTree>
    <p:extLst>
      <p:ext uri="{BB962C8B-B14F-4D97-AF65-F5344CB8AC3E}">
        <p14:creationId xmlns:p14="http://schemas.microsoft.com/office/powerpoint/2010/main" val="411183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extLst/>
          </a:lstStyle>
          <a:p>
            <a:r>
              <a:rPr kumimoji="0" lang="en-US"/>
              <a:t>Click to edit Master title style</a:t>
            </a:r>
            <a:endParaRPr kumimoji="0" lang="en-US" dirty="0"/>
          </a:p>
        </p:txBody>
      </p:sp>
      <p:sp>
        <p:nvSpPr>
          <p:cNvPr id="3" name="Text Placeholder 2"/>
          <p:cNvSpPr>
            <a:spLocks noGrp="1"/>
          </p:cNvSpPr>
          <p:nvPr>
            <p:ph type="body" idx="1"/>
          </p:nvPr>
        </p:nvSpPr>
        <p:spPr>
          <a:xfrm>
            <a:off x="609600" y="1295401"/>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hasCustomPrompt="1"/>
          </p:nvPr>
        </p:nvSpPr>
        <p:spPr>
          <a:xfrm>
            <a:off x="609600" y="2023338"/>
            <a:ext cx="5386917" cy="4377462"/>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endParaRPr kumimoji="0" lang="en-US" dirty="0"/>
          </a:p>
        </p:txBody>
      </p:sp>
      <p:sp>
        <p:nvSpPr>
          <p:cNvPr id="5" name="Text Placeholder 4"/>
          <p:cNvSpPr>
            <a:spLocks noGrp="1"/>
          </p:cNvSpPr>
          <p:nvPr>
            <p:ph type="body" sz="quarter" idx="3"/>
          </p:nvPr>
        </p:nvSpPr>
        <p:spPr>
          <a:xfrm>
            <a:off x="6193368" y="1295401"/>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hasCustomPrompt="1"/>
          </p:nvPr>
        </p:nvSpPr>
        <p:spPr>
          <a:xfrm>
            <a:off x="6193368" y="2023338"/>
            <a:ext cx="5389033" cy="4377462"/>
          </a:xfrm>
        </p:spPr>
        <p:txBody>
          <a:bodyPr vert="horz" lIns="91440" tIns="91440" rtlCol="0">
            <a:normAutofit/>
          </a:bodyPr>
          <a:lstStyle>
            <a:lvl1pPr>
              <a:defRPr lang="en-US" sz="2800" dirty="0"/>
            </a:lvl1pPr>
            <a:lvl2pPr>
              <a:defRPr lang="en-US" sz="2400" dirty="0"/>
            </a:lvl2pPr>
            <a:lvl3pPr>
              <a:defRPr lang="en-US" sz="2000" dirty="0"/>
            </a:lvl3pPr>
          </a:lstStyle>
          <a:p>
            <a:pPr marL="233363" lvl="0" indent="-222250"/>
            <a:r>
              <a:rPr lang="en-US" dirty="0"/>
              <a:t>Click to edit Master text styles</a:t>
            </a:r>
          </a:p>
          <a:p>
            <a:pPr marL="458788" lvl="1" indent="-225425"/>
            <a:r>
              <a:rPr lang="en-US" dirty="0"/>
              <a:t>Second level</a:t>
            </a:r>
          </a:p>
          <a:p>
            <a:pPr marL="628650" lvl="2" indent="-169863"/>
            <a:r>
              <a:rPr lang="en-US" dirty="0"/>
              <a:t>Third level</a:t>
            </a:r>
            <a:endParaRPr kumimoji="0" lang="en-US" dirty="0"/>
          </a:p>
        </p:txBody>
      </p:sp>
      <p:sp>
        <p:nvSpPr>
          <p:cNvPr id="9" name="Slide Number Placeholder 8"/>
          <p:cNvSpPr>
            <a:spLocks noGrp="1"/>
          </p:cNvSpPr>
          <p:nvPr>
            <p:ph type="sldNum" sz="quarter" idx="12"/>
          </p:nvPr>
        </p:nvSpPr>
        <p:spPr/>
        <p:txBody>
          <a:bodyPr/>
          <a:lstStyle/>
          <a:p>
            <a:pPr>
              <a:defRPr/>
            </a:pPr>
            <a:fld id="{32543BF1-C5A8-4488-9E8C-40AEE07E1B7C}" type="slidenum">
              <a:rPr lang="en-US" smtClean="0"/>
              <a:pPr>
                <a:defRPr/>
              </a:pPr>
              <a:t>‹#›</a:t>
            </a:fld>
            <a:endParaRPr lang="en-US" dirty="0"/>
          </a:p>
        </p:txBody>
      </p:sp>
    </p:spTree>
    <p:extLst>
      <p:ext uri="{BB962C8B-B14F-4D97-AF65-F5344CB8AC3E}">
        <p14:creationId xmlns:p14="http://schemas.microsoft.com/office/powerpoint/2010/main" val="657059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Candara" panose="020E0502030303020204" pitchFamily="34" charset="0"/>
                <a:cs typeface="Calibri" panose="020F0502020204030204" pitchFamily="34" charset="0"/>
              </a:defRPr>
            </a:lvl1pPr>
          </a:lstStyle>
          <a:p>
            <a:r>
              <a:rPr kumimoji="0" lang="en-US"/>
              <a:t>Click to edit Master title style</a:t>
            </a:r>
          </a:p>
        </p:txBody>
      </p:sp>
      <p:sp>
        <p:nvSpPr>
          <p:cNvPr id="5" name="Slide Number Placeholder 4"/>
          <p:cNvSpPr>
            <a:spLocks noGrp="1"/>
          </p:cNvSpPr>
          <p:nvPr>
            <p:ph type="sldNum" sz="quarter" idx="12"/>
          </p:nvPr>
        </p:nvSpPr>
        <p:spPr/>
        <p:txBody>
          <a:bodyPr/>
          <a:lstStyle/>
          <a:p>
            <a:pPr>
              <a:defRPr/>
            </a:pPr>
            <a:fld id="{E6A16A8C-2D22-4328-8F0C-A3AB0F93D1AC}" type="slidenum">
              <a:rPr lang="en-US" smtClean="0"/>
              <a:pPr>
                <a:defRPr/>
              </a:pPr>
              <a:t>‹#›</a:t>
            </a:fld>
            <a:endParaRPr lang="en-US" dirty="0"/>
          </a:p>
        </p:txBody>
      </p:sp>
    </p:spTree>
    <p:extLst>
      <p:ext uri="{BB962C8B-B14F-4D97-AF65-F5344CB8AC3E}">
        <p14:creationId xmlns:p14="http://schemas.microsoft.com/office/powerpoint/2010/main" val="1818962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CCB92E7-A5D5-4F54-92D3-61191B3A3E3E}" type="slidenum">
              <a:rPr lang="en-US" smtClean="0"/>
              <a:pPr>
                <a:defRPr/>
              </a:pPr>
              <a:t>‹#›</a:t>
            </a:fld>
            <a:endParaRPr lang="en-US" dirty="0"/>
          </a:p>
        </p:txBody>
      </p:sp>
    </p:spTree>
    <p:extLst>
      <p:ext uri="{BB962C8B-B14F-4D97-AF65-F5344CB8AC3E}">
        <p14:creationId xmlns:p14="http://schemas.microsoft.com/office/powerpoint/2010/main" val="12277351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52400"/>
            <a:ext cx="109728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endParaRPr kumimoji="0" lang="en-US" dirty="0"/>
          </a:p>
        </p:txBody>
      </p:sp>
      <p:sp>
        <p:nvSpPr>
          <p:cNvPr id="3" name="Text Placeholder 2"/>
          <p:cNvSpPr>
            <a:spLocks noGrp="1"/>
          </p:cNvSpPr>
          <p:nvPr>
            <p:ph type="body" idx="1"/>
          </p:nvPr>
        </p:nvSpPr>
        <p:spPr>
          <a:xfrm>
            <a:off x="609600" y="1219201"/>
            <a:ext cx="10972800" cy="5334001"/>
          </a:xfrm>
          <a:prstGeom prst="rect">
            <a:avLst/>
          </a:prstGeom>
        </p:spPr>
        <p:txBody>
          <a:bodyPr vert="horz" lIns="54864" tIns="91440" rtlCol="0">
            <a:normAutofit/>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endParaRPr kumimoji="0" lang="en-US" dirty="0"/>
          </a:p>
        </p:txBody>
      </p:sp>
      <p:sp>
        <p:nvSpPr>
          <p:cNvPr id="6" name="Slide Number Placeholder 5"/>
          <p:cNvSpPr>
            <a:spLocks noGrp="1"/>
          </p:cNvSpPr>
          <p:nvPr>
            <p:ph type="sldNum" sz="quarter" idx="4"/>
          </p:nvPr>
        </p:nvSpPr>
        <p:spPr>
          <a:xfrm>
            <a:off x="10939195" y="6583680"/>
            <a:ext cx="978485" cy="274320"/>
          </a:xfrm>
          <a:prstGeom prst="rect">
            <a:avLst/>
          </a:prstGeom>
        </p:spPr>
        <p:txBody>
          <a:bodyPr vert="horz" bIns="0" rtlCol="0" anchor="ctr" anchorCtr="0"/>
          <a:lstStyle>
            <a:lvl1pPr algn="r" eaLnBrk="1" latinLnBrk="0" hangingPunct="1">
              <a:defRPr kumimoji="0" sz="900">
                <a:solidFill>
                  <a:schemeClr val="tx1">
                    <a:tint val="95000"/>
                  </a:schemeClr>
                </a:solidFill>
                <a:latin typeface="Calibri" pitchFamily="34" charset="0"/>
                <a:cs typeface="Calibri" pitchFamily="34" charset="0"/>
              </a:defRPr>
            </a:lvl1pPr>
            <a:extLst/>
          </a:lstStyle>
          <a:p>
            <a:pPr>
              <a:defRPr/>
            </a:pPr>
            <a:fld id="{E6A16A8C-2D22-4328-8F0C-A3AB0F93D1AC}" type="slidenum">
              <a:rPr lang="en-US" smtClean="0"/>
              <a:pPr>
                <a:defRPr/>
              </a:pPr>
              <a:t>‹#›</a:t>
            </a:fld>
            <a:endParaRPr lang="en-US" dirty="0"/>
          </a:p>
        </p:txBody>
      </p:sp>
    </p:spTree>
    <p:extLst>
      <p:ext uri="{BB962C8B-B14F-4D97-AF65-F5344CB8AC3E}">
        <p14:creationId xmlns:p14="http://schemas.microsoft.com/office/powerpoint/2010/main" val="184649198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Lst>
  <p:hf hdr="0" ftr="0" dt="0"/>
  <p:txStyles>
    <p:titleStyle>
      <a:lvl1pPr algn="l" rtl="0" eaLnBrk="1" latinLnBrk="0" hangingPunct="1">
        <a:spcBef>
          <a:spcPct val="0"/>
        </a:spcBef>
        <a:buNone/>
        <a:defRPr kumimoji="0" sz="4000" b="1" i="0" kern="1200">
          <a:solidFill>
            <a:schemeClr val="tx1"/>
          </a:solidFill>
          <a:effectLst/>
          <a:latin typeface="Candara" panose="020E0502030303020204" pitchFamily="34" charset="0"/>
          <a:ea typeface="+mj-ea"/>
          <a:cs typeface="Calibri" panose="020F0502020204030204" pitchFamily="34" charset="0"/>
        </a:defRPr>
      </a:lvl1pPr>
      <a:extLst/>
    </p:titleStyle>
    <p:bodyStyle>
      <a:lvl1pPr marL="350838" indent="-339725" algn="l" rtl="0" eaLnBrk="1" latinLnBrk="0" hangingPunct="1">
        <a:spcBef>
          <a:spcPts val="600"/>
        </a:spcBef>
        <a:spcAft>
          <a:spcPts val="600"/>
        </a:spcAft>
        <a:buClr>
          <a:schemeClr val="tx1"/>
        </a:buClr>
        <a:buSzPct val="100000"/>
        <a:buFont typeface="Arial" panose="020B0604020202020204" pitchFamily="34" charset="0"/>
        <a:buChar char="•"/>
        <a:tabLst/>
        <a:defRPr kumimoji="0" sz="3200" b="0" i="0" kern="1200">
          <a:solidFill>
            <a:schemeClr val="tx1"/>
          </a:solidFill>
          <a:latin typeface="Candara" panose="020E0502030303020204" pitchFamily="34" charset="0"/>
          <a:ea typeface="+mn-ea"/>
          <a:cs typeface="Calibri" pitchFamily="34" charset="0"/>
        </a:defRPr>
      </a:lvl1pPr>
      <a:lvl2pPr marL="628650" indent="-277813" algn="l" rtl="0" eaLnBrk="1" latinLnBrk="0" hangingPunct="1">
        <a:spcBef>
          <a:spcPts val="600"/>
        </a:spcBef>
        <a:spcAft>
          <a:spcPts val="600"/>
        </a:spcAft>
        <a:buClr>
          <a:schemeClr val="tx1"/>
        </a:buClr>
        <a:buSzPct val="100000"/>
        <a:buFont typeface="Arial" panose="020B0604020202020204" pitchFamily="34" charset="0"/>
        <a:buChar char="•"/>
        <a:tabLst/>
        <a:defRPr kumimoji="0" sz="2800" b="0" i="0" kern="1200">
          <a:solidFill>
            <a:schemeClr val="tx1"/>
          </a:solidFill>
          <a:latin typeface="Candara" panose="020E0502030303020204" pitchFamily="34" charset="0"/>
          <a:ea typeface="+mn-ea"/>
          <a:cs typeface="Calibri" pitchFamily="34" charset="0"/>
        </a:defRPr>
      </a:lvl2pPr>
      <a:lvl3pPr marL="863600" indent="-234950" algn="l" rtl="0" eaLnBrk="1" latinLnBrk="0" hangingPunct="1">
        <a:spcBef>
          <a:spcPts val="600"/>
        </a:spcBef>
        <a:spcAft>
          <a:spcPts val="600"/>
        </a:spcAft>
        <a:buClr>
          <a:schemeClr val="tx1"/>
        </a:buClr>
        <a:buSzPct val="80000"/>
        <a:buFont typeface="Arial" panose="020B0604020202020204" pitchFamily="34" charset="0"/>
        <a:buChar char="•"/>
        <a:tabLst/>
        <a:defRPr kumimoji="0" sz="2400" b="0" i="0" kern="1200">
          <a:solidFill>
            <a:schemeClr val="tx1"/>
          </a:solidFill>
          <a:latin typeface="Candara" panose="020E0502030303020204" pitchFamily="34" charset="0"/>
          <a:ea typeface="+mn-ea"/>
          <a:cs typeface="Calibri" pitchFamily="34" charset="0"/>
        </a:defRPr>
      </a:lvl3pPr>
      <a:lvl4pPr marL="1087438" indent="-223838" algn="l" rtl="0" eaLnBrk="1" latinLnBrk="0" hangingPunct="1">
        <a:spcBef>
          <a:spcPts val="600"/>
        </a:spcBef>
        <a:spcAft>
          <a:spcPts val="600"/>
        </a:spcAft>
        <a:buClr>
          <a:schemeClr val="tx1"/>
        </a:buClr>
        <a:buSzPct val="80000"/>
        <a:buFont typeface="Arial" panose="020B0604020202020204" pitchFamily="34" charset="0"/>
        <a:buChar char="•"/>
        <a:tabLst/>
        <a:defRPr kumimoji="0" sz="2000" b="0" i="0" kern="1200">
          <a:solidFill>
            <a:schemeClr val="tx1"/>
          </a:solidFill>
          <a:latin typeface="Candara" panose="020E0502030303020204" pitchFamily="34" charset="0"/>
          <a:ea typeface="+mn-ea"/>
          <a:cs typeface="Calibri" pitchFamily="34" charset="0"/>
        </a:defRPr>
      </a:lvl4pPr>
      <a:lvl5pPr marL="1604963" indent="-223838" algn="l" rtl="0" eaLnBrk="1" latinLnBrk="0" hangingPunct="1">
        <a:spcBef>
          <a:spcPts val="600"/>
        </a:spcBef>
        <a:spcAft>
          <a:spcPts val="600"/>
        </a:spcAft>
        <a:buClr>
          <a:schemeClr val="tx1"/>
        </a:buClr>
        <a:buSzPct val="80000"/>
        <a:buFont typeface="Wingdings" pitchFamily="2" charset="2"/>
        <a:buChar char="§"/>
        <a:tabLst/>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
          <p:cNvSpPr>
            <a:spLocks noGrp="1" noChangeArrowheads="1"/>
          </p:cNvSpPr>
          <p:nvPr>
            <p:ph type="ctrTitle"/>
          </p:nvPr>
        </p:nvSpPr>
        <p:spPr/>
        <p:txBody>
          <a:bodyPr/>
          <a:lstStyle/>
          <a:p>
            <a:pPr eaLnBrk="1" hangingPunct="1"/>
            <a:r>
              <a:rPr lang="en-US" sz="5400" dirty="0">
                <a:ea typeface="ＭＳ Ｐゴシック" pitchFamily="34" charset="-128"/>
              </a:rPr>
              <a:t>Concurrency: Deadlock</a:t>
            </a:r>
          </a:p>
        </p:txBody>
      </p:sp>
      <p:sp>
        <p:nvSpPr>
          <p:cNvPr id="16386" name="Rectangle 5"/>
          <p:cNvSpPr>
            <a:spLocks noGrp="1" noChangeArrowheads="1"/>
          </p:cNvSpPr>
          <p:nvPr>
            <p:ph type="subTitle" idx="1"/>
          </p:nvPr>
        </p:nvSpPr>
        <p:spPr/>
        <p:txBody>
          <a:bodyPr>
            <a:normAutofit/>
          </a:bodyPr>
          <a:lstStyle/>
          <a:p>
            <a:r>
              <a:rPr lang="en-US" sz="2800" dirty="0">
                <a:ea typeface="ＭＳ Ｐゴシック" pitchFamily="34" charset="-128"/>
              </a:rPr>
              <a:t>Dr. Probir Roy</a:t>
            </a:r>
          </a:p>
        </p:txBody>
      </p:sp>
      <p:sp>
        <p:nvSpPr>
          <p:cNvPr id="6" name="Rectangle 4">
            <a:extLst>
              <a:ext uri="{FF2B5EF4-FFF2-40B4-BE49-F238E27FC236}">
                <a16:creationId xmlns:a16="http://schemas.microsoft.com/office/drawing/2014/main" id="{7AFA18C3-7F25-3741-A55A-C2A1B7D3FB5C}"/>
              </a:ext>
            </a:extLst>
          </p:cNvPr>
          <p:cNvSpPr>
            <a:spLocks noChangeArrowheads="1"/>
          </p:cNvSpPr>
          <p:nvPr/>
        </p:nvSpPr>
        <p:spPr bwMode="auto">
          <a:xfrm>
            <a:off x="2667000" y="4648201"/>
            <a:ext cx="7162800" cy="1569660"/>
          </a:xfrm>
          <a:prstGeom prst="rect">
            <a:avLst/>
          </a:prstGeom>
          <a:noFill/>
          <a:ln w="9525">
            <a:noFill/>
            <a:miter lim="800000"/>
            <a:headEnd/>
            <a:tailEnd/>
          </a:ln>
        </p:spPr>
        <p:txBody>
          <a:bodyPr wrap="square">
            <a:spAutoFit/>
          </a:bodyPr>
          <a:lstStyle/>
          <a:p>
            <a:pPr>
              <a:defRPr/>
            </a:pPr>
            <a:r>
              <a:rPr lang="en-US" sz="1600" dirty="0">
                <a:solidFill>
                  <a:schemeClr val="bg1">
                    <a:lumMod val="50000"/>
                  </a:schemeClr>
                </a:solidFill>
                <a:latin typeface="Candara" panose="020E0502030303020204" pitchFamily="34" charset="0"/>
                <a:cs typeface="Calibri" panose="020F0502020204030204" pitchFamily="34" charset="0"/>
              </a:rPr>
              <a:t>Some slides are modified from </a:t>
            </a:r>
          </a:p>
          <a:p>
            <a:pPr marL="285750" indent="-285750">
              <a:buFont typeface="Arial"/>
              <a:buChar char="•"/>
              <a:defRPr/>
            </a:pPr>
            <a:r>
              <a:rPr lang="en-US" sz="1600" dirty="0">
                <a:solidFill>
                  <a:schemeClr val="bg1">
                    <a:lumMod val="50000"/>
                  </a:schemeClr>
                </a:solidFill>
                <a:latin typeface="Candara" panose="020E0502030303020204" pitchFamily="34" charset="0"/>
                <a:cs typeface="Calibri" panose="020F0502020204030204" pitchFamily="34" charset="0"/>
              </a:rPr>
              <a:t>Dr. </a:t>
            </a:r>
            <a:r>
              <a:rPr lang="en-US" sz="1600" dirty="0" err="1">
                <a:solidFill>
                  <a:schemeClr val="bg1">
                    <a:lumMod val="50000"/>
                  </a:schemeClr>
                </a:solidFill>
                <a:latin typeface="Candara" panose="020E0502030303020204" pitchFamily="34" charset="0"/>
                <a:cs typeface="Calibri" panose="020F0502020204030204" pitchFamily="34" charset="0"/>
              </a:rPr>
              <a:t>Shengquan</a:t>
            </a:r>
            <a:r>
              <a:rPr lang="en-US" sz="1600" dirty="0">
                <a:solidFill>
                  <a:schemeClr val="bg1">
                    <a:lumMod val="50000"/>
                  </a:schemeClr>
                </a:solidFill>
                <a:latin typeface="Candara" panose="020E0502030303020204" pitchFamily="34" charset="0"/>
                <a:cs typeface="Calibri" panose="020F0502020204030204" pitchFamily="34" charset="0"/>
              </a:rPr>
              <a:t> Wang</a:t>
            </a:r>
          </a:p>
          <a:p>
            <a:pPr marL="285750" indent="-285750">
              <a:buFont typeface="Arial"/>
              <a:buChar char="•"/>
              <a:defRPr/>
            </a:pPr>
            <a:r>
              <a:rPr lang="en-US" sz="1600" dirty="0">
                <a:solidFill>
                  <a:schemeClr val="bg1">
                    <a:lumMod val="50000"/>
                  </a:schemeClr>
                </a:solidFill>
                <a:latin typeface="Candara" panose="020E0502030303020204" pitchFamily="34" charset="0"/>
                <a:cs typeface="Calibri" panose="020F0502020204030204" pitchFamily="34" charset="0"/>
              </a:rPr>
              <a:t>Operating Systems: Three Easy Pieces, by </a:t>
            </a:r>
            <a:r>
              <a:rPr lang="en-US" sz="1600" dirty="0" err="1">
                <a:solidFill>
                  <a:schemeClr val="bg1">
                    <a:lumMod val="50000"/>
                  </a:schemeClr>
                </a:solidFill>
                <a:latin typeface="Candara" panose="020E0502030303020204" pitchFamily="34" charset="0"/>
                <a:cs typeface="Calibri" panose="020F0502020204030204" pitchFamily="34" charset="0"/>
              </a:rPr>
              <a:t>Remzi</a:t>
            </a:r>
            <a:r>
              <a:rPr lang="en-US" sz="1600" dirty="0">
                <a:solidFill>
                  <a:schemeClr val="bg1">
                    <a:lumMod val="50000"/>
                  </a:schemeClr>
                </a:solidFill>
                <a:latin typeface="Candara" panose="020E0502030303020204" pitchFamily="34" charset="0"/>
                <a:cs typeface="Calibri" panose="020F0502020204030204" pitchFamily="34" charset="0"/>
              </a:rPr>
              <a:t> H. </a:t>
            </a:r>
            <a:r>
              <a:rPr lang="en-US" sz="1600" dirty="0" err="1">
                <a:solidFill>
                  <a:schemeClr val="bg1">
                    <a:lumMod val="50000"/>
                  </a:schemeClr>
                </a:solidFill>
                <a:latin typeface="Candara" panose="020E0502030303020204" pitchFamily="34" charset="0"/>
                <a:cs typeface="Calibri" panose="020F0502020204030204" pitchFamily="34" charset="0"/>
              </a:rPr>
              <a:t>Arpaci-Dusseau</a:t>
            </a:r>
            <a:r>
              <a:rPr lang="en-US" sz="1600" dirty="0">
                <a:solidFill>
                  <a:schemeClr val="bg1">
                    <a:lumMod val="50000"/>
                  </a:schemeClr>
                </a:solidFill>
                <a:latin typeface="Candara" panose="020E0502030303020204" pitchFamily="34" charset="0"/>
                <a:cs typeface="Calibri" panose="020F0502020204030204" pitchFamily="34" charset="0"/>
              </a:rPr>
              <a:t> and Andrea C. </a:t>
            </a:r>
            <a:r>
              <a:rPr lang="en-US" sz="1600" dirty="0" err="1">
                <a:solidFill>
                  <a:schemeClr val="bg1">
                    <a:lumMod val="50000"/>
                  </a:schemeClr>
                </a:solidFill>
                <a:latin typeface="Candara" panose="020E0502030303020204" pitchFamily="34" charset="0"/>
                <a:cs typeface="Calibri" panose="020F0502020204030204" pitchFamily="34" charset="0"/>
              </a:rPr>
              <a:t>Arpaci-Dusseau</a:t>
            </a:r>
            <a:endParaRPr lang="en-US" sz="1600" dirty="0">
              <a:solidFill>
                <a:schemeClr val="bg1">
                  <a:lumMod val="50000"/>
                </a:schemeClr>
              </a:solidFill>
              <a:latin typeface="Candara" panose="020E0502030303020204" pitchFamily="34" charset="0"/>
              <a:cs typeface="Calibri" panose="020F0502020204030204" pitchFamily="34" charset="0"/>
            </a:endParaRPr>
          </a:p>
          <a:p>
            <a:pPr marL="285750" indent="-285750">
              <a:buFont typeface="Arial"/>
              <a:buChar char="•"/>
              <a:defRPr/>
            </a:pPr>
            <a:r>
              <a:rPr lang="en-US" sz="1600" dirty="0">
                <a:solidFill>
                  <a:schemeClr val="bg1">
                    <a:lumMod val="50000"/>
                  </a:schemeClr>
                </a:solidFill>
                <a:latin typeface="Candara" panose="020E0502030303020204" pitchFamily="34" charset="0"/>
                <a:cs typeface="Calibri" panose="020F0502020204030204" pitchFamily="34" charset="0"/>
              </a:rPr>
              <a:t>Operating System Concepts, 8th edition, by </a:t>
            </a:r>
            <a:r>
              <a:rPr lang="en-US" sz="1600" dirty="0" err="1">
                <a:solidFill>
                  <a:schemeClr val="bg1">
                    <a:lumMod val="50000"/>
                  </a:schemeClr>
                </a:solidFill>
                <a:latin typeface="Candara" panose="020E0502030303020204" pitchFamily="34" charset="0"/>
                <a:cs typeface="Calibri" panose="020F0502020204030204" pitchFamily="34" charset="0"/>
              </a:rPr>
              <a:t>Silberschatz</a:t>
            </a:r>
            <a:r>
              <a:rPr lang="en-US" sz="1600" dirty="0">
                <a:solidFill>
                  <a:schemeClr val="bg1">
                    <a:lumMod val="50000"/>
                  </a:schemeClr>
                </a:solidFill>
                <a:latin typeface="Candara" panose="020E0502030303020204" pitchFamily="34" charset="0"/>
                <a:cs typeface="Calibri" panose="020F0502020204030204" pitchFamily="34" charset="0"/>
              </a:rPr>
              <a:t>, Galvin, Gagne, John Wiley &amp; Sons, 2009</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3886200" y="0"/>
            <a:ext cx="4633784" cy="6858000"/>
          </a:xfrm>
          <a:prstGeom prst="rect">
            <a:avLst/>
          </a:prstGeom>
        </p:spPr>
      </p:pic>
      <p:sp>
        <p:nvSpPr>
          <p:cNvPr id="3" name="Slide Number Placeholder 2">
            <a:extLst>
              <a:ext uri="{FF2B5EF4-FFF2-40B4-BE49-F238E27FC236}">
                <a16:creationId xmlns:a16="http://schemas.microsoft.com/office/drawing/2014/main" id="{91603948-19CD-8647-BC53-63C246703C93}"/>
              </a:ext>
            </a:extLst>
          </p:cNvPr>
          <p:cNvSpPr>
            <a:spLocks noGrp="1"/>
          </p:cNvSpPr>
          <p:nvPr>
            <p:ph type="sldNum" sz="quarter" idx="12"/>
          </p:nvPr>
        </p:nvSpPr>
        <p:spPr/>
        <p:txBody>
          <a:bodyPr/>
          <a:lstStyle/>
          <a:p>
            <a:pPr>
              <a:defRPr/>
            </a:pPr>
            <a:fld id="{C91549CA-3F3E-4863-879C-314BFB2A8436}" type="slidenum">
              <a:rPr lang="en-US" smtClean="0"/>
              <a:pPr>
                <a:defRPr/>
              </a:pPr>
              <a:t>2</a:t>
            </a:fld>
            <a:endParaRPr lang="en-US" dirty="0"/>
          </a:p>
        </p:txBody>
      </p:sp>
    </p:spTree>
    <p:extLst>
      <p:ext uri="{BB962C8B-B14F-4D97-AF65-F5344CB8AC3E}">
        <p14:creationId xmlns:p14="http://schemas.microsoft.com/office/powerpoint/2010/main" val="1095827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4601" y="1905000"/>
            <a:ext cx="8305799" cy="1200329"/>
          </a:xfrm>
          <a:prstGeom prst="rect">
            <a:avLst/>
          </a:prstGeom>
          <a:noFill/>
        </p:spPr>
        <p:txBody>
          <a:bodyPr wrap="square" rtlCol="0">
            <a:spAutoFit/>
          </a:bodyPr>
          <a:lstStyle/>
          <a:p>
            <a:r>
              <a:rPr lang="en-US" sz="3600" dirty="0">
                <a:solidFill>
                  <a:srgbClr val="FF0000"/>
                </a:solidFill>
                <a:latin typeface="Candara" panose="020E0502030303020204" pitchFamily="34" charset="0"/>
              </a:rPr>
              <a:t>How did Mark successfully communicate with NASA initially after the accident?</a:t>
            </a:r>
          </a:p>
        </p:txBody>
      </p:sp>
      <p:sp>
        <p:nvSpPr>
          <p:cNvPr id="6" name="TextBox 5"/>
          <p:cNvSpPr txBox="1"/>
          <p:nvPr/>
        </p:nvSpPr>
        <p:spPr>
          <a:xfrm>
            <a:off x="2514601" y="3905072"/>
            <a:ext cx="7543800" cy="646331"/>
          </a:xfrm>
          <a:prstGeom prst="rect">
            <a:avLst/>
          </a:prstGeom>
          <a:noFill/>
        </p:spPr>
        <p:txBody>
          <a:bodyPr wrap="square" rtlCol="0">
            <a:spAutoFit/>
          </a:bodyPr>
          <a:lstStyle/>
          <a:p>
            <a:r>
              <a:rPr lang="en-US" sz="3600" dirty="0">
                <a:solidFill>
                  <a:schemeClr val="accent2"/>
                </a:solidFill>
                <a:latin typeface="Candara" panose="020E0502030303020204" pitchFamily="34" charset="0"/>
              </a:rPr>
              <a:t>Through Pathfinder, which is real.</a:t>
            </a:r>
          </a:p>
        </p:txBody>
      </p:sp>
      <p:sp>
        <p:nvSpPr>
          <p:cNvPr id="3" name="Slide Number Placeholder 2">
            <a:extLst>
              <a:ext uri="{FF2B5EF4-FFF2-40B4-BE49-F238E27FC236}">
                <a16:creationId xmlns:a16="http://schemas.microsoft.com/office/drawing/2014/main" id="{9B6387CF-0B60-DA4E-8EAA-77E2816F40E8}"/>
              </a:ext>
            </a:extLst>
          </p:cNvPr>
          <p:cNvSpPr>
            <a:spLocks noGrp="1"/>
          </p:cNvSpPr>
          <p:nvPr>
            <p:ph type="sldNum" sz="quarter" idx="12"/>
          </p:nvPr>
        </p:nvSpPr>
        <p:spPr/>
        <p:txBody>
          <a:bodyPr/>
          <a:lstStyle/>
          <a:p>
            <a:pPr>
              <a:defRPr/>
            </a:pPr>
            <a:fld id="{4CCB92E7-A5D5-4F54-92D3-61191B3A3E3E}" type="slidenum">
              <a:rPr lang="en-US" smtClean="0"/>
              <a:pPr>
                <a:defRPr/>
              </a:pPr>
              <a:t>3</a:t>
            </a:fld>
            <a:endParaRPr lang="en-US" dirty="0"/>
          </a:p>
        </p:txBody>
      </p:sp>
    </p:spTree>
    <p:extLst>
      <p:ext uri="{BB962C8B-B14F-4D97-AF65-F5344CB8AC3E}">
        <p14:creationId xmlns:p14="http://schemas.microsoft.com/office/powerpoint/2010/main" val="120084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5"/>
          <p:cNvSpPr>
            <a:spLocks noGrp="1" noChangeArrowheads="1"/>
          </p:cNvSpPr>
          <p:nvPr>
            <p:ph type="title"/>
          </p:nvPr>
        </p:nvSpPr>
        <p:spPr/>
        <p:txBody>
          <a:bodyPr/>
          <a:lstStyle/>
          <a:p>
            <a:r>
              <a:rPr lang="en-US" dirty="0"/>
              <a:t>Mars Pathfinder</a:t>
            </a:r>
          </a:p>
        </p:txBody>
      </p:sp>
      <p:sp>
        <p:nvSpPr>
          <p:cNvPr id="18434" name="Rectangle 7"/>
          <p:cNvSpPr>
            <a:spLocks noGrp="1" noChangeArrowheads="1"/>
          </p:cNvSpPr>
          <p:nvPr>
            <p:ph sz="half" idx="1"/>
          </p:nvPr>
        </p:nvSpPr>
        <p:spPr/>
        <p:txBody>
          <a:bodyPr/>
          <a:lstStyle/>
          <a:p>
            <a:r>
              <a:rPr lang="en-US" dirty="0"/>
              <a:t>The rover landed successfully on Mars on July 4, 1997.</a:t>
            </a:r>
          </a:p>
          <a:p>
            <a:r>
              <a:rPr lang="en-US" dirty="0"/>
              <a:t>But a few days into the mission, it was jeopardized by a bug in concurrent software.</a:t>
            </a:r>
          </a:p>
        </p:txBody>
      </p:sp>
      <p:pic>
        <p:nvPicPr>
          <p:cNvPr id="9" name="Picture 8">
            <a:extLst>
              <a:ext uri="{FF2B5EF4-FFF2-40B4-BE49-F238E27FC236}">
                <a16:creationId xmlns:a16="http://schemas.microsoft.com/office/drawing/2014/main" id="{0560E0A1-F4C3-0B48-9215-473BA83FC11C}"/>
              </a:ext>
            </a:extLst>
          </p:cNvPr>
          <p:cNvPicPr>
            <a:picLocks noChangeAspect="1"/>
          </p:cNvPicPr>
          <p:nvPr/>
        </p:nvPicPr>
        <p:blipFill>
          <a:blip r:embed="rId3"/>
          <a:stretch>
            <a:fillRect/>
          </a:stretch>
        </p:blipFill>
        <p:spPr>
          <a:xfrm>
            <a:off x="6172200" y="1528428"/>
            <a:ext cx="3898900" cy="3576972"/>
          </a:xfrm>
          <a:prstGeom prst="rect">
            <a:avLst/>
          </a:prstGeom>
        </p:spPr>
      </p:pic>
      <p:sp>
        <p:nvSpPr>
          <p:cNvPr id="10" name="Rectangle 9">
            <a:extLst>
              <a:ext uri="{FF2B5EF4-FFF2-40B4-BE49-F238E27FC236}">
                <a16:creationId xmlns:a16="http://schemas.microsoft.com/office/drawing/2014/main" id="{F796479C-9119-214A-BA17-ED4001C6F4FD}"/>
              </a:ext>
            </a:extLst>
          </p:cNvPr>
          <p:cNvSpPr/>
          <p:nvPr/>
        </p:nvSpPr>
        <p:spPr>
          <a:xfrm>
            <a:off x="6172201" y="5191072"/>
            <a:ext cx="4191000" cy="276999"/>
          </a:xfrm>
          <a:prstGeom prst="rect">
            <a:avLst/>
          </a:prstGeom>
        </p:spPr>
        <p:txBody>
          <a:bodyPr wrap="square">
            <a:spAutoFit/>
          </a:bodyPr>
          <a:lstStyle/>
          <a:p>
            <a:r>
              <a:rPr lang="en-US" sz="1200" dirty="0">
                <a:solidFill>
                  <a:schemeClr val="bg1">
                    <a:lumMod val="50000"/>
                  </a:schemeClr>
                </a:solidFill>
                <a:latin typeface="Candara" panose="020E0502030303020204" pitchFamily="34" charset="0"/>
              </a:rPr>
              <a:t>Source: http://</a:t>
            </a:r>
            <a:r>
              <a:rPr lang="en-US" sz="1200" dirty="0" err="1">
                <a:solidFill>
                  <a:schemeClr val="bg1">
                    <a:lumMod val="50000"/>
                  </a:schemeClr>
                </a:solidFill>
                <a:latin typeface="Candara" panose="020E0502030303020204" pitchFamily="34" charset="0"/>
              </a:rPr>
              <a:t>en.wikipedia.org</a:t>
            </a:r>
            <a:r>
              <a:rPr lang="en-US" sz="1200" dirty="0">
                <a:solidFill>
                  <a:schemeClr val="bg1">
                    <a:lumMod val="50000"/>
                  </a:schemeClr>
                </a:solidFill>
                <a:latin typeface="Candara" panose="020E0502030303020204" pitchFamily="34" charset="0"/>
              </a:rPr>
              <a:t>/wiki/</a:t>
            </a:r>
            <a:r>
              <a:rPr lang="en-US" sz="1200" dirty="0" err="1">
                <a:solidFill>
                  <a:schemeClr val="bg1">
                    <a:lumMod val="50000"/>
                  </a:schemeClr>
                </a:solidFill>
                <a:latin typeface="Candara" panose="020E0502030303020204" pitchFamily="34" charset="0"/>
              </a:rPr>
              <a:t>Mars_Pathfinder</a:t>
            </a:r>
            <a:endParaRPr lang="en-US" sz="1200" dirty="0">
              <a:solidFill>
                <a:schemeClr val="bg1">
                  <a:lumMod val="50000"/>
                </a:schemeClr>
              </a:solidFill>
              <a:latin typeface="Candara" panose="020E0502030303020204" pitchFamily="34" charset="0"/>
            </a:endParaRPr>
          </a:p>
        </p:txBody>
      </p:sp>
      <p:sp>
        <p:nvSpPr>
          <p:cNvPr id="6" name="Slide Number Placeholder 5">
            <a:extLst>
              <a:ext uri="{FF2B5EF4-FFF2-40B4-BE49-F238E27FC236}">
                <a16:creationId xmlns:a16="http://schemas.microsoft.com/office/drawing/2014/main" id="{DF87F17F-2532-C94B-82B7-6B0494A38907}"/>
              </a:ext>
            </a:extLst>
          </p:cNvPr>
          <p:cNvSpPr>
            <a:spLocks noGrp="1"/>
          </p:cNvSpPr>
          <p:nvPr>
            <p:ph type="sldNum" sz="quarter" idx="12"/>
          </p:nvPr>
        </p:nvSpPr>
        <p:spPr/>
        <p:txBody>
          <a:bodyPr/>
          <a:lstStyle/>
          <a:p>
            <a:pPr>
              <a:defRPr/>
            </a:pPr>
            <a:fld id="{E6A16A8C-2D22-4328-8F0C-A3AB0F93D1AC}"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5"/>
          <p:cNvSpPr>
            <a:spLocks noGrp="1" noChangeArrowheads="1"/>
          </p:cNvSpPr>
          <p:nvPr>
            <p:ph type="title"/>
          </p:nvPr>
        </p:nvSpPr>
        <p:spPr/>
        <p:txBody>
          <a:bodyPr/>
          <a:lstStyle/>
          <a:p>
            <a:r>
              <a:rPr lang="en-US" dirty="0"/>
              <a:t>Software glitches </a:t>
            </a:r>
          </a:p>
        </p:txBody>
      </p:sp>
      <p:sp>
        <p:nvSpPr>
          <p:cNvPr id="18434" name="Rectangle 7"/>
          <p:cNvSpPr>
            <a:spLocks noGrp="1" noChangeArrowheads="1"/>
          </p:cNvSpPr>
          <p:nvPr>
            <p:ph sz="half" idx="1"/>
          </p:nvPr>
        </p:nvSpPr>
        <p:spPr/>
        <p:txBody>
          <a:bodyPr/>
          <a:lstStyle/>
          <a:p>
            <a:r>
              <a:rPr lang="en-US" dirty="0"/>
              <a:t>It began experiencing system resets after starting gathering of meteorological data.</a:t>
            </a:r>
          </a:p>
          <a:p>
            <a:r>
              <a:rPr lang="en-US" dirty="0"/>
              <a:t>The resets were generated by a watchdog timer process.</a:t>
            </a:r>
          </a:p>
        </p:txBody>
      </p:sp>
      <p:sp>
        <p:nvSpPr>
          <p:cNvPr id="18435" name="Slide Number Placeholder 6"/>
          <p:cNvSpPr txBox="1">
            <a:spLocks noGrp="1"/>
          </p:cNvSpPr>
          <p:nvPr/>
        </p:nvSpPr>
        <p:spPr bwMode="auto">
          <a:xfrm>
            <a:off x="9686926" y="6400800"/>
            <a:ext cx="676275" cy="457200"/>
          </a:xfrm>
          <a:prstGeom prst="rect">
            <a:avLst/>
          </a:prstGeom>
          <a:noFill/>
          <a:ln w="9525">
            <a:noFill/>
            <a:miter lim="800000"/>
            <a:headEnd/>
            <a:tailEnd/>
          </a:ln>
        </p:spPr>
        <p:txBody>
          <a:bodyPr/>
          <a:lstStyle/>
          <a:p>
            <a:pPr algn="r" eaLnBrk="0" hangingPunct="0"/>
            <a:fld id="{058B9DAA-7AF5-42DC-94E9-B230CB05F334}" type="slidenum">
              <a:rPr lang="en-US" sz="1200">
                <a:latin typeface="Candara" panose="020E0502030303020204" pitchFamily="34" charset="0"/>
              </a:rPr>
              <a:pPr algn="r" eaLnBrk="0" hangingPunct="0"/>
              <a:t>5</a:t>
            </a:fld>
            <a:endParaRPr lang="en-US" sz="1200" dirty="0">
              <a:latin typeface="Candara" panose="020E0502030303020204" pitchFamily="34" charset="0"/>
            </a:endParaRPr>
          </a:p>
        </p:txBody>
      </p:sp>
      <p:pic>
        <p:nvPicPr>
          <p:cNvPr id="3" name="Picture 2"/>
          <p:cNvPicPr>
            <a:picLocks noChangeAspect="1"/>
          </p:cNvPicPr>
          <p:nvPr/>
        </p:nvPicPr>
        <p:blipFill>
          <a:blip r:embed="rId3"/>
          <a:stretch>
            <a:fillRect/>
          </a:stretch>
        </p:blipFill>
        <p:spPr>
          <a:xfrm>
            <a:off x="6172200" y="1528428"/>
            <a:ext cx="3898900" cy="3576972"/>
          </a:xfrm>
          <a:prstGeom prst="rect">
            <a:avLst/>
          </a:prstGeom>
        </p:spPr>
      </p:pic>
      <p:sp>
        <p:nvSpPr>
          <p:cNvPr id="4" name="Rectangle 3"/>
          <p:cNvSpPr/>
          <p:nvPr/>
        </p:nvSpPr>
        <p:spPr>
          <a:xfrm>
            <a:off x="6172201" y="5191072"/>
            <a:ext cx="4191000" cy="276999"/>
          </a:xfrm>
          <a:prstGeom prst="rect">
            <a:avLst/>
          </a:prstGeom>
        </p:spPr>
        <p:txBody>
          <a:bodyPr wrap="square">
            <a:spAutoFit/>
          </a:bodyPr>
          <a:lstStyle/>
          <a:p>
            <a:r>
              <a:rPr lang="en-US" sz="1200" dirty="0">
                <a:solidFill>
                  <a:schemeClr val="bg1">
                    <a:lumMod val="50000"/>
                  </a:schemeClr>
                </a:solidFill>
                <a:latin typeface="Candara" panose="020E0502030303020204" pitchFamily="34" charset="0"/>
              </a:rPr>
              <a:t>Source: http://</a:t>
            </a:r>
            <a:r>
              <a:rPr lang="en-US" sz="1200" dirty="0" err="1">
                <a:solidFill>
                  <a:schemeClr val="bg1">
                    <a:lumMod val="50000"/>
                  </a:schemeClr>
                </a:solidFill>
                <a:latin typeface="Candara" panose="020E0502030303020204" pitchFamily="34" charset="0"/>
              </a:rPr>
              <a:t>en.wikipedia.org</a:t>
            </a:r>
            <a:r>
              <a:rPr lang="en-US" sz="1200" dirty="0">
                <a:solidFill>
                  <a:schemeClr val="bg1">
                    <a:lumMod val="50000"/>
                  </a:schemeClr>
                </a:solidFill>
                <a:latin typeface="Candara" panose="020E0502030303020204" pitchFamily="34" charset="0"/>
              </a:rPr>
              <a:t>/wiki/</a:t>
            </a:r>
            <a:r>
              <a:rPr lang="en-US" sz="1200" dirty="0" err="1">
                <a:solidFill>
                  <a:schemeClr val="bg1">
                    <a:lumMod val="50000"/>
                  </a:schemeClr>
                </a:solidFill>
                <a:latin typeface="Candara" panose="020E0502030303020204" pitchFamily="34" charset="0"/>
              </a:rPr>
              <a:t>Mars_Pathfinder</a:t>
            </a:r>
            <a:endParaRPr lang="en-US" sz="1200" dirty="0">
              <a:solidFill>
                <a:schemeClr val="bg1">
                  <a:lumMod val="50000"/>
                </a:schemeClr>
              </a:solidFill>
              <a:latin typeface="Candara" panose="020E0502030303020204" pitchFamily="34" charset="0"/>
            </a:endParaRPr>
          </a:p>
        </p:txBody>
      </p:sp>
      <p:sp>
        <p:nvSpPr>
          <p:cNvPr id="6" name="Slide Number Placeholder 5">
            <a:extLst>
              <a:ext uri="{FF2B5EF4-FFF2-40B4-BE49-F238E27FC236}">
                <a16:creationId xmlns:a16="http://schemas.microsoft.com/office/drawing/2014/main" id="{9A3F83BC-AF19-FE46-89BF-6B7F4110A7A7}"/>
              </a:ext>
            </a:extLst>
          </p:cNvPr>
          <p:cNvSpPr>
            <a:spLocks noGrp="1"/>
          </p:cNvSpPr>
          <p:nvPr>
            <p:ph type="sldNum" sz="quarter" idx="12"/>
          </p:nvPr>
        </p:nvSpPr>
        <p:spPr/>
        <p:txBody>
          <a:bodyPr/>
          <a:lstStyle/>
          <a:p>
            <a:pPr>
              <a:defRPr/>
            </a:pPr>
            <a:fld id="{E6A16A8C-2D22-4328-8F0C-A3AB0F93D1AC}" type="slidenum">
              <a:rPr lang="en-US" smtClean="0"/>
              <a:pPr>
                <a:defRPr/>
              </a:pPr>
              <a:t>5</a:t>
            </a:fld>
            <a:endParaRPr lang="en-US" dirty="0"/>
          </a:p>
        </p:txBody>
      </p:sp>
    </p:spTree>
    <p:extLst>
      <p:ext uri="{BB962C8B-B14F-4D97-AF65-F5344CB8AC3E}">
        <p14:creationId xmlns:p14="http://schemas.microsoft.com/office/powerpoint/2010/main" val="4125766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Line 34"/>
          <p:cNvSpPr>
            <a:spLocks noChangeShapeType="1"/>
          </p:cNvSpPr>
          <p:nvPr/>
        </p:nvSpPr>
        <p:spPr bwMode="auto">
          <a:xfrm>
            <a:off x="5562600" y="4343400"/>
            <a:ext cx="4267200" cy="0"/>
          </a:xfrm>
          <a:prstGeom prst="line">
            <a:avLst/>
          </a:prstGeom>
          <a:noFill/>
          <a:ln w="28575">
            <a:solidFill>
              <a:srgbClr val="002060"/>
            </a:solidFill>
            <a:prstDash val="dash"/>
            <a:round/>
            <a:headEnd/>
            <a:tailEnd/>
          </a:ln>
        </p:spPr>
        <p:txBody>
          <a:bodyPr wrap="none" anchor="ctr"/>
          <a:lstStyle/>
          <a:p>
            <a:endParaRPr lang="en-US" dirty="0">
              <a:latin typeface="Candara" panose="020E0502030303020204" pitchFamily="34" charset="0"/>
            </a:endParaRPr>
          </a:p>
        </p:txBody>
      </p:sp>
      <p:sp>
        <p:nvSpPr>
          <p:cNvPr id="20481" name="Rectangle 2"/>
          <p:cNvSpPr>
            <a:spLocks noGrp="1" noChangeArrowheads="1"/>
          </p:cNvSpPr>
          <p:nvPr>
            <p:ph type="title"/>
          </p:nvPr>
        </p:nvSpPr>
        <p:spPr/>
        <p:txBody>
          <a:bodyPr/>
          <a:lstStyle/>
          <a:p>
            <a:r>
              <a:rPr lang="en-US" dirty="0"/>
              <a:t>What’s wrong?</a:t>
            </a:r>
          </a:p>
        </p:txBody>
      </p:sp>
      <p:sp>
        <p:nvSpPr>
          <p:cNvPr id="6" name="Content Placeholder 5"/>
          <p:cNvSpPr>
            <a:spLocks noGrp="1"/>
          </p:cNvSpPr>
          <p:nvPr>
            <p:ph idx="1"/>
          </p:nvPr>
        </p:nvSpPr>
        <p:spPr>
          <a:xfrm>
            <a:off x="609600" y="5181599"/>
            <a:ext cx="10972800" cy="1371603"/>
          </a:xfrm>
        </p:spPr>
        <p:txBody>
          <a:bodyPr>
            <a:normAutofit fontScale="85000" lnSpcReduction="20000"/>
          </a:bodyPr>
          <a:lstStyle/>
          <a:p>
            <a:r>
              <a:rPr lang="en-US" dirty="0"/>
              <a:t>Both bus management task and meteorological data gathering task use the “information bus” (shared memory)</a:t>
            </a:r>
          </a:p>
          <a:p>
            <a:r>
              <a:rPr lang="en-US" dirty="0" err="1"/>
              <a:t>mutex</a:t>
            </a:r>
            <a:r>
              <a:rPr lang="en-US" dirty="0"/>
              <a:t> is used to synchronize the accesses.</a:t>
            </a:r>
          </a:p>
        </p:txBody>
      </p:sp>
      <p:sp>
        <p:nvSpPr>
          <p:cNvPr id="5" name="Slide Number Placeholder 4">
            <a:extLst>
              <a:ext uri="{FF2B5EF4-FFF2-40B4-BE49-F238E27FC236}">
                <a16:creationId xmlns:a16="http://schemas.microsoft.com/office/drawing/2014/main" id="{CED41F50-F1F6-6843-AE7D-6A25AB03AEBF}"/>
              </a:ext>
            </a:extLst>
          </p:cNvPr>
          <p:cNvSpPr>
            <a:spLocks noGrp="1"/>
          </p:cNvSpPr>
          <p:nvPr>
            <p:ph type="sldNum" sz="quarter" idx="12"/>
          </p:nvPr>
        </p:nvSpPr>
        <p:spPr/>
        <p:txBody>
          <a:bodyPr/>
          <a:lstStyle/>
          <a:p>
            <a:pPr>
              <a:defRPr/>
            </a:pPr>
            <a:fld id="{C91549CA-3F3E-4863-879C-314BFB2A8436}" type="slidenum">
              <a:rPr lang="en-US" smtClean="0"/>
              <a:pPr>
                <a:defRPr/>
              </a:pPr>
              <a:t>6</a:t>
            </a:fld>
            <a:endParaRPr lang="en-US" dirty="0"/>
          </a:p>
        </p:txBody>
      </p:sp>
      <p:sp>
        <p:nvSpPr>
          <p:cNvPr id="20519" name="Line 4"/>
          <p:cNvSpPr>
            <a:spLocks noChangeShapeType="1"/>
          </p:cNvSpPr>
          <p:nvPr/>
        </p:nvSpPr>
        <p:spPr bwMode="auto">
          <a:xfrm>
            <a:off x="4495801" y="1981200"/>
            <a:ext cx="5943600" cy="0"/>
          </a:xfrm>
          <a:prstGeom prst="line">
            <a:avLst/>
          </a:prstGeom>
          <a:noFill/>
          <a:ln w="12700">
            <a:solidFill>
              <a:srgbClr val="002060"/>
            </a:solidFill>
            <a:round/>
            <a:headEnd/>
            <a:tailEnd type="triangle"/>
          </a:ln>
        </p:spPr>
        <p:txBody>
          <a:bodyPr wrap="none" anchor="ctr"/>
          <a:lstStyle/>
          <a:p>
            <a:endParaRPr lang="en-US" dirty="0">
              <a:latin typeface="Candara" panose="020E0502030303020204" pitchFamily="34" charset="0"/>
            </a:endParaRPr>
          </a:p>
        </p:txBody>
      </p:sp>
      <p:sp>
        <p:nvSpPr>
          <p:cNvPr id="20520" name="Line 5"/>
          <p:cNvSpPr>
            <a:spLocks noChangeShapeType="1"/>
          </p:cNvSpPr>
          <p:nvPr/>
        </p:nvSpPr>
        <p:spPr bwMode="auto">
          <a:xfrm>
            <a:off x="4495801" y="2819400"/>
            <a:ext cx="5943600" cy="0"/>
          </a:xfrm>
          <a:prstGeom prst="line">
            <a:avLst/>
          </a:prstGeom>
          <a:noFill/>
          <a:ln w="12700">
            <a:solidFill>
              <a:srgbClr val="002060"/>
            </a:solidFill>
            <a:round/>
            <a:headEnd/>
            <a:tailEnd type="triangle"/>
          </a:ln>
        </p:spPr>
        <p:txBody>
          <a:bodyPr wrap="none" anchor="ctr"/>
          <a:lstStyle/>
          <a:p>
            <a:endParaRPr lang="en-US" dirty="0">
              <a:latin typeface="Candara" panose="020E0502030303020204" pitchFamily="34" charset="0"/>
            </a:endParaRPr>
          </a:p>
        </p:txBody>
      </p:sp>
      <p:sp>
        <p:nvSpPr>
          <p:cNvPr id="20521" name="Line 6"/>
          <p:cNvSpPr>
            <a:spLocks noChangeShapeType="1"/>
          </p:cNvSpPr>
          <p:nvPr/>
        </p:nvSpPr>
        <p:spPr bwMode="auto">
          <a:xfrm>
            <a:off x="4495801" y="3657600"/>
            <a:ext cx="5943600" cy="0"/>
          </a:xfrm>
          <a:prstGeom prst="line">
            <a:avLst/>
          </a:prstGeom>
          <a:noFill/>
          <a:ln w="12700">
            <a:solidFill>
              <a:srgbClr val="002060"/>
            </a:solidFill>
            <a:round/>
            <a:headEnd/>
            <a:tailEnd type="triangle"/>
          </a:ln>
        </p:spPr>
        <p:txBody>
          <a:bodyPr wrap="none" anchor="ctr"/>
          <a:lstStyle/>
          <a:p>
            <a:endParaRPr lang="en-US" dirty="0">
              <a:latin typeface="Candara" panose="020E0502030303020204" pitchFamily="34" charset="0"/>
            </a:endParaRPr>
          </a:p>
        </p:txBody>
      </p:sp>
      <p:sp>
        <p:nvSpPr>
          <p:cNvPr id="20522" name="Line 7"/>
          <p:cNvSpPr>
            <a:spLocks noChangeShapeType="1"/>
          </p:cNvSpPr>
          <p:nvPr/>
        </p:nvSpPr>
        <p:spPr bwMode="auto">
          <a:xfrm>
            <a:off x="4495801" y="4495800"/>
            <a:ext cx="5943600" cy="0"/>
          </a:xfrm>
          <a:prstGeom prst="line">
            <a:avLst/>
          </a:prstGeom>
          <a:noFill/>
          <a:ln w="12700">
            <a:solidFill>
              <a:srgbClr val="002060"/>
            </a:solidFill>
            <a:round/>
            <a:headEnd/>
            <a:tailEnd type="triangle"/>
          </a:ln>
        </p:spPr>
        <p:txBody>
          <a:bodyPr wrap="none" anchor="ctr"/>
          <a:lstStyle/>
          <a:p>
            <a:endParaRPr lang="en-US" dirty="0">
              <a:latin typeface="Candara" panose="020E0502030303020204" pitchFamily="34" charset="0"/>
            </a:endParaRPr>
          </a:p>
        </p:txBody>
      </p:sp>
      <p:sp>
        <p:nvSpPr>
          <p:cNvPr id="20484" name="AutoShape 11"/>
          <p:cNvSpPr>
            <a:spLocks/>
          </p:cNvSpPr>
          <p:nvPr/>
        </p:nvSpPr>
        <p:spPr bwMode="auto">
          <a:xfrm>
            <a:off x="4191000" y="2743200"/>
            <a:ext cx="228600" cy="990600"/>
          </a:xfrm>
          <a:prstGeom prst="leftBrace">
            <a:avLst>
              <a:gd name="adj1" fmla="val 36111"/>
              <a:gd name="adj2" fmla="val 50000"/>
            </a:avLst>
          </a:prstGeom>
          <a:noFill/>
          <a:ln w="12700">
            <a:solidFill>
              <a:srgbClr val="002060"/>
            </a:solidFill>
            <a:round/>
            <a:headEnd/>
            <a:tailEnd/>
          </a:ln>
        </p:spPr>
        <p:txBody>
          <a:bodyPr wrap="none" anchor="ctr"/>
          <a:lstStyle/>
          <a:p>
            <a:pPr eaLnBrk="0" hangingPunct="0"/>
            <a:endParaRPr lang="en-US" sz="1600" u="sng" dirty="0">
              <a:latin typeface="Candara" panose="020E0502030303020204" pitchFamily="34" charset="0"/>
            </a:endParaRPr>
          </a:p>
        </p:txBody>
      </p:sp>
      <p:sp>
        <p:nvSpPr>
          <p:cNvPr id="20485" name="Text Box 12"/>
          <p:cNvSpPr txBox="1">
            <a:spLocks noChangeArrowheads="1"/>
          </p:cNvSpPr>
          <p:nvPr/>
        </p:nvSpPr>
        <p:spPr bwMode="auto">
          <a:xfrm>
            <a:off x="9620016" y="2054226"/>
            <a:ext cx="976549" cy="276999"/>
          </a:xfrm>
          <a:prstGeom prst="rect">
            <a:avLst/>
          </a:prstGeom>
          <a:noFill/>
          <a:ln w="12700">
            <a:noFill/>
            <a:miter lim="800000"/>
            <a:headEnd/>
            <a:tailEnd/>
          </a:ln>
        </p:spPr>
        <p:txBody>
          <a:bodyPr wrap="none">
            <a:spAutoFit/>
          </a:bodyPr>
          <a:lstStyle/>
          <a:p>
            <a:pPr algn="r" eaLnBrk="0" hangingPunct="0"/>
            <a:r>
              <a:rPr lang="en-US" sz="1200" dirty="0">
                <a:latin typeface="Candara" panose="020E0502030303020204" pitchFamily="34" charset="0"/>
              </a:rPr>
              <a:t>high priority</a:t>
            </a:r>
          </a:p>
        </p:txBody>
      </p:sp>
      <p:sp>
        <p:nvSpPr>
          <p:cNvPr id="20486" name="Text Box 13"/>
          <p:cNvSpPr txBox="1">
            <a:spLocks noChangeArrowheads="1"/>
          </p:cNvSpPr>
          <p:nvPr/>
        </p:nvSpPr>
        <p:spPr bwMode="auto">
          <a:xfrm>
            <a:off x="9641071" y="4568826"/>
            <a:ext cx="933269" cy="276999"/>
          </a:xfrm>
          <a:prstGeom prst="rect">
            <a:avLst/>
          </a:prstGeom>
          <a:noFill/>
          <a:ln w="12700">
            <a:noFill/>
            <a:miter lim="800000"/>
            <a:headEnd/>
            <a:tailEnd/>
          </a:ln>
        </p:spPr>
        <p:txBody>
          <a:bodyPr wrap="none">
            <a:spAutoFit/>
          </a:bodyPr>
          <a:lstStyle/>
          <a:p>
            <a:pPr algn="r" eaLnBrk="0" hangingPunct="0"/>
            <a:r>
              <a:rPr lang="en-US" sz="1200" dirty="0">
                <a:latin typeface="Candara" panose="020E0502030303020204" pitchFamily="34" charset="0"/>
              </a:rPr>
              <a:t>low priority</a:t>
            </a:r>
          </a:p>
        </p:txBody>
      </p:sp>
      <p:sp>
        <p:nvSpPr>
          <p:cNvPr id="1252366" name="Rectangle 14"/>
          <p:cNvSpPr>
            <a:spLocks noChangeArrowheads="1"/>
          </p:cNvSpPr>
          <p:nvPr/>
        </p:nvSpPr>
        <p:spPr bwMode="auto">
          <a:xfrm>
            <a:off x="4648201" y="4191000"/>
            <a:ext cx="8382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1252368" name="Rectangle 16"/>
          <p:cNvSpPr>
            <a:spLocks noChangeArrowheads="1"/>
          </p:cNvSpPr>
          <p:nvPr/>
        </p:nvSpPr>
        <p:spPr bwMode="auto">
          <a:xfrm>
            <a:off x="5486402" y="4191000"/>
            <a:ext cx="152399" cy="304800"/>
          </a:xfrm>
          <a:prstGeom prst="rect">
            <a:avLst/>
          </a:prstGeom>
          <a:solidFill>
            <a:srgbClr val="800000"/>
          </a:solidFill>
          <a:ln w="12700">
            <a:solidFill>
              <a:schemeClr val="accent1"/>
            </a:solidFill>
            <a:miter lim="800000"/>
            <a:headEnd/>
            <a:tailEnd/>
          </a:ln>
          <a:effectLst>
            <a:outerShdw blurRad="63500" dist="38099" dir="2700000" algn="ctr" rotWithShape="0">
              <a:srgbClr val="B2B2B2">
                <a:alpha val="74998"/>
              </a:srgbClr>
            </a:outerShdw>
          </a:effectLst>
        </p:spPr>
        <p:txBody>
          <a:bodyPr wrap="none" anchor="ctr"/>
          <a:lstStyle/>
          <a:p>
            <a:pPr eaLnBrk="0" hangingPunct="0">
              <a:defRPr/>
            </a:pPr>
            <a:endParaRPr lang="en-US" sz="1600" u="sng" dirty="0">
              <a:solidFill>
                <a:srgbClr val="800000"/>
              </a:solidFill>
              <a:latin typeface="Candara" panose="020E0502030303020204" pitchFamily="34" charset="0"/>
            </a:endParaRPr>
          </a:p>
        </p:txBody>
      </p:sp>
      <p:sp>
        <p:nvSpPr>
          <p:cNvPr id="20512" name="Rectangle 39"/>
          <p:cNvSpPr>
            <a:spLocks noChangeArrowheads="1"/>
          </p:cNvSpPr>
          <p:nvPr/>
        </p:nvSpPr>
        <p:spPr bwMode="auto">
          <a:xfrm>
            <a:off x="609600" y="1813411"/>
            <a:ext cx="3805232" cy="369332"/>
          </a:xfrm>
          <a:prstGeom prst="rect">
            <a:avLst/>
          </a:prstGeom>
          <a:noFill/>
          <a:ln w="9525">
            <a:noFill/>
            <a:miter lim="800000"/>
            <a:headEnd/>
            <a:tailEnd/>
          </a:ln>
        </p:spPr>
        <p:txBody>
          <a:bodyPr wrap="square" anchor="ctr">
            <a:spAutoFit/>
          </a:bodyPr>
          <a:lstStyle/>
          <a:p>
            <a:pPr eaLnBrk="0" hangingPunct="0"/>
            <a:r>
              <a:rPr lang="en-US" dirty="0">
                <a:solidFill>
                  <a:srgbClr val="002060"/>
                </a:solidFill>
                <a:latin typeface="Candara" panose="020E0502030303020204" pitchFamily="34" charset="0"/>
              </a:rPr>
              <a:t>bus management task</a:t>
            </a:r>
            <a:r>
              <a:rPr lang="en-US" u="sng" dirty="0">
                <a:solidFill>
                  <a:srgbClr val="002060"/>
                </a:solidFill>
                <a:latin typeface="Candara" panose="020E0502030303020204" pitchFamily="34" charset="0"/>
              </a:rPr>
              <a:t> </a:t>
            </a:r>
          </a:p>
        </p:txBody>
      </p:sp>
      <p:sp>
        <p:nvSpPr>
          <p:cNvPr id="20513" name="Rectangle 40"/>
          <p:cNvSpPr>
            <a:spLocks noChangeArrowheads="1"/>
          </p:cNvSpPr>
          <p:nvPr/>
        </p:nvSpPr>
        <p:spPr bwMode="auto">
          <a:xfrm>
            <a:off x="609600" y="3077647"/>
            <a:ext cx="3805230" cy="369332"/>
          </a:xfrm>
          <a:prstGeom prst="rect">
            <a:avLst/>
          </a:prstGeom>
          <a:noFill/>
          <a:ln w="9525">
            <a:noFill/>
            <a:miter lim="800000"/>
            <a:headEnd/>
            <a:tailEnd/>
          </a:ln>
        </p:spPr>
        <p:txBody>
          <a:bodyPr wrap="square" anchor="ctr">
            <a:spAutoFit/>
          </a:bodyPr>
          <a:lstStyle/>
          <a:p>
            <a:pPr eaLnBrk="0" hangingPunct="0"/>
            <a:r>
              <a:rPr lang="en-US" dirty="0">
                <a:solidFill>
                  <a:srgbClr val="002060"/>
                </a:solidFill>
                <a:latin typeface="Candara" panose="020E0502030303020204" pitchFamily="34" charset="0"/>
              </a:rPr>
              <a:t>communications tasks</a:t>
            </a:r>
          </a:p>
        </p:txBody>
      </p:sp>
      <p:sp>
        <p:nvSpPr>
          <p:cNvPr id="20514" name="Rectangle 41"/>
          <p:cNvSpPr>
            <a:spLocks noChangeArrowheads="1"/>
          </p:cNvSpPr>
          <p:nvPr/>
        </p:nvSpPr>
        <p:spPr bwMode="auto">
          <a:xfrm>
            <a:off x="609600" y="4141857"/>
            <a:ext cx="3805230" cy="369332"/>
          </a:xfrm>
          <a:prstGeom prst="rect">
            <a:avLst/>
          </a:prstGeom>
          <a:noFill/>
          <a:ln w="9525">
            <a:noFill/>
            <a:miter lim="800000"/>
            <a:headEnd/>
            <a:tailEnd/>
          </a:ln>
        </p:spPr>
        <p:txBody>
          <a:bodyPr wrap="square" anchor="ctr">
            <a:spAutoFit/>
          </a:bodyPr>
          <a:lstStyle/>
          <a:p>
            <a:pPr eaLnBrk="0" hangingPunct="0"/>
            <a:r>
              <a:rPr lang="en-US" dirty="0">
                <a:solidFill>
                  <a:srgbClr val="002060"/>
                </a:solidFill>
                <a:latin typeface="Candara" panose="020E0502030303020204" pitchFamily="34" charset="0"/>
              </a:rPr>
              <a:t>meteorological data gathering task</a:t>
            </a:r>
            <a:r>
              <a:rPr lang="en-US" u="sng" dirty="0">
                <a:solidFill>
                  <a:srgbClr val="002060"/>
                </a:solidFill>
                <a:latin typeface="Candara" panose="020E0502030303020204" pitchFamily="34" charset="0"/>
              </a:rPr>
              <a:t> </a:t>
            </a:r>
          </a:p>
        </p:txBody>
      </p:sp>
      <p:sp>
        <p:nvSpPr>
          <p:cNvPr id="20516" name="Text Box 49"/>
          <p:cNvSpPr txBox="1">
            <a:spLocks noChangeArrowheads="1"/>
          </p:cNvSpPr>
          <p:nvPr/>
        </p:nvSpPr>
        <p:spPr bwMode="auto">
          <a:xfrm>
            <a:off x="9333295" y="3125789"/>
            <a:ext cx="1241045" cy="276999"/>
          </a:xfrm>
          <a:prstGeom prst="rect">
            <a:avLst/>
          </a:prstGeom>
          <a:noFill/>
          <a:ln w="12700">
            <a:noFill/>
            <a:miter lim="800000"/>
            <a:headEnd/>
            <a:tailEnd/>
          </a:ln>
        </p:spPr>
        <p:txBody>
          <a:bodyPr wrap="none">
            <a:spAutoFit/>
          </a:bodyPr>
          <a:lstStyle/>
          <a:p>
            <a:pPr algn="r" eaLnBrk="0" hangingPunct="0"/>
            <a:r>
              <a:rPr lang="en-US" sz="1200" dirty="0">
                <a:latin typeface="Candara" panose="020E0502030303020204" pitchFamily="34" charset="0"/>
              </a:rPr>
              <a:t>middle priorities</a:t>
            </a:r>
          </a:p>
        </p:txBody>
      </p:sp>
      <p:sp>
        <p:nvSpPr>
          <p:cNvPr id="45" name="Rectangle 44"/>
          <p:cNvSpPr/>
          <p:nvPr/>
        </p:nvSpPr>
        <p:spPr>
          <a:xfrm>
            <a:off x="7584134" y="6099825"/>
            <a:ext cx="4226866" cy="307777"/>
          </a:xfrm>
          <a:prstGeom prst="rect">
            <a:avLst/>
          </a:prstGeom>
        </p:spPr>
        <p:txBody>
          <a:bodyPr wrap="square">
            <a:spAutoFit/>
          </a:bodyPr>
          <a:lstStyle/>
          <a:p>
            <a:pPr marL="12700" lvl="1" eaLnBrk="1" hangingPunct="1"/>
            <a:r>
              <a:rPr lang="en-US" sz="1400" dirty="0">
                <a:solidFill>
                  <a:schemeClr val="bg1">
                    <a:lumMod val="50000"/>
                  </a:schemeClr>
                </a:solidFill>
                <a:latin typeface="Candara" panose="020E0502030303020204" pitchFamily="34" charset="0"/>
                <a:ea typeface="ＭＳ Ｐゴシック" pitchFamily="34" charset="-128"/>
              </a:rPr>
              <a:t>http://</a:t>
            </a:r>
            <a:r>
              <a:rPr lang="en-US" sz="1400" dirty="0" err="1">
                <a:solidFill>
                  <a:schemeClr val="bg1">
                    <a:lumMod val="50000"/>
                  </a:schemeClr>
                </a:solidFill>
                <a:latin typeface="Candara" panose="020E0502030303020204" pitchFamily="34" charset="0"/>
                <a:ea typeface="ＭＳ Ｐゴシック" pitchFamily="34" charset="-128"/>
              </a:rPr>
              <a:t>research.microsoft.com</a:t>
            </a:r>
            <a:r>
              <a:rPr lang="en-US" sz="1400" dirty="0">
                <a:solidFill>
                  <a:schemeClr val="bg1">
                    <a:lumMod val="50000"/>
                  </a:schemeClr>
                </a:solidFill>
                <a:latin typeface="Candara" panose="020E0502030303020204" pitchFamily="34" charset="0"/>
                <a:ea typeface="ＭＳ Ｐゴシック" pitchFamily="34" charset="-128"/>
              </a:rPr>
              <a:t>/~</a:t>
            </a:r>
            <a:r>
              <a:rPr lang="en-US" sz="1400" dirty="0" err="1">
                <a:solidFill>
                  <a:schemeClr val="bg1">
                    <a:lumMod val="50000"/>
                  </a:schemeClr>
                </a:solidFill>
                <a:latin typeface="Candara" panose="020E0502030303020204" pitchFamily="34" charset="0"/>
                <a:ea typeface="ＭＳ Ｐゴシック" pitchFamily="34" charset="-128"/>
              </a:rPr>
              <a:t>mbj</a:t>
            </a:r>
            <a:r>
              <a:rPr lang="en-US" sz="1400" dirty="0">
                <a:solidFill>
                  <a:schemeClr val="bg1">
                    <a:lumMod val="50000"/>
                  </a:schemeClr>
                </a:solidFill>
                <a:latin typeface="Candara" panose="020E0502030303020204" pitchFamily="34" charset="0"/>
                <a:ea typeface="ＭＳ Ｐゴシック" pitchFamily="34" charset="-128"/>
              </a:rPr>
              <a:t>/</a:t>
            </a:r>
            <a:r>
              <a:rPr lang="en-US" sz="1400" dirty="0" err="1">
                <a:solidFill>
                  <a:schemeClr val="bg1">
                    <a:lumMod val="50000"/>
                  </a:schemeClr>
                </a:solidFill>
                <a:latin typeface="Candara" panose="020E0502030303020204" pitchFamily="34" charset="0"/>
                <a:ea typeface="ＭＳ Ｐゴシック" pitchFamily="34" charset="-128"/>
              </a:rPr>
              <a:t>Mars_Pathfinder</a:t>
            </a:r>
            <a:endParaRPr lang="en-US" sz="1400" dirty="0">
              <a:solidFill>
                <a:schemeClr val="bg1">
                  <a:lumMod val="50000"/>
                </a:schemeClr>
              </a:solidFill>
              <a:latin typeface="Candara" panose="020E0502030303020204" pitchFamily="34" charset="0"/>
            </a:endParaRPr>
          </a:p>
        </p:txBody>
      </p:sp>
      <p:sp>
        <p:nvSpPr>
          <p:cNvPr id="59" name="Rectangle 14"/>
          <p:cNvSpPr>
            <a:spLocks noChangeArrowheads="1"/>
          </p:cNvSpPr>
          <p:nvPr/>
        </p:nvSpPr>
        <p:spPr bwMode="auto">
          <a:xfrm>
            <a:off x="5638800" y="3352800"/>
            <a:ext cx="3048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35" name="Rectangle 14"/>
          <p:cNvSpPr>
            <a:spLocks noChangeArrowheads="1"/>
          </p:cNvSpPr>
          <p:nvPr/>
        </p:nvSpPr>
        <p:spPr bwMode="auto">
          <a:xfrm>
            <a:off x="5943600" y="2514600"/>
            <a:ext cx="3810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36" name="Rectangle 14"/>
          <p:cNvSpPr>
            <a:spLocks noChangeArrowheads="1"/>
          </p:cNvSpPr>
          <p:nvPr/>
        </p:nvSpPr>
        <p:spPr bwMode="auto">
          <a:xfrm>
            <a:off x="6324600" y="3352800"/>
            <a:ext cx="3810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37" name="Rectangle 14"/>
          <p:cNvSpPr>
            <a:spLocks noChangeArrowheads="1"/>
          </p:cNvSpPr>
          <p:nvPr/>
        </p:nvSpPr>
        <p:spPr bwMode="auto">
          <a:xfrm>
            <a:off x="6705600" y="1676400"/>
            <a:ext cx="4572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39" name="Line 34"/>
          <p:cNvSpPr>
            <a:spLocks noChangeShapeType="1"/>
          </p:cNvSpPr>
          <p:nvPr/>
        </p:nvSpPr>
        <p:spPr bwMode="auto">
          <a:xfrm>
            <a:off x="7162800" y="1828800"/>
            <a:ext cx="2667000" cy="0"/>
          </a:xfrm>
          <a:prstGeom prst="line">
            <a:avLst/>
          </a:prstGeom>
          <a:noFill/>
          <a:ln w="28575">
            <a:solidFill>
              <a:srgbClr val="002060"/>
            </a:solidFill>
            <a:prstDash val="dash"/>
            <a:round/>
            <a:headEnd/>
            <a:tailEnd/>
          </a:ln>
        </p:spPr>
        <p:txBody>
          <a:bodyPr wrap="none" anchor="ctr"/>
          <a:lstStyle/>
          <a:p>
            <a:endParaRPr lang="en-US" dirty="0">
              <a:latin typeface="Candara" panose="020E0502030303020204" pitchFamily="34" charset="0"/>
            </a:endParaRPr>
          </a:p>
        </p:txBody>
      </p:sp>
      <p:sp>
        <p:nvSpPr>
          <p:cNvPr id="41" name="Line 25"/>
          <p:cNvSpPr>
            <a:spLocks noChangeShapeType="1"/>
          </p:cNvSpPr>
          <p:nvPr/>
        </p:nvSpPr>
        <p:spPr bwMode="auto">
          <a:xfrm flipV="1">
            <a:off x="9829800" y="1600200"/>
            <a:ext cx="0" cy="381000"/>
          </a:xfrm>
          <a:prstGeom prst="line">
            <a:avLst/>
          </a:prstGeom>
          <a:noFill/>
          <a:ln w="25400">
            <a:solidFill>
              <a:srgbClr val="002060"/>
            </a:solidFill>
            <a:round/>
            <a:headEnd/>
            <a:tailEnd type="triangle" w="med" len="med"/>
          </a:ln>
        </p:spPr>
        <p:txBody>
          <a:bodyPr wrap="none" anchor="ctr"/>
          <a:lstStyle/>
          <a:p>
            <a:endParaRPr lang="en-US" dirty="0">
              <a:latin typeface="Candara" panose="020E0502030303020204" pitchFamily="34" charset="0"/>
            </a:endParaRPr>
          </a:p>
        </p:txBody>
      </p:sp>
      <p:sp>
        <p:nvSpPr>
          <p:cNvPr id="2" name="TextBox 1"/>
          <p:cNvSpPr txBox="1"/>
          <p:nvPr/>
        </p:nvSpPr>
        <p:spPr>
          <a:xfrm>
            <a:off x="9448801" y="1219200"/>
            <a:ext cx="846707" cy="369332"/>
          </a:xfrm>
          <a:prstGeom prst="rect">
            <a:avLst/>
          </a:prstGeom>
          <a:noFill/>
          <a:ln>
            <a:noFill/>
          </a:ln>
        </p:spPr>
        <p:txBody>
          <a:bodyPr wrap="none" rtlCol="0">
            <a:spAutoFit/>
          </a:bodyPr>
          <a:lstStyle/>
          <a:p>
            <a:r>
              <a:rPr lang="en-US" dirty="0">
                <a:latin typeface="Candara" panose="020E0502030303020204" pitchFamily="34" charset="0"/>
              </a:rPr>
              <a:t>reset()</a:t>
            </a:r>
          </a:p>
        </p:txBody>
      </p:sp>
      <p:sp>
        <p:nvSpPr>
          <p:cNvPr id="44" name="Line 25"/>
          <p:cNvSpPr>
            <a:spLocks noChangeShapeType="1"/>
          </p:cNvSpPr>
          <p:nvPr/>
        </p:nvSpPr>
        <p:spPr bwMode="auto">
          <a:xfrm flipV="1">
            <a:off x="7162800" y="1600200"/>
            <a:ext cx="0" cy="381000"/>
          </a:xfrm>
          <a:prstGeom prst="line">
            <a:avLst/>
          </a:prstGeom>
          <a:noFill/>
          <a:ln w="25400">
            <a:solidFill>
              <a:srgbClr val="002060"/>
            </a:solidFill>
            <a:round/>
            <a:headEnd/>
            <a:tailEnd type="triangle" w="med" len="med"/>
          </a:ln>
        </p:spPr>
        <p:txBody>
          <a:bodyPr wrap="none" anchor="ctr"/>
          <a:lstStyle/>
          <a:p>
            <a:endParaRPr lang="en-US" dirty="0">
              <a:latin typeface="Candara" panose="020E0502030303020204" pitchFamily="34" charset="0"/>
            </a:endParaRPr>
          </a:p>
        </p:txBody>
      </p:sp>
      <p:sp>
        <p:nvSpPr>
          <p:cNvPr id="46" name="TextBox 45"/>
          <p:cNvSpPr txBox="1"/>
          <p:nvPr/>
        </p:nvSpPr>
        <p:spPr>
          <a:xfrm>
            <a:off x="6838417" y="1219200"/>
            <a:ext cx="745717" cy="369332"/>
          </a:xfrm>
          <a:prstGeom prst="rect">
            <a:avLst/>
          </a:prstGeom>
          <a:noFill/>
          <a:ln>
            <a:noFill/>
          </a:ln>
        </p:spPr>
        <p:txBody>
          <a:bodyPr wrap="none" rtlCol="0">
            <a:spAutoFit/>
          </a:bodyPr>
          <a:lstStyle/>
          <a:p>
            <a:r>
              <a:rPr lang="en-US" dirty="0">
                <a:latin typeface="Candara" panose="020E0502030303020204" pitchFamily="34" charset="0"/>
              </a:rPr>
              <a:t>lock()</a:t>
            </a:r>
          </a:p>
        </p:txBody>
      </p:sp>
      <p:sp>
        <p:nvSpPr>
          <p:cNvPr id="47" name="Line 25"/>
          <p:cNvSpPr>
            <a:spLocks noChangeShapeType="1"/>
          </p:cNvSpPr>
          <p:nvPr/>
        </p:nvSpPr>
        <p:spPr bwMode="auto">
          <a:xfrm flipV="1">
            <a:off x="5486400" y="4114800"/>
            <a:ext cx="0" cy="381000"/>
          </a:xfrm>
          <a:prstGeom prst="line">
            <a:avLst/>
          </a:prstGeom>
          <a:noFill/>
          <a:ln w="25400">
            <a:solidFill>
              <a:srgbClr val="002060"/>
            </a:solidFill>
            <a:round/>
            <a:headEnd/>
            <a:tailEnd type="triangle" w="med" len="med"/>
          </a:ln>
        </p:spPr>
        <p:txBody>
          <a:bodyPr wrap="none" anchor="ctr"/>
          <a:lstStyle/>
          <a:p>
            <a:endParaRPr lang="en-US" dirty="0">
              <a:latin typeface="Candara" panose="020E0502030303020204" pitchFamily="34" charset="0"/>
            </a:endParaRPr>
          </a:p>
        </p:txBody>
      </p:sp>
      <p:sp>
        <p:nvSpPr>
          <p:cNvPr id="48" name="TextBox 47"/>
          <p:cNvSpPr txBox="1"/>
          <p:nvPr/>
        </p:nvSpPr>
        <p:spPr>
          <a:xfrm>
            <a:off x="5105401" y="3733800"/>
            <a:ext cx="745717" cy="369332"/>
          </a:xfrm>
          <a:prstGeom prst="rect">
            <a:avLst/>
          </a:prstGeom>
          <a:noFill/>
          <a:ln>
            <a:solidFill>
              <a:srgbClr val="002060"/>
            </a:solidFill>
          </a:ln>
        </p:spPr>
        <p:txBody>
          <a:bodyPr wrap="none" rtlCol="0">
            <a:spAutoFit/>
          </a:bodyPr>
          <a:lstStyle/>
          <a:p>
            <a:r>
              <a:rPr lang="en-US" dirty="0">
                <a:latin typeface="Candara" panose="020E0502030303020204" pitchFamily="34" charset="0"/>
              </a:rPr>
              <a:t>lock()</a:t>
            </a:r>
          </a:p>
        </p:txBody>
      </p:sp>
      <p:sp>
        <p:nvSpPr>
          <p:cNvPr id="49" name="Rectangle 48"/>
          <p:cNvSpPr/>
          <p:nvPr/>
        </p:nvSpPr>
        <p:spPr>
          <a:xfrm>
            <a:off x="5355772" y="256580"/>
            <a:ext cx="4093029" cy="646331"/>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wrap="square" lIns="91440" tIns="45720" rIns="91440" bIns="45720">
            <a:spAutoFit/>
          </a:bodyPr>
          <a:lstStyle/>
          <a:p>
            <a:pPr algn="ctr"/>
            <a:r>
              <a:rPr lang="en-US" sz="3600" dirty="0">
                <a:solidFill>
                  <a:srgbClr val="FF0000"/>
                </a:solidFill>
                <a:latin typeface="Candara" panose="020E0502030303020204" pitchFamily="34" charset="0"/>
                <a:ea typeface="ＭＳ Ｐゴシック" pitchFamily="34" charset="-128"/>
              </a:rPr>
              <a:t>Priority inversion! </a:t>
            </a:r>
            <a:endParaRPr lang="en-US" sz="3600"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Candara" panose="020E0502030303020204" pitchFamily="34" charset="0"/>
            </a:endParaRPr>
          </a:p>
        </p:txBody>
      </p:sp>
      <p:sp>
        <p:nvSpPr>
          <p:cNvPr id="38" name="Rectangle 14"/>
          <p:cNvSpPr>
            <a:spLocks noChangeArrowheads="1"/>
          </p:cNvSpPr>
          <p:nvPr/>
        </p:nvSpPr>
        <p:spPr bwMode="auto">
          <a:xfrm>
            <a:off x="7162800" y="2514600"/>
            <a:ext cx="10668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40" name="Rectangle 14"/>
          <p:cNvSpPr>
            <a:spLocks noChangeArrowheads="1"/>
          </p:cNvSpPr>
          <p:nvPr/>
        </p:nvSpPr>
        <p:spPr bwMode="auto">
          <a:xfrm>
            <a:off x="8229600" y="3352800"/>
            <a:ext cx="10668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
        <p:nvSpPr>
          <p:cNvPr id="42" name="Rectangle 14"/>
          <p:cNvSpPr>
            <a:spLocks noChangeArrowheads="1"/>
          </p:cNvSpPr>
          <p:nvPr/>
        </p:nvSpPr>
        <p:spPr bwMode="auto">
          <a:xfrm>
            <a:off x="9296400" y="2514600"/>
            <a:ext cx="533400" cy="304800"/>
          </a:xfrm>
          <a:prstGeom prst="rect">
            <a:avLst/>
          </a:prstGeom>
          <a:solidFill>
            <a:schemeClr val="bg1"/>
          </a:solidFill>
          <a:ln w="12700">
            <a:solidFill>
              <a:srgbClr val="002060"/>
            </a:solidFill>
            <a:miter lim="800000"/>
            <a:headEnd/>
            <a:tailEnd/>
          </a:ln>
          <a:effectLst>
            <a:outerShdw blurRad="63500" dist="38099" dir="2700000" algn="ctr" rotWithShape="0">
              <a:srgbClr val="B2B2B2">
                <a:alpha val="74998"/>
              </a:srgbClr>
            </a:outerShdw>
          </a:effectLst>
        </p:spPr>
        <p:txBody>
          <a:bodyPr wrap="none" anchor="ctr"/>
          <a:lstStyle/>
          <a:p>
            <a:pPr eaLnBrk="0" hangingPunct="0"/>
            <a:endParaRPr lang="en-US" sz="1600" u="sng" dirty="0">
              <a:latin typeface="Candara" panose="020E0502030303020204" pitchFamily="34" charset="0"/>
            </a:endParaRPr>
          </a:p>
        </p:txBody>
      </p:sp>
    </p:spTree>
    <p:extLst>
      <p:ext uri="{BB962C8B-B14F-4D97-AF65-F5344CB8AC3E}">
        <p14:creationId xmlns:p14="http://schemas.microsoft.com/office/powerpoint/2010/main" val="35637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23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5236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4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1252366" grpId="0" animBg="1"/>
      <p:bldP spid="1252368" grpId="0" animBg="1"/>
      <p:bldP spid="59" grpId="0" animBg="1"/>
      <p:bldP spid="35" grpId="0" animBg="1"/>
      <p:bldP spid="36" grpId="0" animBg="1"/>
      <p:bldP spid="37" grpId="0" animBg="1"/>
      <p:bldP spid="39" grpId="0" animBg="1"/>
      <p:bldP spid="41" grpId="0" animBg="1"/>
      <p:bldP spid="2" grpId="0" animBg="1"/>
      <p:bldP spid="44" grpId="0" animBg="1"/>
      <p:bldP spid="46" grpId="0" animBg="1"/>
      <p:bldP spid="47" grpId="0" animBg="1"/>
      <p:bldP spid="48" grpId="0" animBg="1"/>
      <p:bldP spid="49" grpId="0" animBg="1"/>
      <p:bldP spid="38" grpId="0" animBg="1"/>
      <p:bldP spid="40"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p:cNvSpPr>
            <a:spLocks noGrp="1" noChangeArrowheads="1"/>
          </p:cNvSpPr>
          <p:nvPr>
            <p:ph type="title"/>
          </p:nvPr>
        </p:nvSpPr>
        <p:spPr/>
        <p:txBody>
          <a:bodyPr/>
          <a:lstStyle/>
          <a:p>
            <a:pPr eaLnBrk="1" hangingPunct="1"/>
            <a:r>
              <a:rPr lang="en-US" dirty="0">
                <a:ea typeface="ＭＳ Ｐゴシック" pitchFamily="34" charset="-128"/>
              </a:rPr>
              <a:t>Outline</a:t>
            </a:r>
          </a:p>
        </p:txBody>
      </p:sp>
      <p:sp>
        <p:nvSpPr>
          <p:cNvPr id="22530" name="Rectangle 5"/>
          <p:cNvSpPr>
            <a:spLocks noGrp="1" noChangeArrowheads="1"/>
          </p:cNvSpPr>
          <p:nvPr>
            <p:ph idx="1"/>
          </p:nvPr>
        </p:nvSpPr>
        <p:spPr/>
        <p:txBody>
          <a:bodyPr/>
          <a:lstStyle/>
          <a:p>
            <a:pPr eaLnBrk="1" hangingPunct="1"/>
            <a:r>
              <a:rPr lang="en-US" dirty="0">
                <a:solidFill>
                  <a:srgbClr val="FF0000"/>
                </a:solidFill>
                <a:ea typeface="ＭＳ Ｐゴシック" pitchFamily="34" charset="-128"/>
              </a:rPr>
              <a:t>Why?</a:t>
            </a:r>
          </a:p>
          <a:p>
            <a:pPr lvl="1" eaLnBrk="1" hangingPunct="1"/>
            <a:r>
              <a:rPr lang="en-US" dirty="0">
                <a:solidFill>
                  <a:schemeClr val="tx2"/>
                </a:solidFill>
                <a:ea typeface="ＭＳ Ｐゴシック" pitchFamily="34" charset="-128"/>
              </a:rPr>
              <a:t>The deadlock problem</a:t>
            </a:r>
          </a:p>
        </p:txBody>
      </p:sp>
      <p:sp>
        <p:nvSpPr>
          <p:cNvPr id="4" name="Slide Number Placeholder 3">
            <a:extLst>
              <a:ext uri="{FF2B5EF4-FFF2-40B4-BE49-F238E27FC236}">
                <a16:creationId xmlns:a16="http://schemas.microsoft.com/office/drawing/2014/main" id="{2E89F5E0-6E0C-0541-9873-E55F283FD468}"/>
              </a:ext>
            </a:extLst>
          </p:cNvPr>
          <p:cNvSpPr>
            <a:spLocks noGrp="1"/>
          </p:cNvSpPr>
          <p:nvPr>
            <p:ph type="sldNum" sz="quarter" idx="12"/>
          </p:nvPr>
        </p:nvSpPr>
        <p:spPr/>
        <p:txBody>
          <a:bodyPr/>
          <a:lstStyle/>
          <a:p>
            <a:pPr>
              <a:defRPr/>
            </a:pPr>
            <a:fld id="{C91549CA-3F3E-4863-879C-314BFB2A8436}" type="slidenum">
              <a:rPr lang="en-US" smtClean="0"/>
              <a:pPr>
                <a:defRPr/>
              </a:pPr>
              <a:t>7</a:t>
            </a:fld>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5"/>
          <p:cNvSpPr>
            <a:spLocks noGrp="1" noChangeArrowheads="1"/>
          </p:cNvSpPr>
          <p:nvPr>
            <p:ph type="title"/>
          </p:nvPr>
        </p:nvSpPr>
        <p:spPr/>
        <p:txBody>
          <a:bodyPr/>
          <a:lstStyle/>
          <a:p>
            <a:r>
              <a:rPr lang="en-US" dirty="0"/>
              <a:t>The deadlock problem</a:t>
            </a:r>
          </a:p>
        </p:txBody>
      </p:sp>
      <p:sp>
        <p:nvSpPr>
          <p:cNvPr id="24578" name="Rectangle 26"/>
          <p:cNvSpPr>
            <a:spLocks noGrp="1" noChangeArrowheads="1"/>
          </p:cNvSpPr>
          <p:nvPr>
            <p:ph idx="1"/>
          </p:nvPr>
        </p:nvSpPr>
        <p:spPr/>
        <p:txBody>
          <a:bodyPr>
            <a:normAutofit lnSpcReduction="10000"/>
          </a:bodyPr>
          <a:lstStyle/>
          <a:p>
            <a:r>
              <a:rPr lang="en-US" dirty="0"/>
              <a:t>Deadlock</a:t>
            </a:r>
          </a:p>
          <a:p>
            <a:pPr lvl="1"/>
            <a:r>
              <a:rPr lang="en-US" dirty="0"/>
              <a:t>Several processes compete for a finite number of resource.</a:t>
            </a:r>
          </a:p>
          <a:p>
            <a:pPr lvl="1"/>
            <a:r>
              <a:rPr lang="en-US" dirty="0"/>
              <a:t>A process requests resource; if the resources are not available at that time, the process enters a waiting state.</a:t>
            </a:r>
          </a:p>
          <a:p>
            <a:pPr lvl="1"/>
            <a:r>
              <a:rPr lang="en-US" dirty="0"/>
              <a:t>Sometimes, a waiting process is never again able to change state, because the resources it has requested are always held by other waiting processes.</a:t>
            </a:r>
          </a:p>
          <a:p>
            <a:r>
              <a:rPr lang="en-US" dirty="0"/>
              <a:t>So why do deadlocks happen? </a:t>
            </a:r>
          </a:p>
          <a:p>
            <a:pPr lvl="1"/>
            <a:r>
              <a:rPr lang="en-US" dirty="0"/>
              <a:t>Complex dependencies exist between components. </a:t>
            </a:r>
          </a:p>
          <a:p>
            <a:pPr lvl="1"/>
            <a:r>
              <a:rPr lang="en-US" dirty="0"/>
              <a:t>The nature of encapsulation.</a:t>
            </a:r>
          </a:p>
        </p:txBody>
      </p:sp>
      <p:sp>
        <p:nvSpPr>
          <p:cNvPr id="4" name="Slide Number Placeholder 3">
            <a:extLst>
              <a:ext uri="{FF2B5EF4-FFF2-40B4-BE49-F238E27FC236}">
                <a16:creationId xmlns:a16="http://schemas.microsoft.com/office/drawing/2014/main" id="{F08B02B0-DC49-AE4F-9E25-E14353DDD6C0}"/>
              </a:ext>
            </a:extLst>
          </p:cNvPr>
          <p:cNvSpPr>
            <a:spLocks noGrp="1"/>
          </p:cNvSpPr>
          <p:nvPr>
            <p:ph type="sldNum" sz="quarter" idx="12"/>
          </p:nvPr>
        </p:nvSpPr>
        <p:spPr/>
        <p:txBody>
          <a:bodyPr/>
          <a:lstStyle/>
          <a:p>
            <a:pPr>
              <a:defRPr/>
            </a:pPr>
            <a:fld id="{C91549CA-3F3E-4863-879C-314BFB2A8436}" type="slidenum">
              <a:rPr lang="en-US" smtClean="0"/>
              <a:pPr>
                <a:defRPr/>
              </a:pPr>
              <a:t>8</a:t>
            </a:fld>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5"/>
          <p:cNvSpPr>
            <a:spLocks noGrp="1"/>
          </p:cNvSpPr>
          <p:nvPr>
            <p:ph type="title"/>
          </p:nvPr>
        </p:nvSpPr>
        <p:spPr/>
        <p:txBody>
          <a:bodyPr/>
          <a:lstStyle/>
          <a:p>
            <a:r>
              <a:rPr lang="en-US" dirty="0"/>
              <a:t>Deadlock in a law</a:t>
            </a:r>
          </a:p>
        </p:txBody>
      </p:sp>
      <p:sp>
        <p:nvSpPr>
          <p:cNvPr id="26626" name="Content Placeholder 6"/>
          <p:cNvSpPr>
            <a:spLocks noGrp="1"/>
          </p:cNvSpPr>
          <p:nvPr>
            <p:ph idx="1"/>
          </p:nvPr>
        </p:nvSpPr>
        <p:spPr/>
        <p:txBody>
          <a:bodyPr/>
          <a:lstStyle/>
          <a:p>
            <a:r>
              <a:rPr lang="en-US" dirty="0"/>
              <a:t>The best illustration of a deadlock can be drawn from a law passed by the Kansas legislature early in the 20th century:</a:t>
            </a:r>
          </a:p>
          <a:p>
            <a:pPr lvl="1"/>
            <a:endParaRPr lang="en-US" dirty="0"/>
          </a:p>
          <a:p>
            <a:pPr marL="403225" lvl="1" indent="0">
              <a:buNone/>
            </a:pPr>
            <a:r>
              <a:rPr lang="en-US" dirty="0">
                <a:solidFill>
                  <a:srgbClr val="FF0000"/>
                </a:solidFill>
              </a:rPr>
              <a:t>“When two trains approach each other at a crossing, both shall come to a full stop and neither shall start up again until the other has gone.”</a:t>
            </a:r>
          </a:p>
        </p:txBody>
      </p:sp>
      <p:sp>
        <p:nvSpPr>
          <p:cNvPr id="4" name="Slide Number Placeholder 3">
            <a:extLst>
              <a:ext uri="{FF2B5EF4-FFF2-40B4-BE49-F238E27FC236}">
                <a16:creationId xmlns:a16="http://schemas.microsoft.com/office/drawing/2014/main" id="{750108A0-EBDF-CD4C-8918-50D9516BABF3}"/>
              </a:ext>
            </a:extLst>
          </p:cNvPr>
          <p:cNvSpPr>
            <a:spLocks noGrp="1"/>
          </p:cNvSpPr>
          <p:nvPr>
            <p:ph type="sldNum" sz="quarter" idx="12"/>
          </p:nvPr>
        </p:nvSpPr>
        <p:spPr/>
        <p:txBody>
          <a:bodyPr/>
          <a:lstStyle/>
          <a:p>
            <a:pPr>
              <a:defRPr/>
            </a:pPr>
            <a:fld id="{C91549CA-3F3E-4863-879C-314BFB2A8436}"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normAutofit/>
          </a:bodyPr>
          <a:lstStyle/>
          <a:p>
            <a:r>
              <a:rPr lang="en-US" dirty="0"/>
              <a:t>Examples of deadlocks: dining-philosophers</a:t>
            </a:r>
          </a:p>
        </p:txBody>
      </p:sp>
      <p:pic>
        <p:nvPicPr>
          <p:cNvPr id="48131" name="Picture 6"/>
          <p:cNvPicPr>
            <a:picLocks noChangeArrowheads="1"/>
          </p:cNvPicPr>
          <p:nvPr/>
        </p:nvPicPr>
        <p:blipFill>
          <a:blip r:embed="rId3"/>
          <a:srcRect l="9224" t="1500" r="9149" b="751"/>
          <a:stretch>
            <a:fillRect/>
          </a:stretch>
        </p:blipFill>
        <p:spPr bwMode="auto">
          <a:xfrm>
            <a:off x="3352800" y="1757364"/>
            <a:ext cx="5257800" cy="4872037"/>
          </a:xfrm>
          <a:prstGeom prst="rect">
            <a:avLst/>
          </a:prstGeom>
          <a:noFill/>
          <a:ln w="57150" cmpd="thickThin">
            <a:noFill/>
            <a:miter lim="800000"/>
            <a:headEnd/>
            <a:tailEnd/>
          </a:ln>
        </p:spPr>
      </p:pic>
      <p:cxnSp>
        <p:nvCxnSpPr>
          <p:cNvPr id="4" name="Straight Arrow Connector 3"/>
          <p:cNvCxnSpPr/>
          <p:nvPr/>
        </p:nvCxnSpPr>
        <p:spPr bwMode="auto">
          <a:xfrm>
            <a:off x="4648200" y="2290763"/>
            <a:ext cx="1295400" cy="457200"/>
          </a:xfrm>
          <a:prstGeom prst="straightConnector1">
            <a:avLst/>
          </a:prstGeom>
          <a:solidFill>
            <a:schemeClr val="accent1"/>
          </a:solidFill>
          <a:ln w="38100" cap="flat" cmpd="sng" algn="ctr">
            <a:solidFill>
              <a:srgbClr val="FF0000"/>
            </a:solidFill>
            <a:prstDash val="solid"/>
            <a:round/>
            <a:headEnd type="arrow" w="med" len="med"/>
            <a:tailEnd type="none"/>
          </a:ln>
          <a:effectLst/>
        </p:spPr>
      </p:cxnSp>
      <p:cxnSp>
        <p:nvCxnSpPr>
          <p:cNvPr id="8" name="Straight Arrow Connector 7"/>
          <p:cNvCxnSpPr/>
          <p:nvPr/>
        </p:nvCxnSpPr>
        <p:spPr bwMode="auto">
          <a:xfrm>
            <a:off x="7315200" y="2290763"/>
            <a:ext cx="76200" cy="1295400"/>
          </a:xfrm>
          <a:prstGeom prst="straightConnector1">
            <a:avLst/>
          </a:prstGeom>
          <a:solidFill>
            <a:schemeClr val="accent1"/>
          </a:solidFill>
          <a:ln w="38100" cap="flat" cmpd="sng" algn="ctr">
            <a:solidFill>
              <a:srgbClr val="FF0000"/>
            </a:solidFill>
            <a:prstDash val="solid"/>
            <a:round/>
            <a:headEnd type="arrow" w="med" len="med"/>
            <a:tailEnd type="none"/>
          </a:ln>
          <a:effectLst/>
        </p:spPr>
      </p:cxnSp>
      <p:cxnSp>
        <p:nvCxnSpPr>
          <p:cNvPr id="13" name="Straight Arrow Connector 12"/>
          <p:cNvCxnSpPr/>
          <p:nvPr/>
        </p:nvCxnSpPr>
        <p:spPr bwMode="auto">
          <a:xfrm flipV="1">
            <a:off x="3886200" y="3586163"/>
            <a:ext cx="685800" cy="1143000"/>
          </a:xfrm>
          <a:prstGeom prst="straightConnector1">
            <a:avLst/>
          </a:prstGeom>
          <a:solidFill>
            <a:schemeClr val="accent1"/>
          </a:solidFill>
          <a:ln w="38100" cap="flat" cmpd="sng" algn="ctr">
            <a:solidFill>
              <a:srgbClr val="FF0000"/>
            </a:solidFill>
            <a:prstDash val="solid"/>
            <a:round/>
            <a:headEnd type="arrow" w="med" len="med"/>
            <a:tailEnd type="none"/>
          </a:ln>
          <a:effectLst/>
        </p:spPr>
      </p:cxnSp>
      <p:cxnSp>
        <p:nvCxnSpPr>
          <p:cNvPr id="16" name="Straight Arrow Connector 15"/>
          <p:cNvCxnSpPr/>
          <p:nvPr/>
        </p:nvCxnSpPr>
        <p:spPr bwMode="auto">
          <a:xfrm flipH="1" flipV="1">
            <a:off x="5257800" y="5186363"/>
            <a:ext cx="685800" cy="990600"/>
          </a:xfrm>
          <a:prstGeom prst="straightConnector1">
            <a:avLst/>
          </a:prstGeom>
          <a:solidFill>
            <a:schemeClr val="accent1"/>
          </a:solidFill>
          <a:ln w="38100" cap="flat" cmpd="sng" algn="ctr">
            <a:solidFill>
              <a:srgbClr val="FF0000"/>
            </a:solidFill>
            <a:prstDash val="solid"/>
            <a:round/>
            <a:headEnd type="arrow" w="med" len="med"/>
            <a:tailEnd type="none"/>
          </a:ln>
          <a:effectLst/>
        </p:spPr>
      </p:cxnSp>
      <p:cxnSp>
        <p:nvCxnSpPr>
          <p:cNvPr id="19" name="Straight Arrow Connector 18"/>
          <p:cNvCxnSpPr/>
          <p:nvPr/>
        </p:nvCxnSpPr>
        <p:spPr bwMode="auto">
          <a:xfrm flipH="1">
            <a:off x="6781800" y="4729163"/>
            <a:ext cx="1295400" cy="381000"/>
          </a:xfrm>
          <a:prstGeom prst="straightConnector1">
            <a:avLst/>
          </a:prstGeom>
          <a:solidFill>
            <a:schemeClr val="accent1"/>
          </a:solidFill>
          <a:ln w="38100" cap="flat" cmpd="sng" algn="ctr">
            <a:solidFill>
              <a:srgbClr val="FF0000"/>
            </a:solidFill>
            <a:prstDash val="solid"/>
            <a:round/>
            <a:headEnd type="arrow" w="med" len="med"/>
            <a:tailEnd type="none"/>
          </a:ln>
          <a:effectLst/>
        </p:spPr>
      </p:cxnSp>
      <p:sp>
        <p:nvSpPr>
          <p:cNvPr id="5" name="Slide Number Placeholder 4">
            <a:extLst>
              <a:ext uri="{FF2B5EF4-FFF2-40B4-BE49-F238E27FC236}">
                <a16:creationId xmlns:a16="http://schemas.microsoft.com/office/drawing/2014/main" id="{FA8E42D2-B682-0541-BBAC-AFEC18B5C384}"/>
              </a:ext>
            </a:extLst>
          </p:cNvPr>
          <p:cNvSpPr>
            <a:spLocks noGrp="1"/>
          </p:cNvSpPr>
          <p:nvPr>
            <p:ph type="sldNum" sz="quarter" idx="12"/>
          </p:nvPr>
        </p:nvSpPr>
        <p:spPr/>
        <p:txBody>
          <a:bodyPr/>
          <a:lstStyle/>
          <a:p>
            <a:pPr>
              <a:defRPr/>
            </a:pPr>
            <a:fld id="{E6A16A8C-2D22-4328-8F0C-A3AB0F93D1AC}" type="slidenum">
              <a:rPr lang="en-US" smtClean="0"/>
              <a:pPr>
                <a:defRPr/>
              </a:pPr>
              <a:t>10</a:t>
            </a:fld>
            <a:endParaRPr lang="en-US" dirty="0"/>
          </a:p>
        </p:txBody>
      </p:sp>
    </p:spTree>
    <p:extLst>
      <p:ext uri="{BB962C8B-B14F-4D97-AF65-F5344CB8AC3E}">
        <p14:creationId xmlns:p14="http://schemas.microsoft.com/office/powerpoint/2010/main" val="397895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normAutofit/>
          </a:bodyPr>
          <a:lstStyle/>
          <a:p>
            <a:r>
              <a:rPr lang="en-US" dirty="0"/>
              <a:t>Examples of deadlocks: file sharing</a:t>
            </a:r>
          </a:p>
        </p:txBody>
      </p:sp>
      <p:grpSp>
        <p:nvGrpSpPr>
          <p:cNvPr id="2" name="Group 1"/>
          <p:cNvGrpSpPr/>
          <p:nvPr/>
        </p:nvGrpSpPr>
        <p:grpSpPr>
          <a:xfrm>
            <a:off x="3886200" y="2209800"/>
            <a:ext cx="3657600" cy="2971800"/>
            <a:chOff x="304800" y="2667000"/>
            <a:chExt cx="3657600" cy="2971800"/>
          </a:xfrm>
        </p:grpSpPr>
        <p:sp>
          <p:nvSpPr>
            <p:cNvPr id="1248270" name="Rectangle 14"/>
            <p:cNvSpPr>
              <a:spLocks noChangeArrowheads="1"/>
            </p:cNvSpPr>
            <p:nvPr/>
          </p:nvSpPr>
          <p:spPr bwMode="auto">
            <a:xfrm>
              <a:off x="304800" y="2667000"/>
              <a:ext cx="3657600" cy="2971800"/>
            </a:xfrm>
            <a:prstGeom prst="rect">
              <a:avLst/>
            </a:prstGeom>
            <a:solidFill>
              <a:schemeClr val="bg1"/>
            </a:solidFill>
            <a:ln w="9525">
              <a:solidFill>
                <a:schemeClr val="tx1"/>
              </a:solidFill>
              <a:miter lim="800000"/>
              <a:headEnd/>
              <a:tailEnd/>
            </a:ln>
            <a:effectLst>
              <a:outerShdw blurRad="63500" dist="107763" dir="2700000" algn="ctr" rotWithShape="0">
                <a:srgbClr val="B2B2B2">
                  <a:alpha val="74998"/>
                </a:srgbClr>
              </a:outerShdw>
            </a:effectLst>
          </p:spPr>
          <p:txBody>
            <a:bodyPr wrap="none" anchor="ctr"/>
            <a:lstStyle/>
            <a:p>
              <a:pPr eaLnBrk="0" hangingPunct="0">
                <a:defRPr/>
              </a:pPr>
              <a:endParaRPr lang="en-US" sz="1600" u="sng" dirty="0">
                <a:latin typeface="Candara" panose="020E0502030303020204" pitchFamily="34" charset="0"/>
              </a:endParaRPr>
            </a:p>
          </p:txBody>
        </p:sp>
        <p:sp>
          <p:nvSpPr>
            <p:cNvPr id="27654" name="Rectangle 7"/>
            <p:cNvSpPr>
              <a:spLocks noChangeArrowheads="1"/>
            </p:cNvSpPr>
            <p:nvPr/>
          </p:nvSpPr>
          <p:spPr bwMode="auto">
            <a:xfrm>
              <a:off x="603250" y="2949575"/>
              <a:ext cx="1360951" cy="2305759"/>
            </a:xfrm>
            <a:prstGeom prst="rect">
              <a:avLst/>
            </a:prstGeom>
            <a:noFill/>
            <a:ln w="12700">
              <a:noFill/>
              <a:miter lim="800000"/>
              <a:headEnd/>
              <a:tailEnd/>
            </a:ln>
          </p:spPr>
          <p:txBody>
            <a:bodyPr wrap="none" lIns="90488" tIns="44450" rIns="90488" bIns="44450">
              <a:spAutoFit/>
            </a:bodyPr>
            <a:lstStyle/>
            <a:p>
              <a:pPr eaLnBrk="0" hangingPunct="0"/>
              <a:r>
                <a:rPr lang="en-US" dirty="0">
                  <a:latin typeface="Candara" panose="020E0502030303020204" pitchFamily="34" charset="0"/>
                </a:rPr>
                <a:t>P</a:t>
              </a:r>
              <a:r>
                <a:rPr lang="en-US" baseline="-25000" dirty="0">
                  <a:latin typeface="Candara" panose="020E0502030303020204" pitchFamily="34" charset="0"/>
                </a:rPr>
                <a:t>1</a:t>
              </a:r>
              <a:r>
                <a:rPr lang="en-US" dirty="0">
                  <a:latin typeface="Candara" panose="020E0502030303020204" pitchFamily="34" charset="0"/>
                </a:rPr>
                <a:t>:</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Request(D);</a:t>
              </a:r>
            </a:p>
            <a:p>
              <a:pPr eaLnBrk="0" hangingPunct="0"/>
              <a:r>
                <a:rPr lang="en-US" dirty="0">
                  <a:latin typeface="Candara" panose="020E0502030303020204" pitchFamily="34" charset="0"/>
                </a:rPr>
                <a:t>Request(T);</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Release(T);</a:t>
              </a:r>
            </a:p>
            <a:p>
              <a:pPr eaLnBrk="0" hangingPunct="0"/>
              <a:r>
                <a:rPr lang="en-US" dirty="0">
                  <a:latin typeface="Candara" panose="020E0502030303020204" pitchFamily="34" charset="0"/>
                </a:rPr>
                <a:t>Release(D);</a:t>
              </a:r>
            </a:p>
          </p:txBody>
        </p:sp>
        <p:sp>
          <p:nvSpPr>
            <p:cNvPr id="27655" name="Rectangle 8"/>
            <p:cNvSpPr>
              <a:spLocks noChangeArrowheads="1"/>
            </p:cNvSpPr>
            <p:nvPr/>
          </p:nvSpPr>
          <p:spPr bwMode="auto">
            <a:xfrm>
              <a:off x="2432050" y="2949575"/>
              <a:ext cx="1433513" cy="2286000"/>
            </a:xfrm>
            <a:prstGeom prst="rect">
              <a:avLst/>
            </a:prstGeom>
            <a:noFill/>
            <a:ln w="12700">
              <a:noFill/>
              <a:miter lim="800000"/>
              <a:headEnd/>
              <a:tailEnd/>
            </a:ln>
          </p:spPr>
          <p:txBody>
            <a:bodyPr lIns="90488" tIns="44450" rIns="90488" bIns="44450">
              <a:spAutoFit/>
            </a:bodyPr>
            <a:lstStyle/>
            <a:p>
              <a:pPr eaLnBrk="0" hangingPunct="0"/>
              <a:r>
                <a:rPr lang="en-US" dirty="0">
                  <a:latin typeface="Candara" panose="020E0502030303020204" pitchFamily="34" charset="0"/>
                </a:rPr>
                <a:t>P</a:t>
              </a:r>
              <a:r>
                <a:rPr lang="en-US" baseline="-25000" dirty="0">
                  <a:latin typeface="Candara" panose="020E0502030303020204" pitchFamily="34" charset="0"/>
                </a:rPr>
                <a:t>2</a:t>
              </a:r>
              <a:r>
                <a:rPr lang="en-US" dirty="0">
                  <a:latin typeface="Candara" panose="020E0502030303020204" pitchFamily="34" charset="0"/>
                </a:rPr>
                <a:t>:</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Request(T);</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Request(D);</a:t>
              </a:r>
            </a:p>
            <a:p>
              <a:pPr eaLnBrk="0" hangingPunct="0"/>
              <a:r>
                <a:rPr lang="en-US" dirty="0">
                  <a:latin typeface="Candara" panose="020E0502030303020204" pitchFamily="34" charset="0"/>
                </a:rPr>
                <a:t>...</a:t>
              </a:r>
            </a:p>
            <a:p>
              <a:pPr eaLnBrk="0" hangingPunct="0"/>
              <a:r>
                <a:rPr lang="en-US" dirty="0">
                  <a:latin typeface="Candara" panose="020E0502030303020204" pitchFamily="34" charset="0"/>
                </a:rPr>
                <a:t>Release(D);</a:t>
              </a:r>
            </a:p>
            <a:p>
              <a:pPr eaLnBrk="0" hangingPunct="0"/>
              <a:r>
                <a:rPr lang="en-US" dirty="0">
                  <a:latin typeface="Candara" panose="020E0502030303020204" pitchFamily="34" charset="0"/>
                </a:rPr>
                <a:t>Release(T);</a:t>
              </a:r>
            </a:p>
          </p:txBody>
        </p:sp>
      </p:grpSp>
      <p:sp>
        <p:nvSpPr>
          <p:cNvPr id="5" name="Slide Number Placeholder 4">
            <a:extLst>
              <a:ext uri="{FF2B5EF4-FFF2-40B4-BE49-F238E27FC236}">
                <a16:creationId xmlns:a16="http://schemas.microsoft.com/office/drawing/2014/main" id="{0C04A70F-DC09-2B41-9E4F-CE31DC1ED108}"/>
              </a:ext>
            </a:extLst>
          </p:cNvPr>
          <p:cNvSpPr>
            <a:spLocks noGrp="1"/>
          </p:cNvSpPr>
          <p:nvPr>
            <p:ph type="sldNum" sz="quarter" idx="12"/>
          </p:nvPr>
        </p:nvSpPr>
        <p:spPr/>
        <p:txBody>
          <a:bodyPr/>
          <a:lstStyle/>
          <a:p>
            <a:pPr>
              <a:defRPr/>
            </a:pPr>
            <a:fld id="{E6A16A8C-2D22-4328-8F0C-A3AB0F93D1AC}" type="slidenum">
              <a:rPr lang="en-US" smtClean="0"/>
              <a:pPr>
                <a:defRPr/>
              </a:pPr>
              <a:t>11</a:t>
            </a:fld>
            <a:endParaRPr lang="en-US" dirty="0"/>
          </a:p>
        </p:txBody>
      </p:sp>
    </p:spTree>
    <p:extLst>
      <p:ext uri="{BB962C8B-B14F-4D97-AF65-F5344CB8AC3E}">
        <p14:creationId xmlns:p14="http://schemas.microsoft.com/office/powerpoint/2010/main" val="26669073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vert="horz" lIns="90488" tIns="44450" rIns="90488" bIns="44450" rtlCol="0" anchor="ctr">
            <a:normAutofit/>
            <a:scene3d>
              <a:camera prst="orthographicFront"/>
              <a:lightRig rig="threePt" dir="t">
                <a:rot lat="0" lon="0" rev="4800000"/>
              </a:lightRig>
            </a:scene3d>
            <a:sp3d prstMaterial="matte">
              <a:bevelT w="50800" h="10160"/>
            </a:sp3d>
          </a:bodyPr>
          <a:lstStyle/>
          <a:p>
            <a:pPr eaLnBrk="1" hangingPunct="1"/>
            <a:r>
              <a:rPr lang="en-US" dirty="0">
                <a:ea typeface="ＭＳ Ｐゴシック" pitchFamily="34" charset="-128"/>
              </a:rPr>
              <a:t>Examples of deadlocks: traffic</a:t>
            </a:r>
          </a:p>
        </p:txBody>
      </p:sp>
      <p:pic>
        <p:nvPicPr>
          <p:cNvPr id="27657" name="Picture 13"/>
          <p:cNvPicPr>
            <a:picLocks noChangeAspect="1" noChangeArrowheads="1"/>
          </p:cNvPicPr>
          <p:nvPr/>
        </p:nvPicPr>
        <p:blipFill>
          <a:blip r:embed="rId3">
            <a:lum bright="-52000" contrast="68000"/>
          </a:blip>
          <a:srcRect/>
          <a:stretch>
            <a:fillRect/>
          </a:stretch>
        </p:blipFill>
        <p:spPr bwMode="auto">
          <a:xfrm>
            <a:off x="4191000" y="2362201"/>
            <a:ext cx="3276600" cy="2676307"/>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E699FA63-2AA9-794A-ACBE-0A5D0BC08322}"/>
              </a:ext>
            </a:extLst>
          </p:cNvPr>
          <p:cNvSpPr>
            <a:spLocks noGrp="1"/>
          </p:cNvSpPr>
          <p:nvPr>
            <p:ph type="sldNum" sz="quarter" idx="12"/>
          </p:nvPr>
        </p:nvSpPr>
        <p:spPr/>
        <p:txBody>
          <a:bodyPr/>
          <a:lstStyle/>
          <a:p>
            <a:pPr>
              <a:defRPr/>
            </a:pPr>
            <a:fld id="{E6A16A8C-2D22-4328-8F0C-A3AB0F93D1AC}" type="slidenum">
              <a:rPr lang="en-US" smtClean="0"/>
              <a:pPr>
                <a:defRPr/>
              </a:pPr>
              <a:t>12</a:t>
            </a:fld>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dirty="0">
                <a:ea typeface="ＭＳ Ｐゴシック" pitchFamily="34" charset="-128"/>
              </a:rPr>
              <a:t>Outline</a:t>
            </a:r>
          </a:p>
        </p:txBody>
      </p:sp>
      <p:sp>
        <p:nvSpPr>
          <p:cNvPr id="29698" name="Rectangle 3"/>
          <p:cNvSpPr>
            <a:spLocks noGrp="1" noChangeArrowheads="1"/>
          </p:cNvSpPr>
          <p:nvPr>
            <p:ph idx="1"/>
          </p:nvPr>
        </p:nvSpPr>
        <p:spPr/>
        <p:txBody>
          <a:bodyPr/>
          <a:lstStyle/>
          <a:p>
            <a:pPr eaLnBrk="1" hangingPunct="1"/>
            <a:r>
              <a:rPr lang="en-US" dirty="0">
                <a:ea typeface="ＭＳ Ｐゴシック" pitchFamily="34" charset="-128"/>
              </a:rPr>
              <a:t>Why?</a:t>
            </a:r>
          </a:p>
          <a:p>
            <a:pPr lvl="1" eaLnBrk="1" hangingPunct="1"/>
            <a:r>
              <a:rPr lang="en-US" dirty="0">
                <a:ea typeface="ＭＳ Ｐゴシック" pitchFamily="34" charset="-128"/>
              </a:rPr>
              <a:t>The deadlock problem</a:t>
            </a:r>
          </a:p>
          <a:p>
            <a:pPr eaLnBrk="1" hangingPunct="1"/>
            <a:r>
              <a:rPr lang="en-US" dirty="0">
                <a:solidFill>
                  <a:srgbClr val="FF0000"/>
                </a:solidFill>
                <a:ea typeface="ＭＳ Ｐゴシック" pitchFamily="34" charset="-128"/>
              </a:rPr>
              <a:t>What?</a:t>
            </a:r>
          </a:p>
          <a:p>
            <a:pPr lvl="1" eaLnBrk="1" hangingPunct="1"/>
            <a:r>
              <a:rPr lang="en-US" dirty="0">
                <a:solidFill>
                  <a:schemeClr val="tx2"/>
                </a:solidFill>
                <a:ea typeface="ＭＳ Ｐゴシック" pitchFamily="34" charset="-128"/>
              </a:rPr>
              <a:t>Modeling</a:t>
            </a:r>
            <a:endParaRPr lang="en-US" dirty="0">
              <a:ea typeface="ＭＳ Ｐゴシック" pitchFamily="34" charset="-128"/>
            </a:endParaRPr>
          </a:p>
        </p:txBody>
      </p:sp>
      <p:sp>
        <p:nvSpPr>
          <p:cNvPr id="4" name="Slide Number Placeholder 3">
            <a:extLst>
              <a:ext uri="{FF2B5EF4-FFF2-40B4-BE49-F238E27FC236}">
                <a16:creationId xmlns:a16="http://schemas.microsoft.com/office/drawing/2014/main" id="{9F79ECD2-ECF3-E14D-AC3A-594353A3E15E}"/>
              </a:ext>
            </a:extLst>
          </p:cNvPr>
          <p:cNvSpPr>
            <a:spLocks noGrp="1"/>
          </p:cNvSpPr>
          <p:nvPr>
            <p:ph type="sldNum" sz="quarter" idx="12"/>
          </p:nvPr>
        </p:nvSpPr>
        <p:spPr/>
        <p:txBody>
          <a:bodyPr/>
          <a:lstStyle/>
          <a:p>
            <a:pPr>
              <a:defRPr/>
            </a:pPr>
            <a:fld id="{C91549CA-3F3E-4863-879C-314BFB2A8436}" type="slidenum">
              <a:rPr lang="en-US" smtClean="0"/>
              <a:pPr>
                <a:defRPr/>
              </a:pPr>
              <a:t>13</a:t>
            </a:fld>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4"/>
          <p:cNvSpPr>
            <a:spLocks noGrp="1" noChangeArrowheads="1"/>
          </p:cNvSpPr>
          <p:nvPr>
            <p:ph type="title"/>
          </p:nvPr>
        </p:nvSpPr>
        <p:spPr/>
        <p:txBody>
          <a:bodyPr/>
          <a:lstStyle/>
          <a:p>
            <a:r>
              <a:rPr lang="en-US" dirty="0"/>
              <a:t>The resource model</a:t>
            </a:r>
          </a:p>
        </p:txBody>
      </p:sp>
      <p:sp>
        <p:nvSpPr>
          <p:cNvPr id="31746" name="Rectangle 5"/>
          <p:cNvSpPr>
            <a:spLocks noGrp="1" noChangeArrowheads="1"/>
          </p:cNvSpPr>
          <p:nvPr>
            <p:ph sz="half" idx="1"/>
          </p:nvPr>
        </p:nvSpPr>
        <p:spPr/>
        <p:txBody>
          <a:bodyPr>
            <a:normAutofit fontScale="92500" lnSpcReduction="20000"/>
          </a:bodyPr>
          <a:lstStyle/>
          <a:p>
            <a:r>
              <a:rPr lang="en-US" sz="3200" dirty="0">
                <a:ea typeface="ＭＳ Ｐゴシック" pitchFamily="34" charset="-128"/>
              </a:rPr>
              <a:t>Finite number of </a:t>
            </a:r>
            <a:r>
              <a:rPr lang="en-US" sz="3200" dirty="0">
                <a:solidFill>
                  <a:srgbClr val="FF0000"/>
                </a:solidFill>
                <a:ea typeface="ＭＳ Ｐゴシック" pitchFamily="34" charset="-128"/>
              </a:rPr>
              <a:t>serially reusable </a:t>
            </a:r>
            <a:r>
              <a:rPr lang="en-US" sz="3200" dirty="0">
                <a:ea typeface="ＭＳ Ｐゴシック" pitchFamily="34" charset="-128"/>
              </a:rPr>
              <a:t>resources R</a:t>
            </a:r>
            <a:r>
              <a:rPr lang="en-US" sz="3200" baseline="-25000" dirty="0">
                <a:ea typeface="ＭＳ Ｐゴシック" pitchFamily="34" charset="-128"/>
              </a:rPr>
              <a:t>1</a:t>
            </a:r>
            <a:r>
              <a:rPr lang="en-US" sz="3200" dirty="0">
                <a:ea typeface="ＭＳ Ｐゴシック" pitchFamily="34" charset="-128"/>
              </a:rPr>
              <a:t>, ..., R</a:t>
            </a:r>
            <a:r>
              <a:rPr lang="en-US" sz="3200" baseline="-25000" dirty="0">
                <a:ea typeface="ＭＳ Ｐゴシック" pitchFamily="34" charset="-128"/>
              </a:rPr>
              <a:t>m</a:t>
            </a:r>
            <a:r>
              <a:rPr lang="en-US" sz="3200" dirty="0">
                <a:ea typeface="ＭＳ Ｐゴシック" pitchFamily="34" charset="-128"/>
              </a:rPr>
              <a:t>.</a:t>
            </a:r>
          </a:p>
          <a:p>
            <a:pPr lvl="1"/>
            <a:r>
              <a:rPr lang="en-US" sz="2800" dirty="0">
                <a:ea typeface="ＭＳ Ｐゴシック" pitchFamily="34" charset="-128"/>
              </a:rPr>
              <a:t>Number of units is constant.</a:t>
            </a:r>
          </a:p>
          <a:p>
            <a:pPr lvl="1"/>
            <a:r>
              <a:rPr lang="en-US" sz="2800" dirty="0">
                <a:ea typeface="ＭＳ Ｐゴシック" pitchFamily="34" charset="-128"/>
              </a:rPr>
              <a:t>No sharing for single unit.</a:t>
            </a:r>
          </a:p>
          <a:p>
            <a:r>
              <a:rPr lang="en-US" sz="3200" dirty="0">
                <a:ea typeface="ＭＳ Ｐゴシック" pitchFamily="34" charset="-128"/>
              </a:rPr>
              <a:t>Set of threads T</a:t>
            </a:r>
            <a:r>
              <a:rPr lang="en-US" sz="3200" baseline="-25000" dirty="0">
                <a:ea typeface="ＭＳ Ｐゴシック" pitchFamily="34" charset="-128"/>
              </a:rPr>
              <a:t>1</a:t>
            </a:r>
            <a:r>
              <a:rPr lang="en-US" sz="3200" dirty="0">
                <a:ea typeface="ＭＳ Ｐゴシック" pitchFamily="34" charset="-128"/>
              </a:rPr>
              <a:t>, T</a:t>
            </a:r>
            <a:r>
              <a:rPr lang="en-US" sz="3200" baseline="-25000" dirty="0">
                <a:ea typeface="ＭＳ Ｐゴシック" pitchFamily="34" charset="-128"/>
              </a:rPr>
              <a:t>2</a:t>
            </a:r>
            <a:r>
              <a:rPr lang="en-US" sz="3200" dirty="0">
                <a:ea typeface="ＭＳ Ｐゴシック" pitchFamily="34" charset="-128"/>
              </a:rPr>
              <a:t>, ..., T</a:t>
            </a:r>
            <a:r>
              <a:rPr lang="en-US" sz="3200" baseline="-25000" dirty="0">
                <a:ea typeface="ＭＳ Ｐゴシック" pitchFamily="34" charset="-128"/>
              </a:rPr>
              <a:t>n</a:t>
            </a:r>
            <a:r>
              <a:rPr lang="en-US" sz="3200" dirty="0">
                <a:ea typeface="ＭＳ Ｐゴシック" pitchFamily="34" charset="-128"/>
              </a:rPr>
              <a:t>.</a:t>
            </a:r>
            <a:r>
              <a:rPr lang="en-US" sz="3200" dirty="0"/>
              <a:t> </a:t>
            </a:r>
          </a:p>
        </p:txBody>
      </p:sp>
      <p:sp>
        <p:nvSpPr>
          <p:cNvPr id="31747" name="Content Placeholder 7"/>
          <p:cNvSpPr>
            <a:spLocks noGrp="1"/>
          </p:cNvSpPr>
          <p:nvPr>
            <p:ph sz="half" idx="2"/>
          </p:nvPr>
        </p:nvSpPr>
        <p:spPr/>
        <p:txBody>
          <a:bodyPr>
            <a:normAutofit fontScale="92500" lnSpcReduction="20000"/>
          </a:bodyPr>
          <a:lstStyle/>
          <a:p>
            <a:pPr marL="11113" indent="0">
              <a:buNone/>
            </a:pPr>
            <a:r>
              <a:rPr lang="en-US" sz="3200" dirty="0"/>
              <a:t>Operations on resources:</a:t>
            </a:r>
          </a:p>
          <a:p>
            <a:r>
              <a:rPr lang="en-US" sz="3200" dirty="0"/>
              <a:t>Request:  If request cannot be granted, wait until some other thread releases resource.</a:t>
            </a:r>
          </a:p>
          <a:p>
            <a:pPr lvl="1"/>
            <a:r>
              <a:rPr lang="en-US" sz="2800" dirty="0"/>
              <a:t>Such as </a:t>
            </a:r>
            <a:r>
              <a:rPr lang="en-US" sz="2800" dirty="0" err="1"/>
              <a:t>sem_wait</a:t>
            </a:r>
            <a:r>
              <a:rPr lang="en-US" sz="2800" dirty="0"/>
              <a:t>() in semaphore</a:t>
            </a:r>
          </a:p>
          <a:p>
            <a:r>
              <a:rPr lang="en-US" sz="3200" dirty="0"/>
              <a:t>Use: Only one thread uses one unit of resource.</a:t>
            </a:r>
          </a:p>
          <a:p>
            <a:r>
              <a:rPr lang="en-US" sz="3200" dirty="0"/>
              <a:t>Release:</a:t>
            </a:r>
          </a:p>
          <a:p>
            <a:pPr lvl="1"/>
            <a:r>
              <a:rPr lang="en-US" sz="2800" dirty="0"/>
              <a:t>Such as </a:t>
            </a:r>
            <a:r>
              <a:rPr lang="en-US" sz="2800" dirty="0" err="1"/>
              <a:t>sem_post</a:t>
            </a:r>
            <a:r>
              <a:rPr lang="en-US" sz="2800" dirty="0"/>
              <a:t>() in semaphore</a:t>
            </a:r>
          </a:p>
        </p:txBody>
      </p:sp>
      <p:sp>
        <p:nvSpPr>
          <p:cNvPr id="4" name="Slide Number Placeholder 3">
            <a:extLst>
              <a:ext uri="{FF2B5EF4-FFF2-40B4-BE49-F238E27FC236}">
                <a16:creationId xmlns:a16="http://schemas.microsoft.com/office/drawing/2014/main" id="{E534835A-AB07-A849-A3BE-D990B8E484AC}"/>
              </a:ext>
            </a:extLst>
          </p:cNvPr>
          <p:cNvSpPr>
            <a:spLocks noGrp="1"/>
          </p:cNvSpPr>
          <p:nvPr>
            <p:ph type="sldNum" sz="quarter" idx="12"/>
          </p:nvPr>
        </p:nvSpPr>
        <p:spPr/>
        <p:txBody>
          <a:bodyPr/>
          <a:lstStyle/>
          <a:p>
            <a:pPr>
              <a:defRPr/>
            </a:pPr>
            <a:fld id="{E6A16A8C-2D22-4328-8F0C-A3AB0F93D1AC}" type="slidenum">
              <a:rPr lang="en-US" smtClean="0"/>
              <a:pPr>
                <a:defRPr/>
              </a:pPr>
              <a:t>14</a:t>
            </a:fld>
            <a:endParaRPr 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0"/>
          <p:cNvSpPr>
            <a:spLocks noGrp="1" noChangeArrowheads="1"/>
          </p:cNvSpPr>
          <p:nvPr>
            <p:ph type="title"/>
          </p:nvPr>
        </p:nvSpPr>
        <p:spPr/>
        <p:txBody>
          <a:bodyPr/>
          <a:lstStyle/>
          <a:p>
            <a:pPr eaLnBrk="1" hangingPunct="1"/>
            <a:r>
              <a:rPr lang="en-US" dirty="0">
                <a:ea typeface="ＭＳ Ｐゴシック" pitchFamily="34" charset="-128"/>
              </a:rPr>
              <a:t>Resource Allocation Graph (RAG)</a:t>
            </a:r>
          </a:p>
        </p:txBody>
      </p:sp>
      <p:sp>
        <p:nvSpPr>
          <p:cNvPr id="33794" name="Rectangle 11"/>
          <p:cNvSpPr>
            <a:spLocks noGrp="1" noChangeArrowheads="1"/>
          </p:cNvSpPr>
          <p:nvPr>
            <p:ph sz="half" idx="1"/>
          </p:nvPr>
        </p:nvSpPr>
        <p:spPr/>
        <p:txBody>
          <a:bodyPr>
            <a:normAutofit/>
          </a:bodyPr>
          <a:lstStyle/>
          <a:p>
            <a:pPr marL="11113" indent="0" eaLnBrk="1" hangingPunct="1">
              <a:lnSpc>
                <a:spcPct val="90000"/>
              </a:lnSpc>
              <a:buNone/>
            </a:pPr>
            <a:r>
              <a:rPr lang="en-US" sz="3200" dirty="0">
                <a:ea typeface="ＭＳ Ｐゴシック" pitchFamily="34" charset="-128"/>
              </a:rPr>
              <a:t>G = (V, E)</a:t>
            </a:r>
          </a:p>
          <a:p>
            <a:pPr>
              <a:lnSpc>
                <a:spcPct val="90000"/>
              </a:lnSpc>
            </a:pPr>
            <a:r>
              <a:rPr lang="en-US" sz="3200" dirty="0">
                <a:ea typeface="ＭＳ Ｐゴシック" pitchFamily="34" charset="-128"/>
              </a:rPr>
              <a:t>V = {P,R} = vertices</a:t>
            </a:r>
          </a:p>
          <a:p>
            <a:pPr lvl="1">
              <a:lnSpc>
                <a:spcPct val="90000"/>
              </a:lnSpc>
            </a:pPr>
            <a:r>
              <a:rPr lang="en-US" sz="2800" dirty="0">
                <a:ea typeface="ＭＳ Ｐゴシック" pitchFamily="34" charset="-128"/>
              </a:rPr>
              <a:t>T = {T</a:t>
            </a:r>
            <a:r>
              <a:rPr lang="en-US" sz="2800" baseline="-25000" dirty="0">
                <a:ea typeface="ＭＳ Ｐゴシック" pitchFamily="34" charset="-128"/>
              </a:rPr>
              <a:t>1</a:t>
            </a:r>
            <a:r>
              <a:rPr lang="en-US" sz="2800" dirty="0">
                <a:ea typeface="ＭＳ Ｐゴシック" pitchFamily="34" charset="-128"/>
              </a:rPr>
              <a:t>, T</a:t>
            </a:r>
            <a:r>
              <a:rPr lang="en-US" sz="2800" baseline="-25000" dirty="0">
                <a:ea typeface="ＭＳ Ｐゴシック" pitchFamily="34" charset="-128"/>
              </a:rPr>
              <a:t>2</a:t>
            </a:r>
            <a:r>
              <a:rPr lang="en-US" sz="2800" dirty="0">
                <a:ea typeface="ＭＳ Ｐゴシック" pitchFamily="34" charset="-128"/>
              </a:rPr>
              <a:t>, ..., </a:t>
            </a:r>
            <a:r>
              <a:rPr lang="en-US" sz="2800" dirty="0" err="1">
                <a:ea typeface="ＭＳ Ｐゴシック" pitchFamily="34" charset="-128"/>
              </a:rPr>
              <a:t>T</a:t>
            </a:r>
            <a:r>
              <a:rPr lang="en-US" sz="2800" baseline="-25000" dirty="0" err="1">
                <a:ea typeface="ＭＳ Ｐゴシック" pitchFamily="34" charset="-128"/>
              </a:rPr>
              <a:t>n</a:t>
            </a:r>
            <a:r>
              <a:rPr lang="en-US" sz="2800" dirty="0">
                <a:ea typeface="ＭＳ Ｐゴシック" pitchFamily="34" charset="-128"/>
              </a:rPr>
              <a:t>} : set of threads.</a:t>
            </a:r>
          </a:p>
          <a:p>
            <a:pPr lvl="1">
              <a:lnSpc>
                <a:spcPct val="90000"/>
              </a:lnSpc>
            </a:pPr>
            <a:r>
              <a:rPr lang="en-US" sz="2800" dirty="0">
                <a:ea typeface="ＭＳ Ｐゴシック" pitchFamily="34" charset="-128"/>
              </a:rPr>
              <a:t>R = {R</a:t>
            </a:r>
            <a:r>
              <a:rPr lang="en-US" sz="2800" baseline="-25000" dirty="0">
                <a:ea typeface="ＭＳ Ｐゴシック" pitchFamily="34" charset="-128"/>
              </a:rPr>
              <a:t>1</a:t>
            </a:r>
            <a:r>
              <a:rPr lang="en-US" sz="2800" dirty="0">
                <a:ea typeface="ＭＳ Ｐゴシック" pitchFamily="34" charset="-128"/>
              </a:rPr>
              <a:t>, R</a:t>
            </a:r>
            <a:r>
              <a:rPr lang="en-US" sz="2800" baseline="-25000" dirty="0">
                <a:ea typeface="ＭＳ Ｐゴシック" pitchFamily="34" charset="-128"/>
              </a:rPr>
              <a:t>2</a:t>
            </a:r>
            <a:r>
              <a:rPr lang="en-US" sz="2800" dirty="0">
                <a:ea typeface="ＭＳ Ｐゴシック" pitchFamily="34" charset="-128"/>
              </a:rPr>
              <a:t>, ..., </a:t>
            </a:r>
            <a:r>
              <a:rPr lang="en-US" sz="2800" dirty="0" err="1">
                <a:ea typeface="ＭＳ Ｐゴシック" pitchFamily="34" charset="-128"/>
              </a:rPr>
              <a:t>R</a:t>
            </a:r>
            <a:r>
              <a:rPr lang="en-US" sz="2800" baseline="-25000" dirty="0" err="1">
                <a:ea typeface="ＭＳ Ｐゴシック" pitchFamily="34" charset="-128"/>
              </a:rPr>
              <a:t>m</a:t>
            </a:r>
            <a:r>
              <a:rPr lang="en-US" sz="2800" dirty="0">
                <a:ea typeface="ＭＳ Ｐゴシック" pitchFamily="34" charset="-128"/>
              </a:rPr>
              <a:t>} : set of resources.</a:t>
            </a:r>
          </a:p>
          <a:p>
            <a:pPr>
              <a:lnSpc>
                <a:spcPct val="90000"/>
              </a:lnSpc>
            </a:pPr>
            <a:r>
              <a:rPr lang="en-US" sz="3200" dirty="0">
                <a:ea typeface="ＭＳ Ｐゴシック" pitchFamily="34" charset="-128"/>
              </a:rPr>
              <a:t>E = edges</a:t>
            </a:r>
          </a:p>
          <a:p>
            <a:pPr lvl="1">
              <a:lnSpc>
                <a:spcPct val="90000"/>
              </a:lnSpc>
            </a:pPr>
            <a:r>
              <a:rPr lang="en-US" sz="2800" dirty="0">
                <a:ea typeface="ＭＳ Ｐゴシック" pitchFamily="34" charset="-128"/>
              </a:rPr>
              <a:t>Edges represent waiting-for or allocated-to relations.</a:t>
            </a:r>
          </a:p>
        </p:txBody>
      </p:sp>
      <p:sp>
        <p:nvSpPr>
          <p:cNvPr id="2" name="Content Placeholder 1"/>
          <p:cNvSpPr>
            <a:spLocks noGrp="1"/>
          </p:cNvSpPr>
          <p:nvPr>
            <p:ph sz="half" idx="2"/>
          </p:nvPr>
        </p:nvSpPr>
        <p:spPr/>
        <p:txBody>
          <a:bodyPr/>
          <a:lstStyle/>
          <a:p>
            <a:pPr>
              <a:lnSpc>
                <a:spcPct val="90000"/>
              </a:lnSpc>
            </a:pPr>
            <a:r>
              <a:rPr lang="en-US" sz="3200" dirty="0">
                <a:ea typeface="ＭＳ Ｐゴシック" pitchFamily="34" charset="-128"/>
              </a:rPr>
              <a:t>(T</a:t>
            </a:r>
            <a:r>
              <a:rPr lang="en-US" sz="3200" baseline="-25000" dirty="0">
                <a:ea typeface="ＭＳ Ｐゴシック" pitchFamily="34" charset="-128"/>
              </a:rPr>
              <a:t>i</a:t>
            </a:r>
            <a:r>
              <a:rPr lang="en-US" sz="3200" dirty="0">
                <a:ea typeface="ＭＳ Ｐゴシック" pitchFamily="34" charset="-128"/>
              </a:rPr>
              <a:t>, </a:t>
            </a:r>
            <a:r>
              <a:rPr lang="en-US" sz="3200" dirty="0" err="1">
                <a:ea typeface="ＭＳ Ｐゴシック" pitchFamily="34" charset="-128"/>
              </a:rPr>
              <a:t>R</a:t>
            </a:r>
            <a:r>
              <a:rPr lang="en-US" sz="3200" baseline="-25000" dirty="0" err="1">
                <a:ea typeface="ＭＳ Ｐゴシック" pitchFamily="34" charset="-128"/>
              </a:rPr>
              <a:t>j</a:t>
            </a:r>
            <a:r>
              <a:rPr lang="en-US" sz="3200" dirty="0">
                <a:ea typeface="ＭＳ Ｐゴシック" pitchFamily="34" charset="-128"/>
              </a:rPr>
              <a:t>) in G</a:t>
            </a:r>
          </a:p>
          <a:p>
            <a:pPr lvl="1">
              <a:lnSpc>
                <a:spcPct val="90000"/>
              </a:lnSpc>
            </a:pPr>
            <a:r>
              <a:rPr lang="en-US" sz="2800" dirty="0">
                <a:ea typeface="ＭＳ Ｐゴシック" pitchFamily="34" charset="-128"/>
              </a:rPr>
              <a:t>Thread T</a:t>
            </a:r>
            <a:r>
              <a:rPr lang="en-US" sz="2800" baseline="-25000" dirty="0">
                <a:ea typeface="ＭＳ Ｐゴシック" pitchFamily="34" charset="-128"/>
              </a:rPr>
              <a:t>i</a:t>
            </a:r>
            <a:r>
              <a:rPr lang="en-US" sz="2800" dirty="0">
                <a:ea typeface="ＭＳ Ｐゴシック" pitchFamily="34" charset="-128"/>
              </a:rPr>
              <a:t> is waiting for Resource </a:t>
            </a:r>
            <a:r>
              <a:rPr lang="en-US" sz="2800" dirty="0" err="1">
                <a:ea typeface="ＭＳ Ｐゴシック" pitchFamily="34" charset="-128"/>
              </a:rPr>
              <a:t>R</a:t>
            </a:r>
            <a:r>
              <a:rPr lang="en-US" sz="2800" baseline="-25000" dirty="0" err="1">
                <a:ea typeface="ＭＳ Ｐゴシック" pitchFamily="34" charset="-128"/>
              </a:rPr>
              <a:t>j</a:t>
            </a:r>
            <a:r>
              <a:rPr lang="en-US" sz="2800" dirty="0">
                <a:ea typeface="ＭＳ Ｐゴシック" pitchFamily="34" charset="-128"/>
              </a:rPr>
              <a:t> (</a:t>
            </a:r>
            <a:r>
              <a:rPr lang="en-US" sz="2800" dirty="0">
                <a:solidFill>
                  <a:srgbClr val="FF0000"/>
                </a:solidFill>
                <a:ea typeface="ＭＳ Ｐゴシック" pitchFamily="34" charset="-128"/>
              </a:rPr>
              <a:t>request edge</a:t>
            </a:r>
            <a:r>
              <a:rPr lang="en-US" sz="2800" dirty="0">
                <a:ea typeface="ＭＳ Ｐゴシック" pitchFamily="34" charset="-128"/>
              </a:rPr>
              <a:t>)</a:t>
            </a:r>
          </a:p>
          <a:p>
            <a:pPr lvl="1">
              <a:lnSpc>
                <a:spcPct val="90000"/>
              </a:lnSpc>
            </a:pPr>
            <a:endParaRPr lang="en-US" sz="2800" dirty="0">
              <a:ea typeface="ＭＳ Ｐゴシック" pitchFamily="34" charset="-128"/>
            </a:endParaRPr>
          </a:p>
          <a:p>
            <a:pPr>
              <a:lnSpc>
                <a:spcPct val="90000"/>
              </a:lnSpc>
            </a:pPr>
            <a:r>
              <a:rPr lang="en-US" sz="3200" dirty="0">
                <a:ea typeface="ＭＳ Ｐゴシック" pitchFamily="34" charset="-128"/>
              </a:rPr>
              <a:t>(</a:t>
            </a:r>
            <a:r>
              <a:rPr lang="en-US" sz="3200" dirty="0" err="1">
                <a:ea typeface="ＭＳ Ｐゴシック" pitchFamily="34" charset="-128"/>
              </a:rPr>
              <a:t>R</a:t>
            </a:r>
            <a:r>
              <a:rPr lang="en-US" sz="3200" baseline="-25000" dirty="0" err="1">
                <a:ea typeface="ＭＳ Ｐゴシック" pitchFamily="34" charset="-128"/>
              </a:rPr>
              <a:t>j</a:t>
            </a:r>
            <a:r>
              <a:rPr lang="en-US" sz="3200" dirty="0">
                <a:ea typeface="ＭＳ Ｐゴシック" pitchFamily="34" charset="-128"/>
              </a:rPr>
              <a:t>, T</a:t>
            </a:r>
            <a:r>
              <a:rPr lang="en-US" sz="3200" baseline="-25000" dirty="0">
                <a:ea typeface="ＭＳ Ｐゴシック" pitchFamily="34" charset="-128"/>
              </a:rPr>
              <a:t>i</a:t>
            </a:r>
            <a:r>
              <a:rPr lang="en-US" sz="3200" dirty="0">
                <a:ea typeface="ＭＳ Ｐゴシック" pitchFamily="34" charset="-128"/>
              </a:rPr>
              <a:t>) in G</a:t>
            </a:r>
          </a:p>
          <a:p>
            <a:pPr lvl="1">
              <a:lnSpc>
                <a:spcPct val="90000"/>
              </a:lnSpc>
            </a:pPr>
            <a:r>
              <a:rPr lang="en-US" sz="2800" dirty="0">
                <a:ea typeface="ＭＳ Ｐゴシック" pitchFamily="34" charset="-128"/>
              </a:rPr>
              <a:t>Resource </a:t>
            </a:r>
            <a:r>
              <a:rPr lang="en-US" sz="2800" dirty="0" err="1">
                <a:ea typeface="ＭＳ Ｐゴシック" pitchFamily="34" charset="-128"/>
              </a:rPr>
              <a:t>R</a:t>
            </a:r>
            <a:r>
              <a:rPr lang="en-US" sz="2800" baseline="-25000" dirty="0" err="1">
                <a:ea typeface="ＭＳ Ｐゴシック" pitchFamily="34" charset="-128"/>
              </a:rPr>
              <a:t>j</a:t>
            </a:r>
            <a:r>
              <a:rPr lang="en-US" sz="2800" dirty="0">
                <a:ea typeface="ＭＳ Ｐゴシック" pitchFamily="34" charset="-128"/>
              </a:rPr>
              <a:t> is allocated to Thread T</a:t>
            </a:r>
            <a:r>
              <a:rPr lang="en-US" sz="2800" baseline="-25000" dirty="0">
                <a:ea typeface="ＭＳ Ｐゴシック" pitchFamily="34" charset="-128"/>
              </a:rPr>
              <a:t>i</a:t>
            </a:r>
            <a:r>
              <a:rPr lang="en-US" sz="2800" dirty="0">
                <a:ea typeface="ＭＳ Ｐゴシック" pitchFamily="34" charset="-128"/>
              </a:rPr>
              <a:t> (</a:t>
            </a:r>
            <a:r>
              <a:rPr lang="en-US" sz="2800" dirty="0">
                <a:solidFill>
                  <a:srgbClr val="FF0000"/>
                </a:solidFill>
                <a:ea typeface="ＭＳ Ｐゴシック" pitchFamily="34" charset="-128"/>
              </a:rPr>
              <a:t>assignment edge</a:t>
            </a:r>
            <a:r>
              <a:rPr lang="en-US" sz="2800" dirty="0">
                <a:ea typeface="ＭＳ Ｐゴシック" pitchFamily="34" charset="-128"/>
              </a:rPr>
              <a:t>)</a:t>
            </a:r>
          </a:p>
        </p:txBody>
      </p:sp>
      <p:sp>
        <p:nvSpPr>
          <p:cNvPr id="33796" name="Rectangle 4"/>
          <p:cNvSpPr>
            <a:spLocks noChangeArrowheads="1"/>
          </p:cNvSpPr>
          <p:nvPr/>
        </p:nvSpPr>
        <p:spPr bwMode="auto">
          <a:xfrm>
            <a:off x="8686800" y="2819400"/>
            <a:ext cx="685800" cy="4572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dirty="0" err="1">
                <a:solidFill>
                  <a:srgbClr val="002060"/>
                </a:solidFill>
                <a:latin typeface="+mn-lt"/>
              </a:rPr>
              <a:t>R</a:t>
            </a:r>
            <a:r>
              <a:rPr lang="en-US" baseline="-25000" dirty="0" err="1">
                <a:solidFill>
                  <a:srgbClr val="002060"/>
                </a:solidFill>
                <a:latin typeface="+mn-lt"/>
              </a:rPr>
              <a:t>j</a:t>
            </a:r>
            <a:endParaRPr lang="en-US" baseline="-25000" dirty="0">
              <a:solidFill>
                <a:srgbClr val="002060"/>
              </a:solidFill>
              <a:latin typeface="+mn-lt"/>
            </a:endParaRPr>
          </a:p>
        </p:txBody>
      </p:sp>
      <p:sp>
        <p:nvSpPr>
          <p:cNvPr id="33797" name="Oval 5"/>
          <p:cNvSpPr>
            <a:spLocks noChangeArrowheads="1"/>
          </p:cNvSpPr>
          <p:nvPr/>
        </p:nvSpPr>
        <p:spPr bwMode="auto">
          <a:xfrm>
            <a:off x="6934200" y="2819400"/>
            <a:ext cx="457200" cy="457200"/>
          </a:xfrm>
          <a:prstGeom prst="ellipse">
            <a:avLst/>
          </a:prstGeom>
          <a:solidFill>
            <a:schemeClr val="bg1"/>
          </a:solidFill>
          <a:ln w="12700">
            <a:solidFill>
              <a:schemeClr val="tx1"/>
            </a:solidFill>
            <a:round/>
            <a:headEnd/>
            <a:tailEnd/>
          </a:ln>
        </p:spPr>
        <p:txBody>
          <a:bodyPr wrap="none" anchor="ctr"/>
          <a:lstStyle/>
          <a:p>
            <a:pPr algn="ctr" eaLnBrk="0" hangingPunct="0"/>
            <a:r>
              <a:rPr lang="en-US" dirty="0">
                <a:solidFill>
                  <a:srgbClr val="002060"/>
                </a:solidFill>
                <a:latin typeface="+mn-lt"/>
              </a:rPr>
              <a:t>T</a:t>
            </a:r>
            <a:r>
              <a:rPr lang="en-US" baseline="-25000" dirty="0">
                <a:solidFill>
                  <a:srgbClr val="002060"/>
                </a:solidFill>
                <a:latin typeface="+mn-lt"/>
              </a:rPr>
              <a:t>i</a:t>
            </a:r>
          </a:p>
        </p:txBody>
      </p:sp>
      <p:cxnSp>
        <p:nvCxnSpPr>
          <p:cNvPr id="33798" name="AutoShape 6"/>
          <p:cNvCxnSpPr>
            <a:cxnSpLocks noChangeShapeType="1"/>
            <a:stCxn id="33797" idx="6"/>
            <a:endCxn id="33796" idx="1"/>
          </p:cNvCxnSpPr>
          <p:nvPr/>
        </p:nvCxnSpPr>
        <p:spPr bwMode="auto">
          <a:xfrm>
            <a:off x="7391400" y="3048000"/>
            <a:ext cx="1295400" cy="0"/>
          </a:xfrm>
          <a:prstGeom prst="straightConnector1">
            <a:avLst/>
          </a:prstGeom>
          <a:noFill/>
          <a:ln w="25400">
            <a:solidFill>
              <a:srgbClr val="FF0000"/>
            </a:solidFill>
            <a:round/>
            <a:headEnd/>
            <a:tailEnd type="triangle" w="lg" len="med"/>
          </a:ln>
        </p:spPr>
      </p:cxnSp>
      <p:sp>
        <p:nvSpPr>
          <p:cNvPr id="33799" name="Rectangle 7"/>
          <p:cNvSpPr>
            <a:spLocks noChangeArrowheads="1"/>
          </p:cNvSpPr>
          <p:nvPr/>
        </p:nvSpPr>
        <p:spPr bwMode="auto">
          <a:xfrm>
            <a:off x="8686800" y="5105400"/>
            <a:ext cx="685800" cy="4572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a:solidFill>
                  <a:srgbClr val="002060"/>
                </a:solidFill>
                <a:latin typeface="+mn-lt"/>
              </a:rPr>
              <a:t>R</a:t>
            </a:r>
            <a:r>
              <a:rPr lang="en-US" baseline="-25000">
                <a:solidFill>
                  <a:srgbClr val="002060"/>
                </a:solidFill>
                <a:latin typeface="+mn-lt"/>
              </a:rPr>
              <a:t>j</a:t>
            </a:r>
          </a:p>
        </p:txBody>
      </p:sp>
      <p:sp>
        <p:nvSpPr>
          <p:cNvPr id="33800" name="Oval 8"/>
          <p:cNvSpPr>
            <a:spLocks noChangeArrowheads="1"/>
          </p:cNvSpPr>
          <p:nvPr/>
        </p:nvSpPr>
        <p:spPr bwMode="auto">
          <a:xfrm>
            <a:off x="6931855" y="5105400"/>
            <a:ext cx="457200" cy="457200"/>
          </a:xfrm>
          <a:prstGeom prst="ellipse">
            <a:avLst/>
          </a:prstGeom>
          <a:solidFill>
            <a:schemeClr val="bg1"/>
          </a:solidFill>
          <a:ln w="12700">
            <a:solidFill>
              <a:schemeClr val="tx1"/>
            </a:solidFill>
            <a:round/>
            <a:headEnd/>
            <a:tailEnd/>
          </a:ln>
        </p:spPr>
        <p:txBody>
          <a:bodyPr wrap="none" anchor="ctr"/>
          <a:lstStyle/>
          <a:p>
            <a:pPr algn="ctr" eaLnBrk="0" hangingPunct="0"/>
            <a:r>
              <a:rPr lang="en-US" dirty="0">
                <a:solidFill>
                  <a:srgbClr val="002060"/>
                </a:solidFill>
                <a:latin typeface="+mn-lt"/>
              </a:rPr>
              <a:t>T</a:t>
            </a:r>
            <a:r>
              <a:rPr lang="en-US" baseline="-25000" dirty="0">
                <a:solidFill>
                  <a:srgbClr val="002060"/>
                </a:solidFill>
                <a:latin typeface="+mn-lt"/>
              </a:rPr>
              <a:t>i</a:t>
            </a:r>
          </a:p>
        </p:txBody>
      </p:sp>
      <p:cxnSp>
        <p:nvCxnSpPr>
          <p:cNvPr id="33801" name="AutoShape 9"/>
          <p:cNvCxnSpPr>
            <a:cxnSpLocks noChangeShapeType="1"/>
            <a:stCxn id="33799" idx="1"/>
            <a:endCxn id="33800" idx="6"/>
          </p:cNvCxnSpPr>
          <p:nvPr/>
        </p:nvCxnSpPr>
        <p:spPr bwMode="auto">
          <a:xfrm flipH="1">
            <a:off x="7389056" y="5334000"/>
            <a:ext cx="1297745" cy="0"/>
          </a:xfrm>
          <a:prstGeom prst="straightConnector1">
            <a:avLst/>
          </a:prstGeom>
          <a:noFill/>
          <a:ln w="25400">
            <a:solidFill>
              <a:srgbClr val="FF0000"/>
            </a:solidFill>
            <a:round/>
            <a:headEnd/>
            <a:tailEnd type="triangle" w="lg" len="med"/>
          </a:ln>
        </p:spPr>
      </p:cxnSp>
      <p:sp>
        <p:nvSpPr>
          <p:cNvPr id="5" name="Slide Number Placeholder 4">
            <a:extLst>
              <a:ext uri="{FF2B5EF4-FFF2-40B4-BE49-F238E27FC236}">
                <a16:creationId xmlns:a16="http://schemas.microsoft.com/office/drawing/2014/main" id="{5EC5FFFC-D294-2B4B-9A4D-4728CA0749D6}"/>
              </a:ext>
            </a:extLst>
          </p:cNvPr>
          <p:cNvSpPr>
            <a:spLocks noGrp="1"/>
          </p:cNvSpPr>
          <p:nvPr>
            <p:ph type="sldNum" sz="quarter" idx="12"/>
          </p:nvPr>
        </p:nvSpPr>
        <p:spPr/>
        <p:txBody>
          <a:bodyPr/>
          <a:lstStyle/>
          <a:p>
            <a:pPr>
              <a:defRPr/>
            </a:pPr>
            <a:fld id="{E6A16A8C-2D22-4328-8F0C-A3AB0F93D1AC}" type="slidenum">
              <a:rPr lang="en-US" smtClean="0"/>
              <a:pPr>
                <a:defRPr/>
              </a:pPr>
              <a:t>15</a:t>
            </a:fld>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50"/>
          <p:cNvSpPr>
            <a:spLocks noGrp="1" noChangeArrowheads="1"/>
          </p:cNvSpPr>
          <p:nvPr>
            <p:ph type="title"/>
          </p:nvPr>
        </p:nvSpPr>
        <p:spPr/>
        <p:txBody>
          <a:bodyPr/>
          <a:lstStyle/>
          <a:p>
            <a:r>
              <a:rPr lang="en-US" dirty="0"/>
              <a:t>Example of RAG</a:t>
            </a:r>
          </a:p>
        </p:txBody>
      </p:sp>
      <p:sp>
        <p:nvSpPr>
          <p:cNvPr id="3" name="Content Placeholder 2"/>
          <p:cNvSpPr>
            <a:spLocks noGrp="1"/>
          </p:cNvSpPr>
          <p:nvPr>
            <p:ph idx="1"/>
          </p:nvPr>
        </p:nvSpPr>
        <p:spPr>
          <a:xfrm>
            <a:off x="609600" y="1295399"/>
            <a:ext cx="10972800" cy="5334001"/>
          </a:xfrm>
        </p:spPr>
        <p:txBody>
          <a:bodyPr>
            <a:normAutofit/>
          </a:bodyPr>
          <a:lstStyle/>
          <a:p>
            <a:pPr>
              <a:lnSpc>
                <a:spcPct val="90000"/>
              </a:lnSpc>
            </a:pPr>
            <a:r>
              <a:rPr lang="en-US" sz="2800" dirty="0">
                <a:ea typeface="ＭＳ Ｐゴシック" pitchFamily="34" charset="-128"/>
              </a:rPr>
              <a:t>V = (T = {T</a:t>
            </a:r>
            <a:r>
              <a:rPr lang="en-US" sz="2800" baseline="-25000" dirty="0">
                <a:ea typeface="ＭＳ Ｐゴシック" pitchFamily="34" charset="-128"/>
              </a:rPr>
              <a:t>1</a:t>
            </a:r>
            <a:r>
              <a:rPr lang="en-US" sz="2800" dirty="0">
                <a:ea typeface="ＭＳ Ｐゴシック" pitchFamily="34" charset="-128"/>
              </a:rPr>
              <a:t>, T</a:t>
            </a:r>
            <a:r>
              <a:rPr lang="en-US" sz="2800" baseline="-25000" dirty="0">
                <a:ea typeface="ＭＳ Ｐゴシック" pitchFamily="34" charset="-128"/>
              </a:rPr>
              <a:t>2</a:t>
            </a:r>
            <a:r>
              <a:rPr lang="en-US" sz="2800" dirty="0">
                <a:ea typeface="ＭＳ Ｐゴシック" pitchFamily="34" charset="-128"/>
              </a:rPr>
              <a:t>}, R = {R</a:t>
            </a:r>
            <a:r>
              <a:rPr lang="en-US" sz="2800" baseline="-25000" dirty="0">
                <a:ea typeface="ＭＳ Ｐゴシック" pitchFamily="34" charset="-128"/>
              </a:rPr>
              <a:t>1</a:t>
            </a:r>
            <a:r>
              <a:rPr lang="en-US" sz="2800" dirty="0">
                <a:ea typeface="ＭＳ Ｐゴシック" pitchFamily="34" charset="-128"/>
              </a:rPr>
              <a:t>})</a:t>
            </a:r>
          </a:p>
          <a:p>
            <a:pPr lvl="1">
              <a:lnSpc>
                <a:spcPct val="90000"/>
              </a:lnSpc>
            </a:pPr>
            <a:r>
              <a:rPr lang="en-US" sz="2400" dirty="0" err="1">
                <a:ea typeface="ＭＳ Ｐゴシック" pitchFamily="34" charset="-128"/>
              </a:rPr>
              <a:t>E</a:t>
            </a:r>
            <a:r>
              <a:rPr lang="en-US" sz="2400" baseline="-25000" dirty="0" err="1">
                <a:ea typeface="ＭＳ Ｐゴシック" pitchFamily="34" charset="-128"/>
              </a:rPr>
              <a:t>initial</a:t>
            </a:r>
            <a:r>
              <a:rPr lang="en-US" sz="2400" dirty="0">
                <a:ea typeface="ＭＳ Ｐゴシック" pitchFamily="34" charset="-128"/>
              </a:rPr>
              <a:t> = {(R</a:t>
            </a:r>
            <a:r>
              <a:rPr lang="en-US" sz="2400" baseline="-25000" dirty="0">
                <a:ea typeface="ＭＳ Ｐゴシック" pitchFamily="34" charset="-128"/>
              </a:rPr>
              <a:t>1</a:t>
            </a:r>
            <a:r>
              <a:rPr lang="en-US" sz="2400" dirty="0">
                <a:ea typeface="ＭＳ Ｐゴシック" pitchFamily="34" charset="-128"/>
              </a:rPr>
              <a:t>, T</a:t>
            </a:r>
            <a:r>
              <a:rPr lang="en-US" sz="2400" baseline="-25000" dirty="0">
                <a:ea typeface="ＭＳ Ｐゴシック" pitchFamily="34" charset="-128"/>
              </a:rPr>
              <a:t>2</a:t>
            </a:r>
            <a:r>
              <a:rPr lang="en-US" sz="2400" dirty="0">
                <a:ea typeface="ＭＳ Ｐゴシック" pitchFamily="34" charset="-128"/>
              </a:rPr>
              <a:t>)}</a:t>
            </a:r>
          </a:p>
          <a:p>
            <a:pPr lvl="1">
              <a:lnSpc>
                <a:spcPct val="90000"/>
              </a:lnSpc>
            </a:pPr>
            <a:r>
              <a:rPr lang="en-US" sz="2400" dirty="0" err="1">
                <a:ea typeface="ＭＳ Ｐゴシック" pitchFamily="34" charset="-128"/>
              </a:rPr>
              <a:t>E</a:t>
            </a:r>
            <a:r>
              <a:rPr lang="en-US" sz="2400" baseline="-25000" dirty="0" err="1">
                <a:ea typeface="ＭＳ Ｐゴシック" pitchFamily="34" charset="-128"/>
              </a:rPr>
              <a:t>final</a:t>
            </a:r>
            <a:r>
              <a:rPr lang="en-US" sz="2400" dirty="0">
                <a:ea typeface="ＭＳ Ｐゴシック" pitchFamily="34" charset="-128"/>
              </a:rPr>
              <a:t> = {(R</a:t>
            </a:r>
            <a:r>
              <a:rPr lang="en-US" sz="2400" baseline="-25000" dirty="0">
                <a:ea typeface="ＭＳ Ｐゴシック" pitchFamily="34" charset="-128"/>
              </a:rPr>
              <a:t>1</a:t>
            </a:r>
            <a:r>
              <a:rPr lang="en-US" sz="2400" dirty="0">
                <a:ea typeface="ＭＳ Ｐゴシック" pitchFamily="34" charset="-128"/>
              </a:rPr>
              <a:t>, T</a:t>
            </a:r>
            <a:r>
              <a:rPr lang="en-US" sz="2400" baseline="-25000" dirty="0">
                <a:ea typeface="ＭＳ Ｐゴシック" pitchFamily="34" charset="-128"/>
              </a:rPr>
              <a:t>2</a:t>
            </a:r>
            <a:r>
              <a:rPr lang="en-US" sz="2400" dirty="0">
                <a:ea typeface="ＭＳ Ｐゴシック" pitchFamily="34" charset="-128"/>
              </a:rPr>
              <a:t>), (R</a:t>
            </a:r>
            <a:r>
              <a:rPr lang="en-US" sz="2400" baseline="-25000" dirty="0">
                <a:ea typeface="ＭＳ Ｐゴシック" pitchFamily="34" charset="-128"/>
              </a:rPr>
              <a:t>1</a:t>
            </a:r>
            <a:r>
              <a:rPr lang="en-US" sz="2400" dirty="0">
                <a:ea typeface="ＭＳ Ｐゴシック" pitchFamily="34" charset="-128"/>
              </a:rPr>
              <a:t>, T</a:t>
            </a:r>
            <a:r>
              <a:rPr lang="en-US" sz="2400" baseline="-25000" dirty="0">
                <a:ea typeface="ＭＳ Ｐゴシック" pitchFamily="34" charset="-128"/>
              </a:rPr>
              <a:t>1</a:t>
            </a:r>
            <a:r>
              <a:rPr lang="en-US" sz="2400" dirty="0">
                <a:ea typeface="ＭＳ Ｐゴシック" pitchFamily="34" charset="-128"/>
              </a:rPr>
              <a:t>)}</a:t>
            </a:r>
          </a:p>
        </p:txBody>
      </p:sp>
      <p:sp>
        <p:nvSpPr>
          <p:cNvPr id="35844" name="Oval 4"/>
          <p:cNvSpPr>
            <a:spLocks noChangeArrowheads="1"/>
          </p:cNvSpPr>
          <p:nvPr/>
        </p:nvSpPr>
        <p:spPr bwMode="auto">
          <a:xfrm>
            <a:off x="2825750" y="28194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35845" name="Oval 5"/>
          <p:cNvSpPr>
            <a:spLocks noChangeArrowheads="1"/>
          </p:cNvSpPr>
          <p:nvPr/>
        </p:nvSpPr>
        <p:spPr bwMode="auto">
          <a:xfrm>
            <a:off x="2825750" y="49530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35846" name="Rectangle 6"/>
          <p:cNvSpPr>
            <a:spLocks noChangeArrowheads="1"/>
          </p:cNvSpPr>
          <p:nvPr/>
        </p:nvSpPr>
        <p:spPr bwMode="auto">
          <a:xfrm>
            <a:off x="2673350" y="3886200"/>
            <a:ext cx="749300" cy="5207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35847" name="Rectangle 7"/>
          <p:cNvSpPr>
            <a:spLocks noChangeArrowheads="1"/>
          </p:cNvSpPr>
          <p:nvPr/>
        </p:nvSpPr>
        <p:spPr bwMode="auto">
          <a:xfrm>
            <a:off x="3490914" y="3933826"/>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35848" name="Oval 8"/>
          <p:cNvSpPr>
            <a:spLocks noChangeArrowheads="1"/>
          </p:cNvSpPr>
          <p:nvPr/>
        </p:nvSpPr>
        <p:spPr bwMode="auto">
          <a:xfrm>
            <a:off x="27495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49" name="Oval 9"/>
          <p:cNvSpPr>
            <a:spLocks noChangeArrowheads="1"/>
          </p:cNvSpPr>
          <p:nvPr/>
        </p:nvSpPr>
        <p:spPr bwMode="auto">
          <a:xfrm>
            <a:off x="2978150" y="41910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50" name="Oval 10"/>
          <p:cNvSpPr>
            <a:spLocks noChangeArrowheads="1"/>
          </p:cNvSpPr>
          <p:nvPr/>
        </p:nvSpPr>
        <p:spPr bwMode="auto">
          <a:xfrm>
            <a:off x="32067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51" name="Line 11"/>
          <p:cNvSpPr>
            <a:spLocks noChangeShapeType="1"/>
          </p:cNvSpPr>
          <p:nvPr/>
        </p:nvSpPr>
        <p:spPr bwMode="auto">
          <a:xfrm>
            <a:off x="3048000" y="43434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52" name="Oval 12"/>
          <p:cNvSpPr>
            <a:spLocks noChangeArrowheads="1"/>
          </p:cNvSpPr>
          <p:nvPr/>
        </p:nvSpPr>
        <p:spPr bwMode="auto">
          <a:xfrm>
            <a:off x="4654550" y="28194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35853" name="Oval 13"/>
          <p:cNvSpPr>
            <a:spLocks noChangeArrowheads="1"/>
          </p:cNvSpPr>
          <p:nvPr/>
        </p:nvSpPr>
        <p:spPr bwMode="auto">
          <a:xfrm>
            <a:off x="4654550" y="49530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35854" name="Rectangle 14"/>
          <p:cNvSpPr>
            <a:spLocks noChangeArrowheads="1"/>
          </p:cNvSpPr>
          <p:nvPr/>
        </p:nvSpPr>
        <p:spPr bwMode="auto">
          <a:xfrm>
            <a:off x="4502150" y="3886200"/>
            <a:ext cx="749300" cy="5207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35855" name="Rectangle 15"/>
          <p:cNvSpPr>
            <a:spLocks noChangeArrowheads="1"/>
          </p:cNvSpPr>
          <p:nvPr/>
        </p:nvSpPr>
        <p:spPr bwMode="auto">
          <a:xfrm>
            <a:off x="5319714" y="3933826"/>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35856" name="Oval 16"/>
          <p:cNvSpPr>
            <a:spLocks noChangeArrowheads="1"/>
          </p:cNvSpPr>
          <p:nvPr/>
        </p:nvSpPr>
        <p:spPr bwMode="auto">
          <a:xfrm>
            <a:off x="45783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57" name="Oval 17"/>
          <p:cNvSpPr>
            <a:spLocks noChangeArrowheads="1"/>
          </p:cNvSpPr>
          <p:nvPr/>
        </p:nvSpPr>
        <p:spPr bwMode="auto">
          <a:xfrm>
            <a:off x="4806950" y="41910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58" name="Oval 18"/>
          <p:cNvSpPr>
            <a:spLocks noChangeArrowheads="1"/>
          </p:cNvSpPr>
          <p:nvPr/>
        </p:nvSpPr>
        <p:spPr bwMode="auto">
          <a:xfrm>
            <a:off x="50355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59" name="Line 19"/>
          <p:cNvSpPr>
            <a:spLocks noChangeShapeType="1"/>
          </p:cNvSpPr>
          <p:nvPr/>
        </p:nvSpPr>
        <p:spPr bwMode="auto">
          <a:xfrm>
            <a:off x="4876800" y="43434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60" name="Oval 20"/>
          <p:cNvSpPr>
            <a:spLocks noChangeArrowheads="1"/>
          </p:cNvSpPr>
          <p:nvPr/>
        </p:nvSpPr>
        <p:spPr bwMode="auto">
          <a:xfrm>
            <a:off x="6483350" y="28194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35861" name="Oval 21"/>
          <p:cNvSpPr>
            <a:spLocks noChangeArrowheads="1"/>
          </p:cNvSpPr>
          <p:nvPr/>
        </p:nvSpPr>
        <p:spPr bwMode="auto">
          <a:xfrm>
            <a:off x="6483350" y="49530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35862" name="Rectangle 22"/>
          <p:cNvSpPr>
            <a:spLocks noChangeArrowheads="1"/>
          </p:cNvSpPr>
          <p:nvPr/>
        </p:nvSpPr>
        <p:spPr bwMode="auto">
          <a:xfrm>
            <a:off x="6330950" y="3886200"/>
            <a:ext cx="749300" cy="5207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35863" name="Rectangle 23"/>
          <p:cNvSpPr>
            <a:spLocks noChangeArrowheads="1"/>
          </p:cNvSpPr>
          <p:nvPr/>
        </p:nvSpPr>
        <p:spPr bwMode="auto">
          <a:xfrm>
            <a:off x="7148514" y="3933826"/>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35864" name="Oval 24"/>
          <p:cNvSpPr>
            <a:spLocks noChangeArrowheads="1"/>
          </p:cNvSpPr>
          <p:nvPr/>
        </p:nvSpPr>
        <p:spPr bwMode="auto">
          <a:xfrm>
            <a:off x="64071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65" name="Oval 25"/>
          <p:cNvSpPr>
            <a:spLocks noChangeArrowheads="1"/>
          </p:cNvSpPr>
          <p:nvPr/>
        </p:nvSpPr>
        <p:spPr bwMode="auto">
          <a:xfrm>
            <a:off x="6635750" y="41910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66" name="Oval 26"/>
          <p:cNvSpPr>
            <a:spLocks noChangeArrowheads="1"/>
          </p:cNvSpPr>
          <p:nvPr/>
        </p:nvSpPr>
        <p:spPr bwMode="auto">
          <a:xfrm>
            <a:off x="68643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67" name="Line 27"/>
          <p:cNvSpPr>
            <a:spLocks noChangeShapeType="1"/>
          </p:cNvSpPr>
          <p:nvPr/>
        </p:nvSpPr>
        <p:spPr bwMode="auto">
          <a:xfrm>
            <a:off x="6705600" y="43434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68" name="Oval 28"/>
          <p:cNvSpPr>
            <a:spLocks noChangeArrowheads="1"/>
          </p:cNvSpPr>
          <p:nvPr/>
        </p:nvSpPr>
        <p:spPr bwMode="auto">
          <a:xfrm>
            <a:off x="8235950" y="28194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35869" name="Oval 29"/>
          <p:cNvSpPr>
            <a:spLocks noChangeArrowheads="1"/>
          </p:cNvSpPr>
          <p:nvPr/>
        </p:nvSpPr>
        <p:spPr bwMode="auto">
          <a:xfrm>
            <a:off x="8235950" y="49530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35870" name="Rectangle 30"/>
          <p:cNvSpPr>
            <a:spLocks noChangeArrowheads="1"/>
          </p:cNvSpPr>
          <p:nvPr/>
        </p:nvSpPr>
        <p:spPr bwMode="auto">
          <a:xfrm>
            <a:off x="8083550" y="3886200"/>
            <a:ext cx="749300" cy="5207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35871" name="Rectangle 31"/>
          <p:cNvSpPr>
            <a:spLocks noChangeArrowheads="1"/>
          </p:cNvSpPr>
          <p:nvPr/>
        </p:nvSpPr>
        <p:spPr bwMode="auto">
          <a:xfrm>
            <a:off x="8901114" y="3933826"/>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35872" name="Oval 32"/>
          <p:cNvSpPr>
            <a:spLocks noChangeArrowheads="1"/>
          </p:cNvSpPr>
          <p:nvPr/>
        </p:nvSpPr>
        <p:spPr bwMode="auto">
          <a:xfrm>
            <a:off x="81597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73" name="Oval 33"/>
          <p:cNvSpPr>
            <a:spLocks noChangeArrowheads="1"/>
          </p:cNvSpPr>
          <p:nvPr/>
        </p:nvSpPr>
        <p:spPr bwMode="auto">
          <a:xfrm>
            <a:off x="8388350" y="41910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74" name="Oval 34"/>
          <p:cNvSpPr>
            <a:spLocks noChangeArrowheads="1"/>
          </p:cNvSpPr>
          <p:nvPr/>
        </p:nvSpPr>
        <p:spPr bwMode="auto">
          <a:xfrm>
            <a:off x="8616950" y="3962400"/>
            <a:ext cx="139700" cy="139700"/>
          </a:xfrm>
          <a:prstGeom prst="ellipse">
            <a:avLst/>
          </a:prstGeom>
          <a:solidFill>
            <a:schemeClr val="bg1"/>
          </a:solid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35875" name="Line 35"/>
          <p:cNvSpPr>
            <a:spLocks noChangeShapeType="1"/>
          </p:cNvSpPr>
          <p:nvPr/>
        </p:nvSpPr>
        <p:spPr bwMode="auto">
          <a:xfrm>
            <a:off x="8458200" y="43434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76" name="Line 36"/>
          <p:cNvSpPr>
            <a:spLocks noChangeShapeType="1"/>
          </p:cNvSpPr>
          <p:nvPr/>
        </p:nvSpPr>
        <p:spPr bwMode="auto">
          <a:xfrm>
            <a:off x="3435350" y="5632450"/>
            <a:ext cx="1130300" cy="0"/>
          </a:xfrm>
          <a:prstGeom prst="line">
            <a:avLst/>
          </a:prstGeom>
          <a:noFill/>
          <a:ln w="12700">
            <a:solidFill>
              <a:schemeClr val="tx1"/>
            </a:solidFill>
            <a:round/>
            <a:headEnd/>
            <a:tailEnd type="triangle" w="med" len="med"/>
          </a:ln>
        </p:spPr>
        <p:txBody>
          <a:bodyPr wrap="none" anchor="ctr"/>
          <a:lstStyle/>
          <a:p>
            <a:endParaRPr lang="en-US" dirty="0">
              <a:latin typeface="+mn-lt"/>
            </a:endParaRPr>
          </a:p>
        </p:txBody>
      </p:sp>
      <p:sp>
        <p:nvSpPr>
          <p:cNvPr id="35877" name="Rectangle 37"/>
          <p:cNvSpPr>
            <a:spLocks noChangeArrowheads="1"/>
          </p:cNvSpPr>
          <p:nvPr/>
        </p:nvSpPr>
        <p:spPr bwMode="auto">
          <a:xfrm>
            <a:off x="3490914" y="5686426"/>
            <a:ext cx="942375" cy="366767"/>
          </a:xfrm>
          <a:prstGeom prst="rect">
            <a:avLst/>
          </a:prstGeom>
          <a:noFill/>
          <a:ln w="12700">
            <a:noFill/>
            <a:miter lim="800000"/>
            <a:headEnd/>
            <a:tailEnd/>
          </a:ln>
        </p:spPr>
        <p:txBody>
          <a:bodyPr wrap="none" lIns="90488" tIns="44450" rIns="90488" bIns="44450">
            <a:spAutoFit/>
          </a:bodyPr>
          <a:lstStyle/>
          <a:p>
            <a:pPr eaLnBrk="0" hangingPunct="0"/>
            <a:r>
              <a:rPr lang="en-US" dirty="0">
                <a:latin typeface="+mn-lt"/>
              </a:rPr>
              <a:t>Request</a:t>
            </a:r>
          </a:p>
        </p:txBody>
      </p:sp>
      <p:sp>
        <p:nvSpPr>
          <p:cNvPr id="35878" name="Line 38"/>
          <p:cNvSpPr>
            <a:spLocks noChangeShapeType="1"/>
          </p:cNvSpPr>
          <p:nvPr/>
        </p:nvSpPr>
        <p:spPr bwMode="auto">
          <a:xfrm>
            <a:off x="5264150" y="5632450"/>
            <a:ext cx="1130300" cy="0"/>
          </a:xfrm>
          <a:prstGeom prst="line">
            <a:avLst/>
          </a:prstGeom>
          <a:noFill/>
          <a:ln w="12700">
            <a:solidFill>
              <a:schemeClr val="tx1"/>
            </a:solidFill>
            <a:round/>
            <a:headEnd/>
            <a:tailEnd type="triangle" w="med" len="med"/>
          </a:ln>
        </p:spPr>
        <p:txBody>
          <a:bodyPr wrap="none" anchor="ctr"/>
          <a:lstStyle/>
          <a:p>
            <a:endParaRPr lang="en-US" dirty="0">
              <a:latin typeface="+mn-lt"/>
            </a:endParaRPr>
          </a:p>
        </p:txBody>
      </p:sp>
      <p:sp>
        <p:nvSpPr>
          <p:cNvPr id="35879" name="Rectangle 39"/>
          <p:cNvSpPr>
            <a:spLocks noChangeArrowheads="1"/>
          </p:cNvSpPr>
          <p:nvPr/>
        </p:nvSpPr>
        <p:spPr bwMode="auto">
          <a:xfrm>
            <a:off x="5167314" y="5686426"/>
            <a:ext cx="1263167" cy="366767"/>
          </a:xfrm>
          <a:prstGeom prst="rect">
            <a:avLst/>
          </a:prstGeom>
          <a:noFill/>
          <a:ln w="12700">
            <a:noFill/>
            <a:miter lim="800000"/>
            <a:headEnd/>
            <a:tailEnd/>
          </a:ln>
        </p:spPr>
        <p:txBody>
          <a:bodyPr wrap="none" lIns="90488" tIns="44450" rIns="90488" bIns="44450">
            <a:spAutoFit/>
          </a:bodyPr>
          <a:lstStyle/>
          <a:p>
            <a:pPr eaLnBrk="0" hangingPunct="0"/>
            <a:r>
              <a:rPr lang="en-US" dirty="0">
                <a:latin typeface="+mn-lt"/>
              </a:rPr>
              <a:t>Acquisition</a:t>
            </a:r>
          </a:p>
        </p:txBody>
      </p:sp>
      <p:sp>
        <p:nvSpPr>
          <p:cNvPr id="35880" name="Line 40"/>
          <p:cNvSpPr>
            <a:spLocks noChangeShapeType="1"/>
          </p:cNvSpPr>
          <p:nvPr/>
        </p:nvSpPr>
        <p:spPr bwMode="auto">
          <a:xfrm>
            <a:off x="7016750" y="5632450"/>
            <a:ext cx="1130300" cy="0"/>
          </a:xfrm>
          <a:prstGeom prst="line">
            <a:avLst/>
          </a:prstGeom>
          <a:noFill/>
          <a:ln w="12700">
            <a:solidFill>
              <a:schemeClr val="tx1"/>
            </a:solidFill>
            <a:round/>
            <a:headEnd/>
            <a:tailEnd type="triangle" w="med" len="med"/>
          </a:ln>
        </p:spPr>
        <p:txBody>
          <a:bodyPr wrap="none" anchor="ctr"/>
          <a:lstStyle/>
          <a:p>
            <a:endParaRPr lang="en-US" dirty="0">
              <a:latin typeface="+mn-lt"/>
            </a:endParaRPr>
          </a:p>
        </p:txBody>
      </p:sp>
      <p:sp>
        <p:nvSpPr>
          <p:cNvPr id="35881" name="Rectangle 41"/>
          <p:cNvSpPr>
            <a:spLocks noChangeArrowheads="1"/>
          </p:cNvSpPr>
          <p:nvPr/>
        </p:nvSpPr>
        <p:spPr bwMode="auto">
          <a:xfrm>
            <a:off x="7148513" y="5686426"/>
            <a:ext cx="903262" cy="366767"/>
          </a:xfrm>
          <a:prstGeom prst="rect">
            <a:avLst/>
          </a:prstGeom>
          <a:noFill/>
          <a:ln w="12700">
            <a:noFill/>
            <a:miter lim="800000"/>
            <a:headEnd/>
            <a:tailEnd/>
          </a:ln>
        </p:spPr>
        <p:txBody>
          <a:bodyPr wrap="none" lIns="90488" tIns="44450" rIns="90488" bIns="44450">
            <a:spAutoFit/>
          </a:bodyPr>
          <a:lstStyle/>
          <a:p>
            <a:pPr eaLnBrk="0" hangingPunct="0"/>
            <a:r>
              <a:rPr lang="en-US" dirty="0">
                <a:latin typeface="+mn-lt"/>
              </a:rPr>
              <a:t>Release</a:t>
            </a:r>
          </a:p>
        </p:txBody>
      </p:sp>
      <p:sp>
        <p:nvSpPr>
          <p:cNvPr id="35882" name="Line 42"/>
          <p:cNvSpPr>
            <a:spLocks noChangeShapeType="1"/>
          </p:cNvSpPr>
          <p:nvPr/>
        </p:nvSpPr>
        <p:spPr bwMode="auto">
          <a:xfrm>
            <a:off x="4724400" y="32766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83" name="Line 43"/>
          <p:cNvSpPr>
            <a:spLocks noChangeShapeType="1"/>
          </p:cNvSpPr>
          <p:nvPr/>
        </p:nvSpPr>
        <p:spPr bwMode="auto">
          <a:xfrm>
            <a:off x="5029200" y="3276600"/>
            <a:ext cx="0" cy="5969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84" name="Line 44"/>
          <p:cNvSpPr>
            <a:spLocks noChangeShapeType="1"/>
          </p:cNvSpPr>
          <p:nvPr/>
        </p:nvSpPr>
        <p:spPr bwMode="auto">
          <a:xfrm flipV="1">
            <a:off x="6483350" y="3263900"/>
            <a:ext cx="139700" cy="6985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85" name="Line 45"/>
          <p:cNvSpPr>
            <a:spLocks noChangeShapeType="1"/>
          </p:cNvSpPr>
          <p:nvPr/>
        </p:nvSpPr>
        <p:spPr bwMode="auto">
          <a:xfrm flipH="1" flipV="1">
            <a:off x="6775450" y="3263900"/>
            <a:ext cx="165100" cy="6985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35886" name="Line 46"/>
          <p:cNvSpPr>
            <a:spLocks noChangeShapeType="1"/>
          </p:cNvSpPr>
          <p:nvPr/>
        </p:nvSpPr>
        <p:spPr bwMode="auto">
          <a:xfrm flipH="1" flipV="1">
            <a:off x="8528050" y="3263900"/>
            <a:ext cx="165100" cy="698500"/>
          </a:xfrm>
          <a:prstGeom prst="line">
            <a:avLst/>
          </a:prstGeom>
          <a:noFill/>
          <a:ln w="28575">
            <a:solidFill>
              <a:srgbClr val="FF0000"/>
            </a:solidFill>
            <a:round/>
            <a:headEnd/>
            <a:tailEnd type="triangle" w="med" len="med"/>
          </a:ln>
        </p:spPr>
        <p:txBody>
          <a:bodyPr wrap="none" anchor="ctr"/>
          <a:lstStyle/>
          <a:p>
            <a:endParaRPr lang="en-US" dirty="0">
              <a:solidFill>
                <a:srgbClr val="002060"/>
              </a:solidFill>
              <a:latin typeface="+mn-lt"/>
            </a:endParaRPr>
          </a:p>
        </p:txBody>
      </p:sp>
      <p:sp>
        <p:nvSpPr>
          <p:cNvPr id="5" name="Slide Number Placeholder 4">
            <a:extLst>
              <a:ext uri="{FF2B5EF4-FFF2-40B4-BE49-F238E27FC236}">
                <a16:creationId xmlns:a16="http://schemas.microsoft.com/office/drawing/2014/main" id="{02E7F695-987B-D943-8C4B-666BDB5161BB}"/>
              </a:ext>
            </a:extLst>
          </p:cNvPr>
          <p:cNvSpPr>
            <a:spLocks noGrp="1"/>
          </p:cNvSpPr>
          <p:nvPr>
            <p:ph type="sldNum" sz="quarter" idx="12"/>
          </p:nvPr>
        </p:nvSpPr>
        <p:spPr/>
        <p:txBody>
          <a:bodyPr/>
          <a:lstStyle/>
          <a:p>
            <a:pPr>
              <a:defRPr/>
            </a:pPr>
            <a:fld id="{C91549CA-3F3E-4863-879C-314BFB2A8436}" type="slidenum">
              <a:rPr lang="en-US" smtClean="0"/>
              <a:pPr>
                <a:defRPr/>
              </a:pPr>
              <a:t>16</a:t>
            </a:fld>
            <a:endParaRPr 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vert="horz" lIns="90488" tIns="44450" rIns="90488" bIns="44450" rtlCol="0" anchor="ctr">
            <a:normAutofit/>
            <a:scene3d>
              <a:camera prst="orthographicFront"/>
              <a:lightRig rig="threePt" dir="t">
                <a:rot lat="0" lon="0" rev="4800000"/>
              </a:lightRig>
            </a:scene3d>
            <a:sp3d prstMaterial="matte">
              <a:bevelT w="50800" h="10160"/>
            </a:sp3d>
          </a:bodyPr>
          <a:lstStyle/>
          <a:p>
            <a:pPr eaLnBrk="1" hangingPunct="1"/>
            <a:r>
              <a:rPr lang="en-US" dirty="0">
                <a:ea typeface="ＭＳ Ｐゴシック" pitchFamily="34" charset="-128"/>
              </a:rPr>
              <a:t>Quiz (RAG)</a:t>
            </a:r>
          </a:p>
        </p:txBody>
      </p:sp>
      <p:pic>
        <p:nvPicPr>
          <p:cNvPr id="8" name="Picture 13"/>
          <p:cNvPicPr>
            <a:picLocks noChangeAspect="1" noChangeArrowheads="1"/>
          </p:cNvPicPr>
          <p:nvPr/>
        </p:nvPicPr>
        <p:blipFill>
          <a:blip r:embed="rId3">
            <a:lum bright="-52000" contrast="68000"/>
          </a:blip>
          <a:srcRect/>
          <a:stretch>
            <a:fillRect/>
          </a:stretch>
        </p:blipFill>
        <p:spPr bwMode="auto">
          <a:xfrm>
            <a:off x="4267200" y="2362201"/>
            <a:ext cx="3276600" cy="2676307"/>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480FF7B1-E846-5846-8B65-FBA391624A63}"/>
              </a:ext>
            </a:extLst>
          </p:cNvPr>
          <p:cNvSpPr>
            <a:spLocks noGrp="1"/>
          </p:cNvSpPr>
          <p:nvPr>
            <p:ph type="sldNum" sz="quarter" idx="12"/>
          </p:nvPr>
        </p:nvSpPr>
        <p:spPr/>
        <p:txBody>
          <a:bodyPr/>
          <a:lstStyle/>
          <a:p>
            <a:pPr>
              <a:defRPr/>
            </a:pPr>
            <a:fld id="{E6A16A8C-2D22-4328-8F0C-A3AB0F93D1AC}" type="slidenum">
              <a:rPr lang="en-US" smtClean="0"/>
              <a:pPr>
                <a:defRPr/>
              </a:pPr>
              <a:t>17</a:t>
            </a:fld>
            <a:endParaRPr 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vert="horz" lIns="90488" tIns="44450" rIns="90488" bIns="44450" rtlCol="0" anchor="ctr">
            <a:normAutofit/>
            <a:scene3d>
              <a:camera prst="orthographicFront"/>
              <a:lightRig rig="threePt" dir="t">
                <a:rot lat="0" lon="0" rev="4800000"/>
              </a:lightRig>
            </a:scene3d>
            <a:sp3d prstMaterial="matte">
              <a:bevelT w="50800" h="10160"/>
            </a:sp3d>
          </a:bodyPr>
          <a:lstStyle/>
          <a:p>
            <a:pPr eaLnBrk="1" hangingPunct="1"/>
            <a:r>
              <a:rPr lang="en-US" dirty="0">
                <a:ea typeface="ＭＳ Ｐゴシック" pitchFamily="34" charset="-128"/>
              </a:rPr>
              <a:t>Solution (RAG)</a:t>
            </a:r>
          </a:p>
        </p:txBody>
      </p:sp>
      <p:pic>
        <p:nvPicPr>
          <p:cNvPr id="8" name="Picture 13"/>
          <p:cNvPicPr>
            <a:picLocks noChangeAspect="1" noChangeArrowheads="1"/>
          </p:cNvPicPr>
          <p:nvPr/>
        </p:nvPicPr>
        <p:blipFill>
          <a:blip r:embed="rId3">
            <a:lum bright="-52000" contrast="68000"/>
            <a:alphaModFix amt="22000"/>
          </a:blip>
          <a:srcRect/>
          <a:stretch>
            <a:fillRect/>
          </a:stretch>
        </p:blipFill>
        <p:spPr bwMode="auto">
          <a:xfrm>
            <a:off x="4267200" y="2362201"/>
            <a:ext cx="3276600" cy="2676307"/>
          </a:xfrm>
          <a:prstGeom prst="rect">
            <a:avLst/>
          </a:prstGeom>
          <a:noFill/>
          <a:ln w="9525">
            <a:noFill/>
            <a:miter lim="800000"/>
            <a:headEnd/>
            <a:tailEnd/>
          </a:ln>
        </p:spPr>
      </p:pic>
      <p:sp>
        <p:nvSpPr>
          <p:cNvPr id="5" name="Oval 4"/>
          <p:cNvSpPr>
            <a:spLocks noChangeArrowheads="1"/>
          </p:cNvSpPr>
          <p:nvPr/>
        </p:nvSpPr>
        <p:spPr bwMode="auto">
          <a:xfrm>
            <a:off x="5683250" y="27432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6" name="Rectangle 6"/>
          <p:cNvSpPr>
            <a:spLocks noChangeArrowheads="1"/>
          </p:cNvSpPr>
          <p:nvPr/>
        </p:nvSpPr>
        <p:spPr bwMode="auto">
          <a:xfrm>
            <a:off x="6400800" y="2781300"/>
            <a:ext cx="457200" cy="3683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dirty="0">
                <a:solidFill>
                  <a:srgbClr val="002060"/>
                </a:solidFill>
                <a:latin typeface="+mn-lt"/>
              </a:rPr>
              <a:t>R</a:t>
            </a:r>
            <a:r>
              <a:rPr lang="en-US" baseline="-25000" dirty="0">
                <a:solidFill>
                  <a:srgbClr val="002060"/>
                </a:solidFill>
                <a:latin typeface="+mn-lt"/>
              </a:rPr>
              <a:t>1</a:t>
            </a:r>
          </a:p>
        </p:txBody>
      </p:sp>
      <p:sp>
        <p:nvSpPr>
          <p:cNvPr id="7" name="Oval 6"/>
          <p:cNvSpPr>
            <a:spLocks noChangeArrowheads="1"/>
          </p:cNvSpPr>
          <p:nvPr/>
        </p:nvSpPr>
        <p:spPr bwMode="auto">
          <a:xfrm>
            <a:off x="4959350" y="347345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4</a:t>
            </a:r>
          </a:p>
        </p:txBody>
      </p:sp>
      <p:sp>
        <p:nvSpPr>
          <p:cNvPr id="9" name="Oval 8"/>
          <p:cNvSpPr>
            <a:spLocks noChangeArrowheads="1"/>
          </p:cNvSpPr>
          <p:nvPr/>
        </p:nvSpPr>
        <p:spPr bwMode="auto">
          <a:xfrm>
            <a:off x="5683250" y="420370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3</a:t>
            </a:r>
          </a:p>
        </p:txBody>
      </p:sp>
      <p:sp>
        <p:nvSpPr>
          <p:cNvPr id="10" name="Oval 9"/>
          <p:cNvSpPr>
            <a:spLocks noChangeArrowheads="1"/>
          </p:cNvSpPr>
          <p:nvPr/>
        </p:nvSpPr>
        <p:spPr bwMode="auto">
          <a:xfrm>
            <a:off x="6407150" y="3473450"/>
            <a:ext cx="444500" cy="4445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11" name="Rectangle 6"/>
          <p:cNvSpPr>
            <a:spLocks noChangeArrowheads="1"/>
          </p:cNvSpPr>
          <p:nvPr/>
        </p:nvSpPr>
        <p:spPr bwMode="auto">
          <a:xfrm>
            <a:off x="4953000" y="2781300"/>
            <a:ext cx="457200" cy="3683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dirty="0">
                <a:solidFill>
                  <a:srgbClr val="002060"/>
                </a:solidFill>
                <a:latin typeface="+mn-lt"/>
              </a:rPr>
              <a:t>R</a:t>
            </a:r>
            <a:r>
              <a:rPr lang="en-US" baseline="-25000" dirty="0">
                <a:solidFill>
                  <a:srgbClr val="002060"/>
                </a:solidFill>
                <a:latin typeface="+mn-lt"/>
              </a:rPr>
              <a:t>4</a:t>
            </a:r>
          </a:p>
        </p:txBody>
      </p:sp>
      <p:sp>
        <p:nvSpPr>
          <p:cNvPr id="12" name="Rectangle 6"/>
          <p:cNvSpPr>
            <a:spLocks noChangeArrowheads="1"/>
          </p:cNvSpPr>
          <p:nvPr/>
        </p:nvSpPr>
        <p:spPr bwMode="auto">
          <a:xfrm>
            <a:off x="4953000" y="4241800"/>
            <a:ext cx="457200" cy="3683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dirty="0">
                <a:solidFill>
                  <a:srgbClr val="002060"/>
                </a:solidFill>
                <a:latin typeface="+mn-lt"/>
              </a:rPr>
              <a:t>R</a:t>
            </a:r>
            <a:r>
              <a:rPr lang="en-US" baseline="-25000" dirty="0">
                <a:solidFill>
                  <a:srgbClr val="002060"/>
                </a:solidFill>
                <a:latin typeface="+mn-lt"/>
              </a:rPr>
              <a:t>3</a:t>
            </a:r>
          </a:p>
        </p:txBody>
      </p:sp>
      <p:sp>
        <p:nvSpPr>
          <p:cNvPr id="13" name="Rectangle 6"/>
          <p:cNvSpPr>
            <a:spLocks noChangeArrowheads="1"/>
          </p:cNvSpPr>
          <p:nvPr/>
        </p:nvSpPr>
        <p:spPr bwMode="auto">
          <a:xfrm>
            <a:off x="6400800" y="4241800"/>
            <a:ext cx="457200" cy="368300"/>
          </a:xfrm>
          <a:prstGeom prst="rect">
            <a:avLst/>
          </a:prstGeom>
          <a:solidFill>
            <a:schemeClr val="bg1"/>
          </a:solidFill>
          <a:ln w="12700">
            <a:solidFill>
              <a:schemeClr val="tx1"/>
            </a:solidFill>
            <a:miter lim="800000"/>
            <a:headEnd/>
            <a:tailEnd/>
          </a:ln>
        </p:spPr>
        <p:txBody>
          <a:bodyPr wrap="none" anchor="ctr"/>
          <a:lstStyle/>
          <a:p>
            <a:pPr algn="ctr" eaLnBrk="0" hangingPunct="0"/>
            <a:r>
              <a:rPr lang="en-US" dirty="0">
                <a:solidFill>
                  <a:srgbClr val="002060"/>
                </a:solidFill>
                <a:latin typeface="+mn-lt"/>
              </a:rPr>
              <a:t>R</a:t>
            </a:r>
            <a:r>
              <a:rPr lang="en-US" baseline="-25000" dirty="0">
                <a:solidFill>
                  <a:srgbClr val="002060"/>
                </a:solidFill>
                <a:latin typeface="+mn-lt"/>
              </a:rPr>
              <a:t>2</a:t>
            </a:r>
          </a:p>
        </p:txBody>
      </p:sp>
      <p:cxnSp>
        <p:nvCxnSpPr>
          <p:cNvPr id="3" name="Straight Arrow Connector 2"/>
          <p:cNvCxnSpPr/>
          <p:nvPr/>
        </p:nvCxnSpPr>
        <p:spPr bwMode="auto">
          <a:xfrm flipH="1">
            <a:off x="5410200" y="2965450"/>
            <a:ext cx="273050" cy="0"/>
          </a:xfrm>
          <a:prstGeom prst="straightConnector1">
            <a:avLst/>
          </a:prstGeom>
          <a:noFill/>
          <a:ln w="28575">
            <a:solidFill>
              <a:srgbClr val="FF0000"/>
            </a:solidFill>
            <a:round/>
            <a:headEnd/>
            <a:tailEnd type="triangle" w="med" len="med"/>
          </a:ln>
        </p:spPr>
      </p:cxnSp>
      <p:cxnSp>
        <p:nvCxnSpPr>
          <p:cNvPr id="16" name="Straight Arrow Connector 15"/>
          <p:cNvCxnSpPr>
            <a:stCxn id="6" idx="1"/>
            <a:endCxn id="5" idx="6"/>
          </p:cNvCxnSpPr>
          <p:nvPr/>
        </p:nvCxnSpPr>
        <p:spPr bwMode="auto">
          <a:xfrm flipH="1">
            <a:off x="6127750" y="2965450"/>
            <a:ext cx="273050" cy="0"/>
          </a:xfrm>
          <a:prstGeom prst="straightConnector1">
            <a:avLst/>
          </a:prstGeom>
          <a:noFill/>
          <a:ln w="28575">
            <a:solidFill>
              <a:srgbClr val="FF0000"/>
            </a:solidFill>
            <a:round/>
            <a:headEnd/>
            <a:tailEnd type="triangle" w="med" len="med"/>
          </a:ln>
        </p:spPr>
      </p:cxnSp>
      <p:cxnSp>
        <p:nvCxnSpPr>
          <p:cNvPr id="19" name="Straight Arrow Connector 18"/>
          <p:cNvCxnSpPr/>
          <p:nvPr/>
        </p:nvCxnSpPr>
        <p:spPr bwMode="auto">
          <a:xfrm flipV="1">
            <a:off x="6629400" y="3149600"/>
            <a:ext cx="0" cy="323850"/>
          </a:xfrm>
          <a:prstGeom prst="straightConnector1">
            <a:avLst/>
          </a:prstGeom>
          <a:noFill/>
          <a:ln w="28575">
            <a:solidFill>
              <a:srgbClr val="FF0000"/>
            </a:solidFill>
            <a:round/>
            <a:headEnd/>
            <a:tailEnd type="triangle" w="med" len="med"/>
          </a:ln>
        </p:spPr>
      </p:cxnSp>
      <p:cxnSp>
        <p:nvCxnSpPr>
          <p:cNvPr id="22" name="Straight Arrow Connector 21"/>
          <p:cNvCxnSpPr>
            <a:stCxn id="13" idx="0"/>
          </p:cNvCxnSpPr>
          <p:nvPr/>
        </p:nvCxnSpPr>
        <p:spPr bwMode="auto">
          <a:xfrm flipV="1">
            <a:off x="6629400" y="3917950"/>
            <a:ext cx="0" cy="323850"/>
          </a:xfrm>
          <a:prstGeom prst="straightConnector1">
            <a:avLst/>
          </a:prstGeom>
          <a:noFill/>
          <a:ln w="28575">
            <a:solidFill>
              <a:srgbClr val="FF0000"/>
            </a:solidFill>
            <a:round/>
            <a:headEnd/>
            <a:tailEnd type="triangle" w="med" len="med"/>
          </a:ln>
        </p:spPr>
      </p:cxnSp>
      <p:cxnSp>
        <p:nvCxnSpPr>
          <p:cNvPr id="25" name="Straight Arrow Connector 24"/>
          <p:cNvCxnSpPr/>
          <p:nvPr/>
        </p:nvCxnSpPr>
        <p:spPr bwMode="auto">
          <a:xfrm>
            <a:off x="5181600" y="3149600"/>
            <a:ext cx="0" cy="323850"/>
          </a:xfrm>
          <a:prstGeom prst="straightConnector1">
            <a:avLst/>
          </a:prstGeom>
          <a:noFill/>
          <a:ln w="28575">
            <a:solidFill>
              <a:srgbClr val="FF0000"/>
            </a:solidFill>
            <a:round/>
            <a:headEnd/>
            <a:tailEnd type="triangle" w="med" len="med"/>
          </a:ln>
        </p:spPr>
      </p:cxnSp>
      <p:cxnSp>
        <p:nvCxnSpPr>
          <p:cNvPr id="28" name="Straight Arrow Connector 27"/>
          <p:cNvCxnSpPr/>
          <p:nvPr/>
        </p:nvCxnSpPr>
        <p:spPr bwMode="auto">
          <a:xfrm>
            <a:off x="5181600" y="3917950"/>
            <a:ext cx="0" cy="323850"/>
          </a:xfrm>
          <a:prstGeom prst="straightConnector1">
            <a:avLst/>
          </a:prstGeom>
          <a:noFill/>
          <a:ln w="28575">
            <a:solidFill>
              <a:srgbClr val="FF0000"/>
            </a:solidFill>
            <a:round/>
            <a:headEnd/>
            <a:tailEnd type="triangle" w="med" len="med"/>
          </a:ln>
        </p:spPr>
      </p:cxnSp>
      <p:cxnSp>
        <p:nvCxnSpPr>
          <p:cNvPr id="31" name="Straight Arrow Connector 30"/>
          <p:cNvCxnSpPr/>
          <p:nvPr/>
        </p:nvCxnSpPr>
        <p:spPr bwMode="auto">
          <a:xfrm>
            <a:off x="5410200" y="4425950"/>
            <a:ext cx="273050" cy="0"/>
          </a:xfrm>
          <a:prstGeom prst="straightConnector1">
            <a:avLst/>
          </a:prstGeom>
          <a:noFill/>
          <a:ln w="28575">
            <a:solidFill>
              <a:srgbClr val="FF0000"/>
            </a:solidFill>
            <a:round/>
            <a:headEnd/>
            <a:tailEnd type="triangle" w="med" len="med"/>
          </a:ln>
        </p:spPr>
      </p:cxnSp>
      <p:cxnSp>
        <p:nvCxnSpPr>
          <p:cNvPr id="34" name="Straight Arrow Connector 33"/>
          <p:cNvCxnSpPr/>
          <p:nvPr/>
        </p:nvCxnSpPr>
        <p:spPr bwMode="auto">
          <a:xfrm>
            <a:off x="6127750" y="4425950"/>
            <a:ext cx="273050" cy="0"/>
          </a:xfrm>
          <a:prstGeom prst="straightConnector1">
            <a:avLst/>
          </a:prstGeom>
          <a:noFill/>
          <a:ln w="28575">
            <a:solidFill>
              <a:srgbClr val="FF0000"/>
            </a:solidFill>
            <a:round/>
            <a:headEnd/>
            <a:tailEnd type="triangle" w="med" len="med"/>
          </a:ln>
        </p:spPr>
      </p:cxnSp>
      <p:sp>
        <p:nvSpPr>
          <p:cNvPr id="14" name="Slide Number Placeholder 13">
            <a:extLst>
              <a:ext uri="{FF2B5EF4-FFF2-40B4-BE49-F238E27FC236}">
                <a16:creationId xmlns:a16="http://schemas.microsoft.com/office/drawing/2014/main" id="{B5B88646-5BC9-1348-BDA8-B52007D359B6}"/>
              </a:ext>
            </a:extLst>
          </p:cNvPr>
          <p:cNvSpPr>
            <a:spLocks noGrp="1"/>
          </p:cNvSpPr>
          <p:nvPr>
            <p:ph type="sldNum" sz="quarter" idx="12"/>
          </p:nvPr>
        </p:nvSpPr>
        <p:spPr/>
        <p:txBody>
          <a:bodyPr/>
          <a:lstStyle/>
          <a:p>
            <a:pPr>
              <a:defRPr/>
            </a:pPr>
            <a:fld id="{E6A16A8C-2D22-4328-8F0C-A3AB0F93D1AC}" type="slidenum">
              <a:rPr lang="en-US" smtClean="0"/>
              <a:pPr>
                <a:defRPr/>
              </a:pPr>
              <a:t>18</a:t>
            </a:fld>
            <a:endParaRPr lang="en-US" dirty="0"/>
          </a:p>
        </p:txBody>
      </p:sp>
    </p:spTree>
    <p:extLst>
      <p:ext uri="{BB962C8B-B14F-4D97-AF65-F5344CB8AC3E}">
        <p14:creationId xmlns:p14="http://schemas.microsoft.com/office/powerpoint/2010/main" val="40519067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6"/>
          <p:cNvSpPr>
            <a:spLocks noGrp="1" noChangeArrowheads="1"/>
          </p:cNvSpPr>
          <p:nvPr>
            <p:ph type="title"/>
          </p:nvPr>
        </p:nvSpPr>
        <p:spPr/>
        <p:txBody>
          <a:bodyPr>
            <a:normAutofit/>
          </a:bodyPr>
          <a:lstStyle/>
          <a:p>
            <a:r>
              <a:rPr lang="en-US" dirty="0"/>
              <a:t>Necessary conditions for deadlocks</a:t>
            </a:r>
          </a:p>
        </p:txBody>
      </p:sp>
      <p:sp>
        <p:nvSpPr>
          <p:cNvPr id="39938" name="Rectangle 7"/>
          <p:cNvSpPr>
            <a:spLocks noGrp="1" noChangeArrowheads="1"/>
          </p:cNvSpPr>
          <p:nvPr>
            <p:ph idx="1"/>
          </p:nvPr>
        </p:nvSpPr>
        <p:spPr/>
        <p:txBody>
          <a:bodyPr>
            <a:normAutofit fontScale="85000" lnSpcReduction="20000"/>
          </a:bodyPr>
          <a:lstStyle/>
          <a:p>
            <a:r>
              <a:rPr lang="en-US" dirty="0"/>
              <a:t>Mutual exclusion:</a:t>
            </a:r>
          </a:p>
          <a:p>
            <a:pPr lvl="1"/>
            <a:r>
              <a:rPr lang="en-US" dirty="0"/>
              <a:t>Threads claim exclusive control of resources that they require (e.g., a thread grabs a lock).</a:t>
            </a:r>
          </a:p>
          <a:p>
            <a:r>
              <a:rPr lang="en-US" dirty="0"/>
              <a:t>Hold-and-wait:</a:t>
            </a:r>
          </a:p>
          <a:p>
            <a:pPr lvl="1"/>
            <a:r>
              <a:rPr lang="en-US" dirty="0"/>
              <a:t>Threads hold resources allocated to them (e.g., locks that they have already acquired) while waiting for additional resources (e.g., locks that they wish to acquire).</a:t>
            </a:r>
          </a:p>
          <a:p>
            <a:r>
              <a:rPr lang="en-US" dirty="0"/>
              <a:t>No preemption: </a:t>
            </a:r>
          </a:p>
          <a:p>
            <a:pPr lvl="1"/>
            <a:r>
              <a:rPr lang="en-US" dirty="0"/>
              <a:t>Resources (e.g., locks) cannot be forcibly removed from threads that are holding them.</a:t>
            </a:r>
          </a:p>
          <a:p>
            <a:r>
              <a:rPr lang="en-US" dirty="0"/>
              <a:t>Circular wait: </a:t>
            </a:r>
          </a:p>
          <a:p>
            <a:pPr lvl="1"/>
            <a:r>
              <a:rPr lang="en-US" dirty="0"/>
              <a:t>There exists a circular chain of threads such that each thread holds one more resources (e.g., locks) that are being requested by the next thread in the chain.</a:t>
            </a:r>
          </a:p>
        </p:txBody>
      </p:sp>
      <p:sp>
        <p:nvSpPr>
          <p:cNvPr id="4" name="Slide Number Placeholder 3">
            <a:extLst>
              <a:ext uri="{FF2B5EF4-FFF2-40B4-BE49-F238E27FC236}">
                <a16:creationId xmlns:a16="http://schemas.microsoft.com/office/drawing/2014/main" id="{546B6D7E-3253-B44D-A146-F6958699869D}"/>
              </a:ext>
            </a:extLst>
          </p:cNvPr>
          <p:cNvSpPr>
            <a:spLocks noGrp="1"/>
          </p:cNvSpPr>
          <p:nvPr>
            <p:ph type="sldNum" sz="quarter" idx="12"/>
          </p:nvPr>
        </p:nvSpPr>
        <p:spPr/>
        <p:txBody>
          <a:bodyPr/>
          <a:lstStyle/>
          <a:p>
            <a:pPr>
              <a:defRPr/>
            </a:pPr>
            <a:fld id="{C91549CA-3F3E-4863-879C-314BFB2A8436}" type="slidenum">
              <a:rPr lang="en-US" smtClean="0"/>
              <a:pPr>
                <a:defRPr/>
              </a:pPr>
              <a:t>19</a:t>
            </a:fld>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48"/>
          <p:cNvSpPr>
            <a:spLocks noGrp="1" noChangeArrowheads="1"/>
          </p:cNvSpPr>
          <p:nvPr>
            <p:ph type="title"/>
          </p:nvPr>
        </p:nvSpPr>
        <p:spPr>
          <a:xfrm>
            <a:off x="609600" y="76200"/>
            <a:ext cx="10972800" cy="987552"/>
          </a:xfrm>
        </p:spPr>
        <p:txBody>
          <a:bodyPr/>
          <a:lstStyle/>
          <a:p>
            <a:r>
              <a:rPr lang="en-US" dirty="0"/>
              <a:t>RAG and deadlocks</a:t>
            </a:r>
          </a:p>
        </p:txBody>
      </p:sp>
      <p:sp>
        <p:nvSpPr>
          <p:cNvPr id="41986" name="Rectangle 49"/>
          <p:cNvSpPr>
            <a:spLocks noGrp="1" noChangeArrowheads="1"/>
          </p:cNvSpPr>
          <p:nvPr>
            <p:ph idx="1"/>
          </p:nvPr>
        </p:nvSpPr>
        <p:spPr>
          <a:xfrm>
            <a:off x="609600" y="1219200"/>
            <a:ext cx="10972800" cy="1752600"/>
          </a:xfrm>
        </p:spPr>
        <p:txBody>
          <a:bodyPr>
            <a:normAutofit fontScale="92500"/>
          </a:bodyPr>
          <a:lstStyle/>
          <a:p>
            <a:r>
              <a:rPr lang="en-US" dirty="0"/>
              <a:t>Observation 1: If a RAG does not have a cycle, then no process is deadlocked.</a:t>
            </a:r>
          </a:p>
          <a:p>
            <a:r>
              <a:rPr lang="en-US" dirty="0"/>
              <a:t>Observation 2: If a RAG has a cycle, then a deadlock may exist.</a:t>
            </a:r>
          </a:p>
        </p:txBody>
      </p:sp>
      <p:sp>
        <p:nvSpPr>
          <p:cNvPr id="5" name="Slide Number Placeholder 4">
            <a:extLst>
              <a:ext uri="{FF2B5EF4-FFF2-40B4-BE49-F238E27FC236}">
                <a16:creationId xmlns:a16="http://schemas.microsoft.com/office/drawing/2014/main" id="{409FBCD0-EC90-E14A-9A23-557690BDD009}"/>
              </a:ext>
            </a:extLst>
          </p:cNvPr>
          <p:cNvSpPr>
            <a:spLocks noGrp="1"/>
          </p:cNvSpPr>
          <p:nvPr>
            <p:ph type="sldNum" sz="quarter" idx="12"/>
          </p:nvPr>
        </p:nvSpPr>
        <p:spPr>
          <a:xfrm>
            <a:off x="10939195" y="6583680"/>
            <a:ext cx="978485" cy="274320"/>
          </a:xfrm>
        </p:spPr>
        <p:txBody>
          <a:bodyPr/>
          <a:lstStyle/>
          <a:p>
            <a:fld id="{C91549CA-3F3E-4863-879C-314BFB2A8436}" type="slidenum">
              <a:rPr lang="en-US" smtClean="0"/>
              <a:pPr/>
              <a:t>20</a:t>
            </a:fld>
            <a:endParaRPr lang="en-US" dirty="0"/>
          </a:p>
        </p:txBody>
      </p:sp>
      <p:sp>
        <p:nvSpPr>
          <p:cNvPr id="41988" name="Oval 4"/>
          <p:cNvSpPr>
            <a:spLocks noChangeArrowheads="1"/>
          </p:cNvSpPr>
          <p:nvPr/>
        </p:nvSpPr>
        <p:spPr bwMode="auto">
          <a:xfrm>
            <a:off x="29162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41989" name="Oval 5"/>
          <p:cNvSpPr>
            <a:spLocks noChangeArrowheads="1"/>
          </p:cNvSpPr>
          <p:nvPr/>
        </p:nvSpPr>
        <p:spPr bwMode="auto">
          <a:xfrm>
            <a:off x="36782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41990" name="Oval 6"/>
          <p:cNvSpPr>
            <a:spLocks noChangeArrowheads="1"/>
          </p:cNvSpPr>
          <p:nvPr/>
        </p:nvSpPr>
        <p:spPr bwMode="auto">
          <a:xfrm>
            <a:off x="43640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3</a:t>
            </a:r>
          </a:p>
        </p:txBody>
      </p:sp>
      <p:sp>
        <p:nvSpPr>
          <p:cNvPr id="41991" name="Oval 7"/>
          <p:cNvSpPr>
            <a:spLocks noChangeArrowheads="1"/>
          </p:cNvSpPr>
          <p:nvPr/>
        </p:nvSpPr>
        <p:spPr bwMode="auto">
          <a:xfrm>
            <a:off x="50498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4</a:t>
            </a:r>
          </a:p>
        </p:txBody>
      </p:sp>
      <p:sp>
        <p:nvSpPr>
          <p:cNvPr id="41992" name="Rectangle 8"/>
          <p:cNvSpPr>
            <a:spLocks noChangeArrowheads="1"/>
          </p:cNvSpPr>
          <p:nvPr/>
        </p:nvSpPr>
        <p:spPr bwMode="auto">
          <a:xfrm>
            <a:off x="3221038" y="3246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1993" name="Rectangle 9"/>
          <p:cNvSpPr>
            <a:spLocks noChangeArrowheads="1"/>
          </p:cNvSpPr>
          <p:nvPr/>
        </p:nvSpPr>
        <p:spPr bwMode="auto">
          <a:xfrm>
            <a:off x="4287838" y="3246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1994" name="Rectangle 10"/>
          <p:cNvSpPr>
            <a:spLocks noChangeArrowheads="1"/>
          </p:cNvSpPr>
          <p:nvPr/>
        </p:nvSpPr>
        <p:spPr bwMode="auto">
          <a:xfrm>
            <a:off x="3221038" y="4770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1995" name="Oval 11"/>
          <p:cNvSpPr>
            <a:spLocks noChangeArrowheads="1"/>
          </p:cNvSpPr>
          <p:nvPr/>
        </p:nvSpPr>
        <p:spPr bwMode="auto">
          <a:xfrm>
            <a:off x="3449638" y="3398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1996" name="Oval 12"/>
          <p:cNvSpPr>
            <a:spLocks noChangeArrowheads="1"/>
          </p:cNvSpPr>
          <p:nvPr/>
        </p:nvSpPr>
        <p:spPr bwMode="auto">
          <a:xfrm>
            <a:off x="4516438" y="3398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1997" name="Oval 13"/>
          <p:cNvSpPr>
            <a:spLocks noChangeArrowheads="1"/>
          </p:cNvSpPr>
          <p:nvPr/>
        </p:nvSpPr>
        <p:spPr bwMode="auto">
          <a:xfrm>
            <a:off x="3297238" y="4922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1998" name="Oval 14"/>
          <p:cNvSpPr>
            <a:spLocks noChangeArrowheads="1"/>
          </p:cNvSpPr>
          <p:nvPr/>
        </p:nvSpPr>
        <p:spPr bwMode="auto">
          <a:xfrm>
            <a:off x="3602038" y="4922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1999" name="Rectangle 15"/>
          <p:cNvSpPr>
            <a:spLocks noChangeArrowheads="1"/>
          </p:cNvSpPr>
          <p:nvPr/>
        </p:nvSpPr>
        <p:spPr bwMode="auto">
          <a:xfrm>
            <a:off x="2743201" y="3294064"/>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42000" name="Rectangle 16"/>
          <p:cNvSpPr>
            <a:spLocks noChangeArrowheads="1"/>
          </p:cNvSpPr>
          <p:nvPr/>
        </p:nvSpPr>
        <p:spPr bwMode="auto">
          <a:xfrm>
            <a:off x="2743200" y="4818064"/>
            <a:ext cx="397546"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3</a:t>
            </a:r>
          </a:p>
        </p:txBody>
      </p:sp>
      <p:sp>
        <p:nvSpPr>
          <p:cNvPr id="42001" name="Rectangle 17"/>
          <p:cNvSpPr>
            <a:spLocks noChangeArrowheads="1"/>
          </p:cNvSpPr>
          <p:nvPr/>
        </p:nvSpPr>
        <p:spPr bwMode="auto">
          <a:xfrm>
            <a:off x="4953001" y="3294064"/>
            <a:ext cx="392737"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2</a:t>
            </a:r>
          </a:p>
        </p:txBody>
      </p:sp>
      <p:sp>
        <p:nvSpPr>
          <p:cNvPr id="42002" name="Oval 18"/>
          <p:cNvSpPr>
            <a:spLocks noChangeArrowheads="1"/>
          </p:cNvSpPr>
          <p:nvPr/>
        </p:nvSpPr>
        <p:spPr bwMode="auto">
          <a:xfrm>
            <a:off x="65738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42003" name="Oval 19"/>
          <p:cNvSpPr>
            <a:spLocks noChangeArrowheads="1"/>
          </p:cNvSpPr>
          <p:nvPr/>
        </p:nvSpPr>
        <p:spPr bwMode="auto">
          <a:xfrm>
            <a:off x="73358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42004" name="Oval 20"/>
          <p:cNvSpPr>
            <a:spLocks noChangeArrowheads="1"/>
          </p:cNvSpPr>
          <p:nvPr/>
        </p:nvSpPr>
        <p:spPr bwMode="auto">
          <a:xfrm>
            <a:off x="80216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3</a:t>
            </a:r>
          </a:p>
        </p:txBody>
      </p:sp>
      <p:sp>
        <p:nvSpPr>
          <p:cNvPr id="42005" name="Oval 21"/>
          <p:cNvSpPr>
            <a:spLocks noChangeArrowheads="1"/>
          </p:cNvSpPr>
          <p:nvPr/>
        </p:nvSpPr>
        <p:spPr bwMode="auto">
          <a:xfrm>
            <a:off x="8707438" y="4008438"/>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4</a:t>
            </a:r>
          </a:p>
        </p:txBody>
      </p:sp>
      <p:sp>
        <p:nvSpPr>
          <p:cNvPr id="42006" name="Rectangle 22"/>
          <p:cNvSpPr>
            <a:spLocks noChangeArrowheads="1"/>
          </p:cNvSpPr>
          <p:nvPr/>
        </p:nvSpPr>
        <p:spPr bwMode="auto">
          <a:xfrm>
            <a:off x="6878638" y="3246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2007" name="Rectangle 23"/>
          <p:cNvSpPr>
            <a:spLocks noChangeArrowheads="1"/>
          </p:cNvSpPr>
          <p:nvPr/>
        </p:nvSpPr>
        <p:spPr bwMode="auto">
          <a:xfrm>
            <a:off x="7945438" y="3246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2008" name="Rectangle 24"/>
          <p:cNvSpPr>
            <a:spLocks noChangeArrowheads="1"/>
          </p:cNvSpPr>
          <p:nvPr/>
        </p:nvSpPr>
        <p:spPr bwMode="auto">
          <a:xfrm>
            <a:off x="6878638" y="4770438"/>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2009" name="Oval 25"/>
          <p:cNvSpPr>
            <a:spLocks noChangeArrowheads="1"/>
          </p:cNvSpPr>
          <p:nvPr/>
        </p:nvSpPr>
        <p:spPr bwMode="auto">
          <a:xfrm>
            <a:off x="7107238" y="3398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2010" name="Oval 26"/>
          <p:cNvSpPr>
            <a:spLocks noChangeArrowheads="1"/>
          </p:cNvSpPr>
          <p:nvPr/>
        </p:nvSpPr>
        <p:spPr bwMode="auto">
          <a:xfrm>
            <a:off x="8174038" y="3398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2011" name="Oval 27"/>
          <p:cNvSpPr>
            <a:spLocks noChangeArrowheads="1"/>
          </p:cNvSpPr>
          <p:nvPr/>
        </p:nvSpPr>
        <p:spPr bwMode="auto">
          <a:xfrm>
            <a:off x="6954838" y="4922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2012" name="Oval 28"/>
          <p:cNvSpPr>
            <a:spLocks noChangeArrowheads="1"/>
          </p:cNvSpPr>
          <p:nvPr/>
        </p:nvSpPr>
        <p:spPr bwMode="auto">
          <a:xfrm>
            <a:off x="7259638" y="4922838"/>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2013" name="Line 29"/>
          <p:cNvSpPr>
            <a:spLocks noChangeShapeType="1"/>
          </p:cNvSpPr>
          <p:nvPr/>
        </p:nvSpPr>
        <p:spPr bwMode="auto">
          <a:xfrm>
            <a:off x="7183438" y="3551238"/>
            <a:ext cx="368300" cy="444500"/>
          </a:xfrm>
          <a:prstGeom prst="line">
            <a:avLst/>
          </a:prstGeom>
          <a:noFill/>
          <a:ln w="3175">
            <a:solidFill>
              <a:srgbClr val="FF0000"/>
            </a:solidFill>
            <a:round/>
            <a:headEnd/>
            <a:tailEnd type="triangle" w="med" len="med"/>
          </a:ln>
        </p:spPr>
        <p:txBody>
          <a:bodyPr/>
          <a:lstStyle/>
          <a:p>
            <a:endParaRPr lang="en-US" dirty="0">
              <a:solidFill>
                <a:srgbClr val="002060"/>
              </a:solidFill>
              <a:latin typeface="+mn-lt"/>
            </a:endParaRPr>
          </a:p>
        </p:txBody>
      </p:sp>
      <p:sp>
        <p:nvSpPr>
          <p:cNvPr id="42014" name="Rectangle 30"/>
          <p:cNvSpPr>
            <a:spLocks noChangeArrowheads="1"/>
          </p:cNvSpPr>
          <p:nvPr/>
        </p:nvSpPr>
        <p:spPr bwMode="auto">
          <a:xfrm>
            <a:off x="6400801" y="3294064"/>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42015" name="Rectangle 31"/>
          <p:cNvSpPr>
            <a:spLocks noChangeArrowheads="1"/>
          </p:cNvSpPr>
          <p:nvPr/>
        </p:nvSpPr>
        <p:spPr bwMode="auto">
          <a:xfrm>
            <a:off x="6400800" y="4818064"/>
            <a:ext cx="397546"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3</a:t>
            </a:r>
          </a:p>
        </p:txBody>
      </p:sp>
      <p:sp>
        <p:nvSpPr>
          <p:cNvPr id="42016" name="Rectangle 32"/>
          <p:cNvSpPr>
            <a:spLocks noChangeArrowheads="1"/>
          </p:cNvSpPr>
          <p:nvPr/>
        </p:nvSpPr>
        <p:spPr bwMode="auto">
          <a:xfrm>
            <a:off x="8610601" y="3294064"/>
            <a:ext cx="392737"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2</a:t>
            </a:r>
          </a:p>
        </p:txBody>
      </p:sp>
      <p:sp>
        <p:nvSpPr>
          <p:cNvPr id="42017" name="Rectangle 33"/>
          <p:cNvSpPr>
            <a:spLocks noChangeArrowheads="1"/>
          </p:cNvSpPr>
          <p:nvPr/>
        </p:nvSpPr>
        <p:spPr bwMode="auto">
          <a:xfrm>
            <a:off x="3124200" y="5427664"/>
            <a:ext cx="1963680" cy="366767"/>
          </a:xfrm>
          <a:prstGeom prst="rect">
            <a:avLst/>
          </a:prstGeom>
          <a:noFill/>
          <a:ln w="12700">
            <a:noFill/>
            <a:miter lim="800000"/>
            <a:headEnd/>
            <a:tailEnd/>
          </a:ln>
        </p:spPr>
        <p:txBody>
          <a:bodyPr wrap="none" lIns="90488" tIns="44450" rIns="90488" bIns="44450">
            <a:spAutoFit/>
          </a:bodyPr>
          <a:lstStyle/>
          <a:p>
            <a:pPr eaLnBrk="0" hangingPunct="0"/>
            <a:r>
              <a:rPr lang="en-US" dirty="0">
                <a:latin typeface="Candara" panose="020E0502030303020204" pitchFamily="34" charset="0"/>
              </a:rPr>
              <a:t>cycle, no deadlock</a:t>
            </a:r>
          </a:p>
        </p:txBody>
      </p:sp>
      <p:sp>
        <p:nvSpPr>
          <p:cNvPr id="42018" name="Rectangle 34"/>
          <p:cNvSpPr>
            <a:spLocks noChangeArrowheads="1"/>
          </p:cNvSpPr>
          <p:nvPr/>
        </p:nvSpPr>
        <p:spPr bwMode="auto">
          <a:xfrm>
            <a:off x="6934200" y="5427664"/>
            <a:ext cx="1905972" cy="366767"/>
          </a:xfrm>
          <a:prstGeom prst="rect">
            <a:avLst/>
          </a:prstGeom>
          <a:noFill/>
          <a:ln w="12700">
            <a:noFill/>
            <a:miter lim="800000"/>
            <a:headEnd/>
            <a:tailEnd/>
          </a:ln>
        </p:spPr>
        <p:txBody>
          <a:bodyPr wrap="none" lIns="90488" tIns="44450" rIns="90488" bIns="44450">
            <a:spAutoFit/>
          </a:bodyPr>
          <a:lstStyle/>
          <a:p>
            <a:pPr eaLnBrk="0" hangingPunct="0"/>
            <a:r>
              <a:rPr lang="en-US" dirty="0">
                <a:latin typeface="Candara" panose="020E0502030303020204" pitchFamily="34" charset="0"/>
              </a:rPr>
              <a:t>cycle, deadlocked</a:t>
            </a:r>
          </a:p>
        </p:txBody>
      </p:sp>
      <p:cxnSp>
        <p:nvCxnSpPr>
          <p:cNvPr id="42019" name="AutoShape 35"/>
          <p:cNvCxnSpPr>
            <a:cxnSpLocks noChangeShapeType="1"/>
            <a:stCxn id="41997" idx="0"/>
            <a:endCxn id="41988" idx="4"/>
          </p:cNvCxnSpPr>
          <p:nvPr/>
        </p:nvCxnSpPr>
        <p:spPr bwMode="auto">
          <a:xfrm flipH="1" flipV="1">
            <a:off x="3100388" y="4376738"/>
            <a:ext cx="266700" cy="546100"/>
          </a:xfrm>
          <a:prstGeom prst="straightConnector1">
            <a:avLst/>
          </a:prstGeom>
          <a:noFill/>
          <a:ln w="19050">
            <a:solidFill>
              <a:srgbClr val="FF0000"/>
            </a:solidFill>
            <a:round/>
            <a:headEnd/>
            <a:tailEnd type="triangle" w="med" len="med"/>
          </a:ln>
        </p:spPr>
      </p:cxnSp>
      <p:cxnSp>
        <p:nvCxnSpPr>
          <p:cNvPr id="42020" name="AutoShape 36"/>
          <p:cNvCxnSpPr>
            <a:cxnSpLocks noChangeShapeType="1"/>
            <a:stCxn id="41988" idx="0"/>
            <a:endCxn id="41992" idx="2"/>
          </p:cNvCxnSpPr>
          <p:nvPr/>
        </p:nvCxnSpPr>
        <p:spPr bwMode="auto">
          <a:xfrm flipV="1">
            <a:off x="3100388" y="3690938"/>
            <a:ext cx="419100" cy="317500"/>
          </a:xfrm>
          <a:prstGeom prst="straightConnector1">
            <a:avLst/>
          </a:prstGeom>
          <a:noFill/>
          <a:ln w="19050">
            <a:solidFill>
              <a:srgbClr val="FF0000"/>
            </a:solidFill>
            <a:round/>
            <a:headEnd/>
            <a:tailEnd type="triangle" w="med" len="med"/>
          </a:ln>
        </p:spPr>
      </p:cxnSp>
      <p:cxnSp>
        <p:nvCxnSpPr>
          <p:cNvPr id="42021" name="AutoShape 37"/>
          <p:cNvCxnSpPr>
            <a:cxnSpLocks noChangeShapeType="1"/>
            <a:stCxn id="41995" idx="5"/>
            <a:endCxn id="41989" idx="0"/>
          </p:cNvCxnSpPr>
          <p:nvPr/>
        </p:nvCxnSpPr>
        <p:spPr bwMode="auto">
          <a:xfrm>
            <a:off x="3568700" y="3517900"/>
            <a:ext cx="293688" cy="490538"/>
          </a:xfrm>
          <a:prstGeom prst="straightConnector1">
            <a:avLst/>
          </a:prstGeom>
          <a:noFill/>
          <a:ln w="19050">
            <a:solidFill>
              <a:srgbClr val="FF0000"/>
            </a:solidFill>
            <a:round/>
            <a:headEnd/>
            <a:tailEnd type="triangle" w="med" len="med"/>
          </a:ln>
        </p:spPr>
      </p:cxnSp>
      <p:cxnSp>
        <p:nvCxnSpPr>
          <p:cNvPr id="42022" name="AutoShape 38"/>
          <p:cNvCxnSpPr>
            <a:cxnSpLocks noChangeShapeType="1"/>
            <a:stCxn id="41989" idx="4"/>
            <a:endCxn id="41994" idx="0"/>
          </p:cNvCxnSpPr>
          <p:nvPr/>
        </p:nvCxnSpPr>
        <p:spPr bwMode="auto">
          <a:xfrm flipH="1">
            <a:off x="3519488" y="4376738"/>
            <a:ext cx="342900" cy="393700"/>
          </a:xfrm>
          <a:prstGeom prst="straightConnector1">
            <a:avLst/>
          </a:prstGeom>
          <a:noFill/>
          <a:ln w="19050">
            <a:solidFill>
              <a:srgbClr val="FF0000"/>
            </a:solidFill>
            <a:round/>
            <a:headEnd/>
            <a:tailEnd type="triangle" w="med" len="med"/>
          </a:ln>
        </p:spPr>
      </p:cxnSp>
      <p:cxnSp>
        <p:nvCxnSpPr>
          <p:cNvPr id="42023" name="AutoShape 39"/>
          <p:cNvCxnSpPr>
            <a:cxnSpLocks noChangeShapeType="1"/>
            <a:stCxn id="41998" idx="7"/>
            <a:endCxn id="41990" idx="3"/>
          </p:cNvCxnSpPr>
          <p:nvPr/>
        </p:nvCxnSpPr>
        <p:spPr bwMode="auto">
          <a:xfrm flipV="1">
            <a:off x="3721101" y="4322763"/>
            <a:ext cx="696913" cy="620712"/>
          </a:xfrm>
          <a:prstGeom prst="straightConnector1">
            <a:avLst/>
          </a:prstGeom>
          <a:noFill/>
          <a:ln w="3175">
            <a:solidFill>
              <a:srgbClr val="FF0000"/>
            </a:solidFill>
            <a:round/>
            <a:headEnd/>
            <a:tailEnd type="triangle" w="med" len="med"/>
          </a:ln>
        </p:spPr>
      </p:cxnSp>
      <p:cxnSp>
        <p:nvCxnSpPr>
          <p:cNvPr id="42024" name="AutoShape 40"/>
          <p:cNvCxnSpPr>
            <a:cxnSpLocks noChangeShapeType="1"/>
            <a:stCxn id="41996" idx="5"/>
            <a:endCxn id="41991" idx="1"/>
          </p:cNvCxnSpPr>
          <p:nvPr/>
        </p:nvCxnSpPr>
        <p:spPr bwMode="auto">
          <a:xfrm>
            <a:off x="4635501" y="3517901"/>
            <a:ext cx="468313" cy="544513"/>
          </a:xfrm>
          <a:prstGeom prst="straightConnector1">
            <a:avLst/>
          </a:prstGeom>
          <a:noFill/>
          <a:ln w="3175">
            <a:solidFill>
              <a:srgbClr val="FF0000"/>
            </a:solidFill>
            <a:round/>
            <a:headEnd/>
            <a:tailEnd type="triangle" w="med" len="med"/>
          </a:ln>
        </p:spPr>
      </p:cxnSp>
      <p:cxnSp>
        <p:nvCxnSpPr>
          <p:cNvPr id="42025" name="AutoShape 41"/>
          <p:cNvCxnSpPr>
            <a:cxnSpLocks noChangeShapeType="1"/>
            <a:stCxn id="41989" idx="7"/>
            <a:endCxn id="41993" idx="2"/>
          </p:cNvCxnSpPr>
          <p:nvPr/>
        </p:nvCxnSpPr>
        <p:spPr bwMode="auto">
          <a:xfrm flipV="1">
            <a:off x="3992564" y="3690939"/>
            <a:ext cx="593725" cy="371475"/>
          </a:xfrm>
          <a:prstGeom prst="straightConnector1">
            <a:avLst/>
          </a:prstGeom>
          <a:noFill/>
          <a:ln w="3175">
            <a:solidFill>
              <a:srgbClr val="FF0000"/>
            </a:solidFill>
            <a:round/>
            <a:headEnd/>
            <a:tailEnd type="triangle" w="med" len="med"/>
          </a:ln>
        </p:spPr>
      </p:cxnSp>
      <p:cxnSp>
        <p:nvCxnSpPr>
          <p:cNvPr id="42026" name="AutoShape 42"/>
          <p:cNvCxnSpPr>
            <a:cxnSpLocks noChangeShapeType="1"/>
            <a:stCxn id="42005" idx="4"/>
            <a:endCxn id="42008" idx="3"/>
          </p:cNvCxnSpPr>
          <p:nvPr/>
        </p:nvCxnSpPr>
        <p:spPr bwMode="auto">
          <a:xfrm flipH="1">
            <a:off x="7475538" y="4376738"/>
            <a:ext cx="1416050" cy="615950"/>
          </a:xfrm>
          <a:prstGeom prst="straightConnector1">
            <a:avLst/>
          </a:prstGeom>
          <a:noFill/>
          <a:ln w="19050">
            <a:solidFill>
              <a:srgbClr val="FF0000"/>
            </a:solidFill>
            <a:round/>
            <a:headEnd/>
            <a:tailEnd type="triangle" w="med" len="med"/>
          </a:ln>
        </p:spPr>
      </p:cxnSp>
      <p:cxnSp>
        <p:nvCxnSpPr>
          <p:cNvPr id="42027" name="AutoShape 43"/>
          <p:cNvCxnSpPr>
            <a:cxnSpLocks noChangeShapeType="1"/>
            <a:stCxn id="42010" idx="5"/>
            <a:endCxn id="42005" idx="0"/>
          </p:cNvCxnSpPr>
          <p:nvPr/>
        </p:nvCxnSpPr>
        <p:spPr bwMode="auto">
          <a:xfrm>
            <a:off x="8293100" y="3517900"/>
            <a:ext cx="598488" cy="490538"/>
          </a:xfrm>
          <a:prstGeom prst="straightConnector1">
            <a:avLst/>
          </a:prstGeom>
          <a:noFill/>
          <a:ln w="19050">
            <a:solidFill>
              <a:srgbClr val="FF0000"/>
            </a:solidFill>
            <a:round/>
            <a:headEnd/>
            <a:tailEnd type="triangle" w="med" len="med"/>
          </a:ln>
        </p:spPr>
      </p:cxnSp>
      <p:cxnSp>
        <p:nvCxnSpPr>
          <p:cNvPr id="42028" name="AutoShape 44"/>
          <p:cNvCxnSpPr>
            <a:cxnSpLocks noChangeShapeType="1"/>
            <a:stCxn id="42003" idx="7"/>
            <a:endCxn id="42007" idx="2"/>
          </p:cNvCxnSpPr>
          <p:nvPr/>
        </p:nvCxnSpPr>
        <p:spPr bwMode="auto">
          <a:xfrm flipV="1">
            <a:off x="7650164" y="3690939"/>
            <a:ext cx="593725" cy="371475"/>
          </a:xfrm>
          <a:prstGeom prst="straightConnector1">
            <a:avLst/>
          </a:prstGeom>
          <a:noFill/>
          <a:ln w="19050">
            <a:solidFill>
              <a:srgbClr val="FF0000"/>
            </a:solidFill>
            <a:round/>
            <a:headEnd/>
            <a:tailEnd type="triangle" w="med" len="med"/>
          </a:ln>
        </p:spPr>
      </p:cxnSp>
      <p:cxnSp>
        <p:nvCxnSpPr>
          <p:cNvPr id="42029" name="AutoShape 45"/>
          <p:cNvCxnSpPr>
            <a:cxnSpLocks noChangeShapeType="1"/>
            <a:endCxn id="42003" idx="4"/>
          </p:cNvCxnSpPr>
          <p:nvPr/>
        </p:nvCxnSpPr>
        <p:spPr bwMode="auto">
          <a:xfrm flipV="1">
            <a:off x="7323138" y="4376738"/>
            <a:ext cx="196850" cy="533400"/>
          </a:xfrm>
          <a:prstGeom prst="straightConnector1">
            <a:avLst/>
          </a:prstGeom>
          <a:noFill/>
          <a:ln w="19050">
            <a:solidFill>
              <a:srgbClr val="FF0000"/>
            </a:solidFill>
            <a:round/>
            <a:headEnd/>
            <a:tailEnd type="triangle" w="med" len="med"/>
          </a:ln>
        </p:spPr>
      </p:cxnSp>
      <p:cxnSp>
        <p:nvCxnSpPr>
          <p:cNvPr id="42030" name="AutoShape 46"/>
          <p:cNvCxnSpPr>
            <a:cxnSpLocks noChangeShapeType="1"/>
            <a:stCxn id="42011" idx="0"/>
            <a:endCxn id="42002" idx="4"/>
          </p:cNvCxnSpPr>
          <p:nvPr/>
        </p:nvCxnSpPr>
        <p:spPr bwMode="auto">
          <a:xfrm flipH="1" flipV="1">
            <a:off x="6757988" y="4376738"/>
            <a:ext cx="266700" cy="546100"/>
          </a:xfrm>
          <a:prstGeom prst="straightConnector1">
            <a:avLst/>
          </a:prstGeom>
          <a:noFill/>
          <a:ln w="3175">
            <a:solidFill>
              <a:srgbClr val="FF0000"/>
            </a:solidFill>
            <a:round/>
            <a:headEnd/>
            <a:tailEnd type="triangle" w="med" len="med"/>
          </a:ln>
        </p:spPr>
      </p:cxnSp>
      <p:cxnSp>
        <p:nvCxnSpPr>
          <p:cNvPr id="42031" name="AutoShape 47"/>
          <p:cNvCxnSpPr>
            <a:cxnSpLocks noChangeShapeType="1"/>
            <a:stCxn id="42002" idx="0"/>
            <a:endCxn id="42006" idx="2"/>
          </p:cNvCxnSpPr>
          <p:nvPr/>
        </p:nvCxnSpPr>
        <p:spPr bwMode="auto">
          <a:xfrm flipV="1">
            <a:off x="6757988" y="3690938"/>
            <a:ext cx="419100" cy="317500"/>
          </a:xfrm>
          <a:prstGeom prst="straightConnector1">
            <a:avLst/>
          </a:prstGeom>
          <a:noFill/>
          <a:ln w="3175">
            <a:solidFill>
              <a:srgbClr val="FF0000"/>
            </a:solidFill>
            <a:round/>
            <a:headEnd/>
            <a:tailEnd type="triangle" w="med" len="med"/>
          </a:ln>
        </p:spPr>
      </p:cxnSp>
      <p:sp>
        <p:nvSpPr>
          <p:cNvPr id="2" name="Rectangle 1"/>
          <p:cNvSpPr/>
          <p:nvPr/>
        </p:nvSpPr>
        <p:spPr>
          <a:xfrm>
            <a:off x="3048000" y="6013153"/>
            <a:ext cx="5334000" cy="595548"/>
          </a:xfrm>
          <a:prstGeom prst="rect">
            <a:avLst/>
          </a:prstGeom>
        </p:spPr>
        <p:txBody>
          <a:bodyPr wrap="square">
            <a:spAutoFit/>
          </a:bodyPr>
          <a:lstStyle/>
          <a:p>
            <a:pPr lvl="1" algn="ctr" eaLnBrk="1" hangingPunct="1">
              <a:lnSpc>
                <a:spcPct val="90000"/>
              </a:lnSpc>
            </a:pPr>
            <a:r>
              <a:rPr lang="en-US" dirty="0">
                <a:solidFill>
                  <a:srgbClr val="FF0000"/>
                </a:solidFill>
                <a:latin typeface="Candara" panose="020E0502030303020204" pitchFamily="34" charset="0"/>
                <a:ea typeface="ＭＳ Ｐゴシック" pitchFamily="34" charset="-128"/>
              </a:rPr>
              <a:t>The existence of cycles in the RAG is necessary but not sufficient for a deadlock.</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lstStyle/>
          <a:p>
            <a:r>
              <a:rPr lang="en-US" dirty="0"/>
              <a:t>Quiz</a:t>
            </a:r>
          </a:p>
        </p:txBody>
      </p:sp>
      <p:sp>
        <p:nvSpPr>
          <p:cNvPr id="44034" name="Rectangle 3"/>
          <p:cNvSpPr>
            <a:spLocks noGrp="1" noChangeArrowheads="1"/>
          </p:cNvSpPr>
          <p:nvPr>
            <p:ph idx="1"/>
          </p:nvPr>
        </p:nvSpPr>
        <p:spPr/>
        <p:txBody>
          <a:bodyPr/>
          <a:lstStyle/>
          <a:p>
            <a:r>
              <a:rPr lang="en-US" dirty="0"/>
              <a:t>Any thread is deadlocked? Why?</a:t>
            </a:r>
          </a:p>
        </p:txBody>
      </p:sp>
      <p:sp>
        <p:nvSpPr>
          <p:cNvPr id="44036" name="Oval 5"/>
          <p:cNvSpPr>
            <a:spLocks noChangeArrowheads="1"/>
          </p:cNvSpPr>
          <p:nvPr/>
        </p:nvSpPr>
        <p:spPr bwMode="auto">
          <a:xfrm>
            <a:off x="4584700" y="36576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1</a:t>
            </a:r>
          </a:p>
        </p:txBody>
      </p:sp>
      <p:sp>
        <p:nvSpPr>
          <p:cNvPr id="44037" name="Oval 6"/>
          <p:cNvSpPr>
            <a:spLocks noChangeArrowheads="1"/>
          </p:cNvSpPr>
          <p:nvPr/>
        </p:nvSpPr>
        <p:spPr bwMode="auto">
          <a:xfrm>
            <a:off x="5346700" y="36576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2</a:t>
            </a:r>
          </a:p>
        </p:txBody>
      </p:sp>
      <p:sp>
        <p:nvSpPr>
          <p:cNvPr id="44038" name="Oval 7"/>
          <p:cNvSpPr>
            <a:spLocks noChangeArrowheads="1"/>
          </p:cNvSpPr>
          <p:nvPr/>
        </p:nvSpPr>
        <p:spPr bwMode="auto">
          <a:xfrm>
            <a:off x="6032500" y="36576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3</a:t>
            </a:r>
          </a:p>
        </p:txBody>
      </p:sp>
      <p:sp>
        <p:nvSpPr>
          <p:cNvPr id="44039" name="Oval 8"/>
          <p:cNvSpPr>
            <a:spLocks noChangeArrowheads="1"/>
          </p:cNvSpPr>
          <p:nvPr/>
        </p:nvSpPr>
        <p:spPr bwMode="auto">
          <a:xfrm>
            <a:off x="6718300" y="36576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4</a:t>
            </a:r>
          </a:p>
        </p:txBody>
      </p:sp>
      <p:sp>
        <p:nvSpPr>
          <p:cNvPr id="44040" name="Rectangle 9"/>
          <p:cNvSpPr>
            <a:spLocks noChangeArrowheads="1"/>
          </p:cNvSpPr>
          <p:nvPr/>
        </p:nvSpPr>
        <p:spPr bwMode="auto">
          <a:xfrm>
            <a:off x="4889500" y="2895600"/>
            <a:ext cx="7493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4041" name="Rectangle 10"/>
          <p:cNvSpPr>
            <a:spLocks noChangeArrowheads="1"/>
          </p:cNvSpPr>
          <p:nvPr/>
        </p:nvSpPr>
        <p:spPr bwMode="auto">
          <a:xfrm>
            <a:off x="5956300" y="2895600"/>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4042" name="Rectangle 11"/>
          <p:cNvSpPr>
            <a:spLocks noChangeArrowheads="1"/>
          </p:cNvSpPr>
          <p:nvPr/>
        </p:nvSpPr>
        <p:spPr bwMode="auto">
          <a:xfrm>
            <a:off x="4889500" y="4419600"/>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4043" name="Oval 12"/>
          <p:cNvSpPr>
            <a:spLocks noChangeArrowheads="1"/>
          </p:cNvSpPr>
          <p:nvPr/>
        </p:nvSpPr>
        <p:spPr bwMode="auto">
          <a:xfrm>
            <a:off x="5118100" y="3048000"/>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4044" name="Oval 13"/>
          <p:cNvSpPr>
            <a:spLocks noChangeArrowheads="1"/>
          </p:cNvSpPr>
          <p:nvPr/>
        </p:nvSpPr>
        <p:spPr bwMode="auto">
          <a:xfrm>
            <a:off x="6184900" y="3048000"/>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4045" name="Oval 14"/>
          <p:cNvSpPr>
            <a:spLocks noChangeArrowheads="1"/>
          </p:cNvSpPr>
          <p:nvPr/>
        </p:nvSpPr>
        <p:spPr bwMode="auto">
          <a:xfrm>
            <a:off x="5105400" y="4572000"/>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4046" name="Oval 15"/>
          <p:cNvSpPr>
            <a:spLocks noChangeArrowheads="1"/>
          </p:cNvSpPr>
          <p:nvPr/>
        </p:nvSpPr>
        <p:spPr bwMode="auto">
          <a:xfrm>
            <a:off x="5346700" y="3048000"/>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4047" name="Rectangle 16"/>
          <p:cNvSpPr>
            <a:spLocks noChangeArrowheads="1"/>
          </p:cNvSpPr>
          <p:nvPr/>
        </p:nvSpPr>
        <p:spPr bwMode="auto">
          <a:xfrm>
            <a:off x="4411664" y="2943226"/>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1</a:t>
            </a:r>
          </a:p>
        </p:txBody>
      </p:sp>
      <p:sp>
        <p:nvSpPr>
          <p:cNvPr id="44048" name="Rectangle 17"/>
          <p:cNvSpPr>
            <a:spLocks noChangeArrowheads="1"/>
          </p:cNvSpPr>
          <p:nvPr/>
        </p:nvSpPr>
        <p:spPr bwMode="auto">
          <a:xfrm>
            <a:off x="4411663" y="4467226"/>
            <a:ext cx="397546"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3</a:t>
            </a:r>
          </a:p>
        </p:txBody>
      </p:sp>
      <p:sp>
        <p:nvSpPr>
          <p:cNvPr id="44049" name="Rectangle 18"/>
          <p:cNvSpPr>
            <a:spLocks noChangeArrowheads="1"/>
          </p:cNvSpPr>
          <p:nvPr/>
        </p:nvSpPr>
        <p:spPr bwMode="auto">
          <a:xfrm>
            <a:off x="6621464" y="2943226"/>
            <a:ext cx="392737"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2</a:t>
            </a:r>
          </a:p>
        </p:txBody>
      </p:sp>
      <p:cxnSp>
        <p:nvCxnSpPr>
          <p:cNvPr id="44050" name="AutoShape 19"/>
          <p:cNvCxnSpPr>
            <a:cxnSpLocks noChangeShapeType="1"/>
            <a:stCxn id="44045" idx="1"/>
            <a:endCxn id="44036" idx="4"/>
          </p:cNvCxnSpPr>
          <p:nvPr/>
        </p:nvCxnSpPr>
        <p:spPr bwMode="auto">
          <a:xfrm flipH="1" flipV="1">
            <a:off x="4768850" y="4025900"/>
            <a:ext cx="357188" cy="566738"/>
          </a:xfrm>
          <a:prstGeom prst="straightConnector1">
            <a:avLst/>
          </a:prstGeom>
          <a:noFill/>
          <a:ln w="3175">
            <a:solidFill>
              <a:srgbClr val="FF0000"/>
            </a:solidFill>
            <a:round/>
            <a:headEnd/>
            <a:tailEnd type="triangle" w="med" len="med"/>
          </a:ln>
        </p:spPr>
      </p:cxnSp>
      <p:cxnSp>
        <p:nvCxnSpPr>
          <p:cNvPr id="44051" name="AutoShape 20"/>
          <p:cNvCxnSpPr>
            <a:cxnSpLocks noChangeShapeType="1"/>
          </p:cNvCxnSpPr>
          <p:nvPr/>
        </p:nvCxnSpPr>
        <p:spPr bwMode="auto">
          <a:xfrm flipV="1">
            <a:off x="4781550" y="3340100"/>
            <a:ext cx="419100" cy="317500"/>
          </a:xfrm>
          <a:prstGeom prst="straightConnector1">
            <a:avLst/>
          </a:prstGeom>
          <a:noFill/>
          <a:ln w="3175">
            <a:solidFill>
              <a:srgbClr val="FF0000"/>
            </a:solidFill>
            <a:round/>
            <a:headEnd/>
            <a:tailEnd type="triangle" w="med" len="med"/>
          </a:ln>
        </p:spPr>
      </p:cxnSp>
      <p:cxnSp>
        <p:nvCxnSpPr>
          <p:cNvPr id="44052" name="AutoShape 21"/>
          <p:cNvCxnSpPr>
            <a:cxnSpLocks noChangeShapeType="1"/>
          </p:cNvCxnSpPr>
          <p:nvPr/>
        </p:nvCxnSpPr>
        <p:spPr bwMode="auto">
          <a:xfrm>
            <a:off x="5249864" y="3167064"/>
            <a:ext cx="293687" cy="490537"/>
          </a:xfrm>
          <a:prstGeom prst="straightConnector1">
            <a:avLst/>
          </a:prstGeom>
          <a:noFill/>
          <a:ln w="3175">
            <a:solidFill>
              <a:srgbClr val="FF0000"/>
            </a:solidFill>
            <a:round/>
            <a:headEnd/>
            <a:tailEnd type="triangle" w="med" len="med"/>
          </a:ln>
        </p:spPr>
      </p:cxnSp>
      <p:cxnSp>
        <p:nvCxnSpPr>
          <p:cNvPr id="44053" name="AutoShape 22"/>
          <p:cNvCxnSpPr>
            <a:cxnSpLocks noChangeShapeType="1"/>
            <a:stCxn id="44037" idx="3"/>
            <a:endCxn id="44042" idx="0"/>
          </p:cNvCxnSpPr>
          <p:nvPr/>
        </p:nvCxnSpPr>
        <p:spPr bwMode="auto">
          <a:xfrm flipH="1">
            <a:off x="5187951" y="3971926"/>
            <a:ext cx="212725" cy="447675"/>
          </a:xfrm>
          <a:prstGeom prst="straightConnector1">
            <a:avLst/>
          </a:prstGeom>
          <a:noFill/>
          <a:ln w="3175">
            <a:solidFill>
              <a:srgbClr val="FF0000"/>
            </a:solidFill>
            <a:round/>
            <a:headEnd/>
            <a:tailEnd type="triangle" w="med" len="med"/>
          </a:ln>
        </p:spPr>
      </p:cxnSp>
      <p:cxnSp>
        <p:nvCxnSpPr>
          <p:cNvPr id="44054" name="AutoShape 23"/>
          <p:cNvCxnSpPr>
            <a:cxnSpLocks noChangeShapeType="1"/>
            <a:stCxn id="44046" idx="5"/>
            <a:endCxn id="44038" idx="1"/>
          </p:cNvCxnSpPr>
          <p:nvPr/>
        </p:nvCxnSpPr>
        <p:spPr bwMode="auto">
          <a:xfrm>
            <a:off x="5465763" y="3167063"/>
            <a:ext cx="620712" cy="544512"/>
          </a:xfrm>
          <a:prstGeom prst="straightConnector1">
            <a:avLst/>
          </a:prstGeom>
          <a:noFill/>
          <a:ln w="3175">
            <a:solidFill>
              <a:srgbClr val="FF0000"/>
            </a:solidFill>
            <a:round/>
            <a:headEnd/>
            <a:tailEnd type="triangle" w="med" len="med"/>
          </a:ln>
        </p:spPr>
      </p:cxnSp>
      <p:cxnSp>
        <p:nvCxnSpPr>
          <p:cNvPr id="44055" name="AutoShape 24"/>
          <p:cNvCxnSpPr>
            <a:cxnSpLocks noChangeShapeType="1"/>
            <a:stCxn id="44044" idx="5"/>
            <a:endCxn id="44039" idx="1"/>
          </p:cNvCxnSpPr>
          <p:nvPr/>
        </p:nvCxnSpPr>
        <p:spPr bwMode="auto">
          <a:xfrm>
            <a:off x="6303963" y="3167063"/>
            <a:ext cx="468312" cy="544512"/>
          </a:xfrm>
          <a:prstGeom prst="straightConnector1">
            <a:avLst/>
          </a:prstGeom>
          <a:noFill/>
          <a:ln w="3175">
            <a:solidFill>
              <a:srgbClr val="FF0000"/>
            </a:solidFill>
            <a:round/>
            <a:headEnd/>
            <a:tailEnd type="triangle" w="med" len="med"/>
          </a:ln>
        </p:spPr>
      </p:cxnSp>
      <p:sp>
        <p:nvSpPr>
          <p:cNvPr id="44056" name="Oval 26"/>
          <p:cNvSpPr>
            <a:spLocks noChangeArrowheads="1"/>
          </p:cNvSpPr>
          <p:nvPr/>
        </p:nvSpPr>
        <p:spPr bwMode="auto">
          <a:xfrm>
            <a:off x="7391400" y="36576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r>
              <a:rPr lang="en-US" dirty="0">
                <a:solidFill>
                  <a:srgbClr val="002060"/>
                </a:solidFill>
                <a:latin typeface="+mn-lt"/>
              </a:rPr>
              <a:t>T</a:t>
            </a:r>
            <a:r>
              <a:rPr lang="en-US" baseline="-25000" dirty="0">
                <a:solidFill>
                  <a:srgbClr val="002060"/>
                </a:solidFill>
                <a:latin typeface="+mn-lt"/>
              </a:rPr>
              <a:t>5</a:t>
            </a:r>
          </a:p>
        </p:txBody>
      </p:sp>
      <p:sp>
        <p:nvSpPr>
          <p:cNvPr id="44057" name="Rectangle 27"/>
          <p:cNvSpPr>
            <a:spLocks noChangeArrowheads="1"/>
          </p:cNvSpPr>
          <p:nvPr/>
        </p:nvSpPr>
        <p:spPr bwMode="auto">
          <a:xfrm>
            <a:off x="6794500" y="4419600"/>
            <a:ext cx="596900" cy="444500"/>
          </a:xfrm>
          <a:prstGeom prst="rect">
            <a:avLst/>
          </a:prstGeom>
          <a:solidFill>
            <a:schemeClr val="bg1"/>
          </a:solidFill>
          <a:ln w="12700">
            <a:solidFill>
              <a:schemeClr val="tx1"/>
            </a:solidFill>
            <a:miter lim="800000"/>
            <a:headEnd/>
            <a:tailEnd/>
          </a:ln>
        </p:spPr>
        <p:txBody>
          <a:bodyPr wrap="none" anchor="ctr"/>
          <a:lstStyle/>
          <a:p>
            <a:pPr eaLnBrk="0" hangingPunct="0"/>
            <a:endParaRPr lang="en-US" sz="1600" u="sng" dirty="0">
              <a:solidFill>
                <a:srgbClr val="002060"/>
              </a:solidFill>
              <a:latin typeface="+mn-lt"/>
            </a:endParaRPr>
          </a:p>
        </p:txBody>
      </p:sp>
      <p:sp>
        <p:nvSpPr>
          <p:cNvPr id="44058" name="Oval 28"/>
          <p:cNvSpPr>
            <a:spLocks noChangeArrowheads="1"/>
          </p:cNvSpPr>
          <p:nvPr/>
        </p:nvSpPr>
        <p:spPr bwMode="auto">
          <a:xfrm>
            <a:off x="7010400" y="4572000"/>
            <a:ext cx="139700" cy="139700"/>
          </a:xfrm>
          <a:prstGeom prst="ellipse">
            <a:avLst/>
          </a:prstGeom>
          <a:noFill/>
          <a:ln w="12700">
            <a:solidFill>
              <a:schemeClr val="tx1"/>
            </a:solidFill>
            <a:round/>
            <a:headEnd/>
            <a:tailEnd/>
          </a:ln>
        </p:spPr>
        <p:txBody>
          <a:bodyPr wrap="none" anchor="ctr"/>
          <a:lstStyle/>
          <a:p>
            <a:pPr eaLnBrk="0" hangingPunct="0"/>
            <a:endParaRPr lang="en-US" sz="1600" u="sng" dirty="0">
              <a:solidFill>
                <a:srgbClr val="002060"/>
              </a:solidFill>
              <a:latin typeface="+mn-lt"/>
            </a:endParaRPr>
          </a:p>
        </p:txBody>
      </p:sp>
      <p:sp>
        <p:nvSpPr>
          <p:cNvPr id="44059" name="Rectangle 29"/>
          <p:cNvSpPr>
            <a:spLocks noChangeArrowheads="1"/>
          </p:cNvSpPr>
          <p:nvPr/>
        </p:nvSpPr>
        <p:spPr bwMode="auto">
          <a:xfrm>
            <a:off x="7507288" y="4467225"/>
            <a:ext cx="386325" cy="366767"/>
          </a:xfrm>
          <a:prstGeom prst="rect">
            <a:avLst/>
          </a:prstGeom>
          <a:noFill/>
          <a:ln w="12700">
            <a:noFill/>
            <a:miter lim="800000"/>
            <a:headEnd/>
            <a:tailEnd/>
          </a:ln>
        </p:spPr>
        <p:txBody>
          <a:bodyPr wrap="none" lIns="90488" tIns="44450" rIns="90488" bIns="44450">
            <a:spAutoFit/>
          </a:bodyPr>
          <a:lstStyle/>
          <a:p>
            <a:pPr eaLnBrk="0" hangingPunct="0"/>
            <a:r>
              <a:rPr lang="en-US" dirty="0">
                <a:solidFill>
                  <a:srgbClr val="002060"/>
                </a:solidFill>
                <a:latin typeface="+mn-lt"/>
              </a:rPr>
              <a:t>R</a:t>
            </a:r>
            <a:r>
              <a:rPr lang="en-US" baseline="-25000" dirty="0">
                <a:solidFill>
                  <a:srgbClr val="002060"/>
                </a:solidFill>
                <a:latin typeface="+mn-lt"/>
              </a:rPr>
              <a:t>4</a:t>
            </a:r>
          </a:p>
        </p:txBody>
      </p:sp>
      <p:cxnSp>
        <p:nvCxnSpPr>
          <p:cNvPr id="44060" name="AutoShape 30"/>
          <p:cNvCxnSpPr>
            <a:cxnSpLocks noChangeShapeType="1"/>
            <a:stCxn id="44058" idx="0"/>
            <a:endCxn id="44056" idx="4"/>
          </p:cNvCxnSpPr>
          <p:nvPr/>
        </p:nvCxnSpPr>
        <p:spPr bwMode="auto">
          <a:xfrm flipV="1">
            <a:off x="7080250" y="4025900"/>
            <a:ext cx="495300" cy="546100"/>
          </a:xfrm>
          <a:prstGeom prst="straightConnector1">
            <a:avLst/>
          </a:prstGeom>
          <a:noFill/>
          <a:ln w="3175">
            <a:solidFill>
              <a:srgbClr val="FF0000"/>
            </a:solidFill>
            <a:round/>
            <a:headEnd/>
            <a:tailEnd type="triangle" w="med" len="med"/>
          </a:ln>
        </p:spPr>
      </p:cxnSp>
      <p:cxnSp>
        <p:nvCxnSpPr>
          <p:cNvPr id="44061" name="AutoShape 31"/>
          <p:cNvCxnSpPr>
            <a:cxnSpLocks noChangeShapeType="1"/>
            <a:stCxn id="44039" idx="4"/>
            <a:endCxn id="44057" idx="0"/>
          </p:cNvCxnSpPr>
          <p:nvPr/>
        </p:nvCxnSpPr>
        <p:spPr bwMode="auto">
          <a:xfrm>
            <a:off x="6902450" y="4025900"/>
            <a:ext cx="190500" cy="393700"/>
          </a:xfrm>
          <a:prstGeom prst="straightConnector1">
            <a:avLst/>
          </a:prstGeom>
          <a:noFill/>
          <a:ln w="3175">
            <a:solidFill>
              <a:srgbClr val="FF0000"/>
            </a:solidFill>
            <a:round/>
            <a:headEnd/>
            <a:tailEnd type="triangle" w="med" len="med"/>
          </a:ln>
        </p:spPr>
      </p:cxnSp>
      <p:cxnSp>
        <p:nvCxnSpPr>
          <p:cNvPr id="44062" name="AutoShape 33"/>
          <p:cNvCxnSpPr>
            <a:cxnSpLocks noChangeShapeType="1"/>
            <a:endCxn id="44041" idx="3"/>
          </p:cNvCxnSpPr>
          <p:nvPr/>
        </p:nvCxnSpPr>
        <p:spPr bwMode="auto">
          <a:xfrm flipH="1" flipV="1">
            <a:off x="6553200" y="3117850"/>
            <a:ext cx="952500" cy="552450"/>
          </a:xfrm>
          <a:prstGeom prst="straightConnector1">
            <a:avLst/>
          </a:prstGeom>
          <a:noFill/>
          <a:ln w="3175">
            <a:solidFill>
              <a:srgbClr val="FF0000"/>
            </a:solidFill>
            <a:round/>
            <a:headEnd/>
            <a:tailEnd type="triangle" w="med" len="med"/>
          </a:ln>
        </p:spPr>
      </p:cxnSp>
      <p:sp>
        <p:nvSpPr>
          <p:cNvPr id="34" name="Rectangle 33"/>
          <p:cNvSpPr/>
          <p:nvPr/>
        </p:nvSpPr>
        <p:spPr>
          <a:xfrm>
            <a:off x="4057650" y="5618164"/>
            <a:ext cx="3797300" cy="433965"/>
          </a:xfrm>
          <a:prstGeom prst="rect">
            <a:avLst/>
          </a:prstGeom>
        </p:spPr>
        <p:txBody>
          <a:bodyPr wrap="square">
            <a:spAutoFit/>
          </a:bodyPr>
          <a:lstStyle/>
          <a:p>
            <a:pPr marL="12700" lvl="1" algn="ctr">
              <a:lnSpc>
                <a:spcPct val="90000"/>
              </a:lnSpc>
            </a:pPr>
            <a:r>
              <a:rPr lang="en-US" sz="2400" dirty="0">
                <a:solidFill>
                  <a:srgbClr val="FF0000"/>
                </a:solidFill>
                <a:latin typeface="Candara" panose="020E0502030303020204" pitchFamily="34" charset="0"/>
                <a:ea typeface="ＭＳ Ｐゴシック" pitchFamily="34" charset="-128"/>
              </a:rPr>
              <a:t>T4 and T5 are deadlocked.</a:t>
            </a:r>
          </a:p>
        </p:txBody>
      </p:sp>
      <p:sp>
        <p:nvSpPr>
          <p:cNvPr id="4" name="Slide Number Placeholder 3">
            <a:extLst>
              <a:ext uri="{FF2B5EF4-FFF2-40B4-BE49-F238E27FC236}">
                <a16:creationId xmlns:a16="http://schemas.microsoft.com/office/drawing/2014/main" id="{4819C095-9E81-2D40-8FBB-47F7985CAD93}"/>
              </a:ext>
            </a:extLst>
          </p:cNvPr>
          <p:cNvSpPr>
            <a:spLocks noGrp="1"/>
          </p:cNvSpPr>
          <p:nvPr>
            <p:ph type="sldNum" sz="quarter" idx="12"/>
          </p:nvPr>
        </p:nvSpPr>
        <p:spPr/>
        <p:txBody>
          <a:bodyPr/>
          <a:lstStyle/>
          <a:p>
            <a:pPr>
              <a:defRPr/>
            </a:pPr>
            <a:fld id="{C91549CA-3F3E-4863-879C-314BFB2A8436}" type="slidenum">
              <a:rPr lang="en-US" smtClean="0"/>
              <a:pPr>
                <a:defRPr/>
              </a:pPr>
              <a:t>21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pPr eaLnBrk="1" hangingPunct="1"/>
            <a:r>
              <a:rPr lang="en-US" dirty="0">
                <a:ea typeface="ＭＳ Ｐゴシック" pitchFamily="34" charset="-128"/>
              </a:rPr>
              <a:t>Outline</a:t>
            </a:r>
          </a:p>
        </p:txBody>
      </p:sp>
      <p:sp>
        <p:nvSpPr>
          <p:cNvPr id="48130" name="Rectangle 3"/>
          <p:cNvSpPr>
            <a:spLocks noGrp="1" noChangeArrowheads="1"/>
          </p:cNvSpPr>
          <p:nvPr>
            <p:ph idx="1"/>
          </p:nvPr>
        </p:nvSpPr>
        <p:spPr/>
        <p:txBody>
          <a:bodyPr/>
          <a:lstStyle/>
          <a:p>
            <a:pPr eaLnBrk="1" hangingPunct="1"/>
            <a:r>
              <a:rPr lang="en-US" dirty="0">
                <a:ea typeface="ＭＳ Ｐゴシック" pitchFamily="34" charset="-128"/>
              </a:rPr>
              <a:t>Why?</a:t>
            </a:r>
          </a:p>
          <a:p>
            <a:pPr lvl="1" eaLnBrk="1" hangingPunct="1"/>
            <a:r>
              <a:rPr lang="en-US" dirty="0">
                <a:ea typeface="ＭＳ Ｐゴシック" pitchFamily="34" charset="-128"/>
              </a:rPr>
              <a:t>The deadlock problem</a:t>
            </a:r>
          </a:p>
          <a:p>
            <a:pPr eaLnBrk="1" hangingPunct="1"/>
            <a:r>
              <a:rPr lang="en-US" dirty="0">
                <a:ea typeface="ＭＳ Ｐゴシック" pitchFamily="34" charset="-128"/>
              </a:rPr>
              <a:t>What?</a:t>
            </a:r>
          </a:p>
          <a:p>
            <a:pPr lvl="1" eaLnBrk="1" hangingPunct="1"/>
            <a:r>
              <a:rPr lang="en-US" dirty="0">
                <a:ea typeface="ＭＳ Ｐゴシック" pitchFamily="34" charset="-128"/>
              </a:rPr>
              <a:t>The exact definition</a:t>
            </a:r>
          </a:p>
          <a:p>
            <a:pPr eaLnBrk="1" hangingPunct="1"/>
            <a:r>
              <a:rPr lang="en-US" dirty="0">
                <a:solidFill>
                  <a:srgbClr val="FF0000"/>
                </a:solidFill>
                <a:ea typeface="ＭＳ Ｐゴシック" pitchFamily="34" charset="-128"/>
              </a:rPr>
              <a:t>How?</a:t>
            </a:r>
          </a:p>
          <a:p>
            <a:pPr lvl="1" eaLnBrk="1" hangingPunct="1"/>
            <a:r>
              <a:rPr lang="en-US" dirty="0">
                <a:solidFill>
                  <a:srgbClr val="FF0000"/>
                </a:solidFill>
                <a:ea typeface="ＭＳ Ｐゴシック" pitchFamily="34" charset="-128"/>
              </a:rPr>
              <a:t>Prevention</a:t>
            </a:r>
          </a:p>
        </p:txBody>
      </p:sp>
      <p:sp>
        <p:nvSpPr>
          <p:cNvPr id="4" name="Slide Number Placeholder 3">
            <a:extLst>
              <a:ext uri="{FF2B5EF4-FFF2-40B4-BE49-F238E27FC236}">
                <a16:creationId xmlns:a16="http://schemas.microsoft.com/office/drawing/2014/main" id="{907ED2D9-8E0F-CE40-AB5B-C949A8AA14CE}"/>
              </a:ext>
            </a:extLst>
          </p:cNvPr>
          <p:cNvSpPr>
            <a:spLocks noGrp="1"/>
          </p:cNvSpPr>
          <p:nvPr>
            <p:ph type="sldNum" sz="quarter" idx="12"/>
          </p:nvPr>
        </p:nvSpPr>
        <p:spPr/>
        <p:txBody>
          <a:bodyPr/>
          <a:lstStyle/>
          <a:p>
            <a:pPr>
              <a:defRPr/>
            </a:pPr>
            <a:fld id="{C91549CA-3F3E-4863-879C-314BFB2A8436}" type="slidenum">
              <a:rPr lang="en-US" smtClean="0"/>
              <a:pPr>
                <a:defRPr/>
              </a:pPr>
              <a:t>22</a:t>
            </a:fld>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4"/>
          <p:cNvSpPr>
            <a:spLocks noGrp="1" noChangeArrowheads="1"/>
          </p:cNvSpPr>
          <p:nvPr>
            <p:ph type="title"/>
          </p:nvPr>
        </p:nvSpPr>
        <p:spPr/>
        <p:txBody>
          <a:bodyPr/>
          <a:lstStyle/>
          <a:p>
            <a:pPr eaLnBrk="1" hangingPunct="1"/>
            <a:r>
              <a:rPr lang="en-US" dirty="0">
                <a:ea typeface="ＭＳ Ｐゴシック" pitchFamily="34" charset="-128"/>
              </a:rPr>
              <a:t>Deadlock prevention</a:t>
            </a:r>
          </a:p>
        </p:txBody>
      </p:sp>
      <p:sp>
        <p:nvSpPr>
          <p:cNvPr id="50178" name="Rectangle 5"/>
          <p:cNvSpPr>
            <a:spLocks noGrp="1" noChangeArrowheads="1"/>
          </p:cNvSpPr>
          <p:nvPr>
            <p:ph idx="1"/>
          </p:nvPr>
        </p:nvSpPr>
        <p:spPr/>
        <p:txBody>
          <a:bodyPr/>
          <a:lstStyle/>
          <a:p>
            <a:pPr eaLnBrk="1" hangingPunct="1"/>
            <a:r>
              <a:rPr lang="en-US" dirty="0">
                <a:ea typeface="ＭＳ Ｐゴシック" pitchFamily="34" charset="-128"/>
              </a:rPr>
              <a:t>Prevent occurrence of deadlock by preventing occurrence of any one of the 4 necessary conditions for deadlock.</a:t>
            </a:r>
          </a:p>
          <a:p>
            <a:pPr lvl="1" eaLnBrk="1" hangingPunct="1"/>
            <a:r>
              <a:rPr lang="en-US" dirty="0">
                <a:ea typeface="ＭＳ Ｐゴシック" pitchFamily="34" charset="-128"/>
              </a:rPr>
              <a:t>Mutual exclusion</a:t>
            </a:r>
          </a:p>
          <a:p>
            <a:pPr lvl="1" eaLnBrk="1" hangingPunct="1"/>
            <a:r>
              <a:rPr lang="en-US" dirty="0">
                <a:ea typeface="ＭＳ Ｐゴシック" pitchFamily="34" charset="-128"/>
              </a:rPr>
              <a:t>Hold and wait</a:t>
            </a:r>
          </a:p>
          <a:p>
            <a:pPr lvl="1" eaLnBrk="1" hangingPunct="1"/>
            <a:r>
              <a:rPr lang="en-US" dirty="0">
                <a:ea typeface="ＭＳ Ｐゴシック" pitchFamily="34" charset="-128"/>
              </a:rPr>
              <a:t>No preemption</a:t>
            </a:r>
          </a:p>
          <a:p>
            <a:pPr lvl="1" eaLnBrk="1" hangingPunct="1"/>
            <a:r>
              <a:rPr lang="en-US" dirty="0">
                <a:ea typeface="ＭＳ Ｐゴシック" pitchFamily="34" charset="-128"/>
              </a:rPr>
              <a:t>Circular wait</a:t>
            </a:r>
          </a:p>
        </p:txBody>
      </p:sp>
      <p:sp>
        <p:nvSpPr>
          <p:cNvPr id="4" name="Slide Number Placeholder 3">
            <a:extLst>
              <a:ext uri="{FF2B5EF4-FFF2-40B4-BE49-F238E27FC236}">
                <a16:creationId xmlns:a16="http://schemas.microsoft.com/office/drawing/2014/main" id="{E2B61A89-C31B-A743-BB0E-93E2055E122A}"/>
              </a:ext>
            </a:extLst>
          </p:cNvPr>
          <p:cNvSpPr>
            <a:spLocks noGrp="1"/>
          </p:cNvSpPr>
          <p:nvPr>
            <p:ph type="sldNum" sz="quarter" idx="12"/>
          </p:nvPr>
        </p:nvSpPr>
        <p:spPr/>
        <p:txBody>
          <a:bodyPr/>
          <a:lstStyle/>
          <a:p>
            <a:pPr>
              <a:defRPr/>
            </a:pPr>
            <a:fld id="{C91549CA-3F3E-4863-879C-314BFB2A8436}" type="slidenum">
              <a:rPr lang="en-US" smtClean="0"/>
              <a:pPr>
                <a:defRPr/>
              </a:pPr>
              <a:t>23</a:t>
            </a:fld>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8"/>
          <p:cNvSpPr>
            <a:spLocks noGrp="1" noChangeArrowheads="1"/>
          </p:cNvSpPr>
          <p:nvPr>
            <p:ph type="title"/>
          </p:nvPr>
        </p:nvSpPr>
        <p:spPr/>
        <p:txBody>
          <a:bodyPr/>
          <a:lstStyle/>
          <a:p>
            <a:r>
              <a:rPr lang="en-US" dirty="0"/>
              <a:t>(1) mutual exclusion</a:t>
            </a:r>
          </a:p>
        </p:txBody>
      </p:sp>
      <p:sp>
        <p:nvSpPr>
          <p:cNvPr id="52226" name="Rectangle 9"/>
          <p:cNvSpPr>
            <a:spLocks noGrp="1" noChangeArrowheads="1"/>
          </p:cNvSpPr>
          <p:nvPr>
            <p:ph idx="1"/>
          </p:nvPr>
        </p:nvSpPr>
        <p:spPr/>
        <p:txBody>
          <a:bodyPr/>
          <a:lstStyle/>
          <a:p>
            <a:r>
              <a:rPr lang="en-US" dirty="0"/>
              <a:t>Make resources shareable: </a:t>
            </a:r>
          </a:p>
          <a:p>
            <a:pPr lvl="1"/>
            <a:r>
              <a:rPr lang="en-US" dirty="0"/>
              <a:t>locking cells in spreadsheet instead of locking the whole spreadsheet.</a:t>
            </a:r>
          </a:p>
          <a:p>
            <a:r>
              <a:rPr lang="en-US" dirty="0"/>
              <a:t>Limitation:</a:t>
            </a:r>
          </a:p>
          <a:p>
            <a:pPr lvl="1"/>
            <a:r>
              <a:rPr lang="en-US" dirty="0"/>
              <a:t>Can we share cell in spreadsheet?</a:t>
            </a:r>
          </a:p>
          <a:p>
            <a:endParaRPr lang="en-US" dirty="0"/>
          </a:p>
        </p:txBody>
      </p:sp>
      <p:sp>
        <p:nvSpPr>
          <p:cNvPr id="4" name="Slide Number Placeholder 3">
            <a:extLst>
              <a:ext uri="{FF2B5EF4-FFF2-40B4-BE49-F238E27FC236}">
                <a16:creationId xmlns:a16="http://schemas.microsoft.com/office/drawing/2014/main" id="{B42F4D21-8E8C-D54F-B4BF-02DDFECDED6D}"/>
              </a:ext>
            </a:extLst>
          </p:cNvPr>
          <p:cNvSpPr>
            <a:spLocks noGrp="1"/>
          </p:cNvSpPr>
          <p:nvPr>
            <p:ph type="sldNum" sz="quarter" idx="12"/>
          </p:nvPr>
        </p:nvSpPr>
        <p:spPr/>
        <p:txBody>
          <a:bodyPr/>
          <a:lstStyle/>
          <a:p>
            <a:pPr>
              <a:defRPr/>
            </a:pPr>
            <a:fld id="{C91549CA-3F3E-4863-879C-314BFB2A8436}"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1"/>
          <p:cNvSpPr>
            <a:spLocks noGrp="1" noChangeArrowheads="1"/>
          </p:cNvSpPr>
          <p:nvPr>
            <p:ph type="title"/>
          </p:nvPr>
        </p:nvSpPr>
        <p:spPr/>
        <p:txBody>
          <a:bodyPr/>
          <a:lstStyle/>
          <a:p>
            <a:r>
              <a:rPr lang="en-US" dirty="0"/>
              <a:t>(2) hold and wait</a:t>
            </a:r>
          </a:p>
        </p:txBody>
      </p:sp>
      <p:sp>
        <p:nvSpPr>
          <p:cNvPr id="54274" name="Rectangle 22"/>
          <p:cNvSpPr>
            <a:spLocks noGrp="1" noChangeArrowheads="1"/>
          </p:cNvSpPr>
          <p:nvPr>
            <p:ph idx="1"/>
          </p:nvPr>
        </p:nvSpPr>
        <p:spPr/>
        <p:txBody>
          <a:bodyPr/>
          <a:lstStyle/>
          <a:p>
            <a:r>
              <a:rPr lang="en-US" dirty="0"/>
              <a:t>Requesting resources simultaneously and atomically.</a:t>
            </a:r>
          </a:p>
          <a:p>
            <a:r>
              <a:rPr lang="en-US" dirty="0"/>
              <a:t>Examples</a:t>
            </a:r>
          </a:p>
          <a:p>
            <a:pPr lvl="1"/>
            <a:r>
              <a:rPr lang="en-US" dirty="0">
                <a:ea typeface="ＭＳ Ｐゴシック" pitchFamily="34" charset="-128"/>
              </a:rPr>
              <a:t>Thrashing</a:t>
            </a:r>
          </a:p>
          <a:p>
            <a:pPr lvl="1"/>
            <a:r>
              <a:rPr lang="en-US" dirty="0">
                <a:ea typeface="ＭＳ Ｐゴシック" pitchFamily="34" charset="-128"/>
              </a:rPr>
              <a:t>Dinning philosophers</a:t>
            </a:r>
          </a:p>
        </p:txBody>
      </p:sp>
      <p:sp>
        <p:nvSpPr>
          <p:cNvPr id="4" name="Slide Number Placeholder 3">
            <a:extLst>
              <a:ext uri="{FF2B5EF4-FFF2-40B4-BE49-F238E27FC236}">
                <a16:creationId xmlns:a16="http://schemas.microsoft.com/office/drawing/2014/main" id="{B1F2EC74-A6C0-7148-9052-003B7D33A97D}"/>
              </a:ext>
            </a:extLst>
          </p:cNvPr>
          <p:cNvSpPr>
            <a:spLocks noGrp="1"/>
          </p:cNvSpPr>
          <p:nvPr>
            <p:ph type="sldNum" sz="quarter" idx="12"/>
          </p:nvPr>
        </p:nvSpPr>
        <p:spPr/>
        <p:txBody>
          <a:bodyPr/>
          <a:lstStyle/>
          <a:p>
            <a:pPr>
              <a:defRPr/>
            </a:pPr>
            <a:fld id="{C91549CA-3F3E-4863-879C-314BFB2A8436}" type="slidenum">
              <a:rPr lang="en-US" smtClean="0"/>
              <a:pPr>
                <a:defRPr/>
              </a:pPr>
              <a:t>25</a:t>
            </a:fld>
            <a:endParaRPr 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609600" y="152400"/>
            <a:ext cx="10972800" cy="838200"/>
          </a:xfrm>
        </p:spPr>
        <p:txBody>
          <a:bodyPr/>
          <a:lstStyle/>
          <a:p>
            <a:r>
              <a:rPr lang="en-US" dirty="0"/>
              <a:t>Thrashing - Why?</a:t>
            </a:r>
          </a:p>
        </p:txBody>
      </p:sp>
      <p:sp>
        <p:nvSpPr>
          <p:cNvPr id="1157123" name="Rectangle 3"/>
          <p:cNvSpPr>
            <a:spLocks noGrp="1" noChangeArrowheads="1"/>
          </p:cNvSpPr>
          <p:nvPr>
            <p:ph sz="half" idx="1"/>
          </p:nvPr>
        </p:nvSpPr>
        <p:spPr>
          <a:xfrm>
            <a:off x="609600" y="1295400"/>
            <a:ext cx="5384800" cy="5504688"/>
          </a:xfrm>
        </p:spPr>
        <p:txBody>
          <a:bodyPr>
            <a:normAutofit/>
          </a:bodyPr>
          <a:lstStyle/>
          <a:p>
            <a:r>
              <a:rPr lang="en-US" dirty="0">
                <a:sym typeface="Symbol" pitchFamily="18" charset="2"/>
              </a:rPr>
              <a:t>No processes are allocated enough frames</a:t>
            </a:r>
          </a:p>
          <a:p>
            <a:pPr lvl="1"/>
            <a:r>
              <a:rPr lang="en-US" dirty="0">
                <a:sym typeface="Symbol" pitchFamily="18" charset="2"/>
              </a:rPr>
              <a:t>Hold and wait</a:t>
            </a:r>
          </a:p>
          <a:p>
            <a:pPr lvl="1"/>
            <a:r>
              <a:rPr lang="en-US" dirty="0">
                <a:sym typeface="Symbol" pitchFamily="18" charset="2"/>
              </a:rPr>
              <a:t>Possible deadlock</a:t>
            </a:r>
          </a:p>
          <a:p>
            <a:r>
              <a:rPr lang="en-US" dirty="0">
                <a:sym typeface="Symbol" pitchFamily="18" charset="2"/>
              </a:rPr>
              <a:t>Under page replacement</a:t>
            </a:r>
          </a:p>
          <a:p>
            <a:pPr lvl="1"/>
            <a:r>
              <a:rPr lang="en-US" dirty="0">
                <a:sym typeface="Symbol" pitchFamily="18" charset="2"/>
              </a:rPr>
              <a:t>Move allocation/request edges from one process to another process</a:t>
            </a:r>
          </a:p>
          <a:p>
            <a:pPr lvl="1"/>
            <a:r>
              <a:rPr lang="en-US" dirty="0">
                <a:sym typeface="Symbol" pitchFamily="18" charset="2"/>
              </a:rPr>
              <a:t>Problem can not be solved with regular page replacement policy</a:t>
            </a:r>
          </a:p>
          <a:p>
            <a:pPr lvl="1"/>
            <a:r>
              <a:rPr lang="en-US" dirty="0">
                <a:sym typeface="Symbol" pitchFamily="18" charset="2"/>
              </a:rPr>
              <a:t>Getting worst as more processes are admitted </a:t>
            </a:r>
          </a:p>
        </p:txBody>
      </p:sp>
      <p:sp>
        <p:nvSpPr>
          <p:cNvPr id="5" name="Slide Number Placeholder 4">
            <a:extLst>
              <a:ext uri="{FF2B5EF4-FFF2-40B4-BE49-F238E27FC236}">
                <a16:creationId xmlns:a16="http://schemas.microsoft.com/office/drawing/2014/main" id="{FD67AF78-A05C-D54E-AF7B-62164C6713FC}"/>
              </a:ext>
            </a:extLst>
          </p:cNvPr>
          <p:cNvSpPr>
            <a:spLocks noGrp="1"/>
          </p:cNvSpPr>
          <p:nvPr>
            <p:ph type="sldNum" sz="quarter" idx="12"/>
          </p:nvPr>
        </p:nvSpPr>
        <p:spPr>
          <a:xfrm>
            <a:off x="10939195" y="6583680"/>
            <a:ext cx="978485" cy="274320"/>
          </a:xfrm>
        </p:spPr>
        <p:txBody>
          <a:bodyPr/>
          <a:lstStyle/>
          <a:p>
            <a:fld id="{E6A16A8C-2D22-4328-8F0C-A3AB0F93D1AC}" type="slidenum">
              <a:rPr lang="en-US" smtClean="0"/>
              <a:pPr/>
              <a:t>26</a:t>
            </a:fld>
            <a:endParaRPr lang="en-US" dirty="0"/>
          </a:p>
        </p:txBody>
      </p:sp>
      <p:sp>
        <p:nvSpPr>
          <p:cNvPr id="57348" name="Text Box 4"/>
          <p:cNvSpPr txBox="1">
            <a:spLocks noChangeArrowheads="1"/>
          </p:cNvSpPr>
          <p:nvPr/>
        </p:nvSpPr>
        <p:spPr bwMode="auto">
          <a:xfrm>
            <a:off x="7239001" y="1828801"/>
            <a:ext cx="939681" cy="307777"/>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sz="1400" dirty="0">
                <a:latin typeface="Candara" panose="020E0502030303020204" pitchFamily="34" charset="0"/>
              </a:rPr>
              <a:t>processes</a:t>
            </a:r>
          </a:p>
        </p:txBody>
      </p:sp>
      <p:sp>
        <p:nvSpPr>
          <p:cNvPr id="57349" name="Rectangle 5"/>
          <p:cNvSpPr>
            <a:spLocks noChangeArrowheads="1"/>
          </p:cNvSpPr>
          <p:nvPr/>
        </p:nvSpPr>
        <p:spPr bwMode="auto">
          <a:xfrm>
            <a:off x="8001000" y="1371601"/>
            <a:ext cx="1560042" cy="307777"/>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sz="1400" dirty="0">
                <a:latin typeface="Candara" panose="020E0502030303020204" pitchFamily="34" charset="0"/>
              </a:rPr>
              <a:t>frames in memory</a:t>
            </a:r>
          </a:p>
        </p:txBody>
      </p:sp>
      <p:grpSp>
        <p:nvGrpSpPr>
          <p:cNvPr id="57350" name="Group 6"/>
          <p:cNvGrpSpPr>
            <a:grpSpLocks/>
          </p:cNvGrpSpPr>
          <p:nvPr/>
        </p:nvGrpSpPr>
        <p:grpSpPr bwMode="auto">
          <a:xfrm>
            <a:off x="7620000" y="1905000"/>
            <a:ext cx="2438400" cy="1752600"/>
            <a:chOff x="3840" y="1200"/>
            <a:chExt cx="1536" cy="1104"/>
          </a:xfrm>
        </p:grpSpPr>
        <p:sp>
          <p:nvSpPr>
            <p:cNvPr id="57381" name="Oval 7"/>
            <p:cNvSpPr>
              <a:spLocks noChangeArrowheads="1"/>
            </p:cNvSpPr>
            <p:nvPr/>
          </p:nvSpPr>
          <p:spPr bwMode="auto">
            <a:xfrm>
              <a:off x="3840" y="1400"/>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sp>
          <p:nvSpPr>
            <p:cNvPr id="57382" name="Rectangle 8"/>
            <p:cNvSpPr>
              <a:spLocks noChangeArrowheads="1"/>
            </p:cNvSpPr>
            <p:nvPr/>
          </p:nvSpPr>
          <p:spPr bwMode="auto">
            <a:xfrm>
              <a:off x="4416" y="1200"/>
              <a:ext cx="384" cy="1104"/>
            </a:xfrm>
            <a:prstGeom prst="rect">
              <a:avLst/>
            </a:prstGeom>
            <a:solidFill>
              <a:schemeClr val="bg1"/>
            </a:solidFill>
            <a:ln w="12700">
              <a:solidFill>
                <a:schemeClr val="tx1"/>
              </a:solidFill>
              <a:miter lim="800000"/>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383" name="AutoShape 9"/>
            <p:cNvCxnSpPr>
              <a:cxnSpLocks noChangeShapeType="1"/>
              <a:stCxn id="57381" idx="6"/>
            </p:cNvCxnSpPr>
            <p:nvPr/>
          </p:nvCxnSpPr>
          <p:spPr bwMode="auto">
            <a:xfrm flipV="1">
              <a:off x="4072" y="1488"/>
              <a:ext cx="345" cy="28"/>
            </a:xfrm>
            <a:prstGeom prst="straightConnector1">
              <a:avLst/>
            </a:prstGeom>
            <a:noFill/>
            <a:ln w="3175">
              <a:solidFill>
                <a:srgbClr val="FF0000"/>
              </a:solidFill>
              <a:round/>
              <a:headEnd/>
              <a:tailEnd type="triangle" w="med" len="med"/>
            </a:ln>
          </p:spPr>
        </p:cxnSp>
        <p:cxnSp>
          <p:nvCxnSpPr>
            <p:cNvPr id="57384" name="AutoShape 10"/>
            <p:cNvCxnSpPr>
              <a:cxnSpLocks noChangeShapeType="1"/>
              <a:stCxn id="57385" idx="2"/>
              <a:endCxn id="57381" idx="0"/>
            </p:cNvCxnSpPr>
            <p:nvPr/>
          </p:nvCxnSpPr>
          <p:spPr bwMode="auto">
            <a:xfrm flipH="1">
              <a:off x="3956" y="1300"/>
              <a:ext cx="556" cy="100"/>
            </a:xfrm>
            <a:prstGeom prst="straightConnector1">
              <a:avLst/>
            </a:prstGeom>
            <a:noFill/>
            <a:ln w="3175">
              <a:solidFill>
                <a:srgbClr val="FF0000"/>
              </a:solidFill>
              <a:round/>
              <a:headEnd/>
              <a:tailEnd type="triangle" w="med" len="med"/>
            </a:ln>
          </p:spPr>
        </p:cxnSp>
        <p:sp>
          <p:nvSpPr>
            <p:cNvPr id="57385" name="Oval 11"/>
            <p:cNvSpPr>
              <a:spLocks noChangeArrowheads="1"/>
            </p:cNvSpPr>
            <p:nvPr/>
          </p:nvSpPr>
          <p:spPr bwMode="auto">
            <a:xfrm>
              <a:off x="4512" y="1256"/>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86" name="Oval 12"/>
            <p:cNvSpPr>
              <a:spLocks noChangeArrowheads="1"/>
            </p:cNvSpPr>
            <p:nvPr/>
          </p:nvSpPr>
          <p:spPr bwMode="auto">
            <a:xfrm>
              <a:off x="4656" y="1256"/>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87" name="Oval 13"/>
            <p:cNvSpPr>
              <a:spLocks noChangeArrowheads="1"/>
            </p:cNvSpPr>
            <p:nvPr/>
          </p:nvSpPr>
          <p:spPr bwMode="auto">
            <a:xfrm>
              <a:off x="4512" y="1544"/>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88" name="Oval 14"/>
            <p:cNvSpPr>
              <a:spLocks noChangeArrowheads="1"/>
            </p:cNvSpPr>
            <p:nvPr/>
          </p:nvSpPr>
          <p:spPr bwMode="auto">
            <a:xfrm>
              <a:off x="4656" y="1544"/>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389" name="AutoShape 15"/>
            <p:cNvCxnSpPr>
              <a:cxnSpLocks noChangeShapeType="1"/>
              <a:stCxn id="57387" idx="2"/>
              <a:endCxn id="57381" idx="5"/>
            </p:cNvCxnSpPr>
            <p:nvPr/>
          </p:nvCxnSpPr>
          <p:spPr bwMode="auto">
            <a:xfrm flipH="1">
              <a:off x="4038" y="1588"/>
              <a:ext cx="474" cy="10"/>
            </a:xfrm>
            <a:prstGeom prst="straightConnector1">
              <a:avLst/>
            </a:prstGeom>
            <a:noFill/>
            <a:ln w="3175">
              <a:solidFill>
                <a:srgbClr val="FF0000"/>
              </a:solidFill>
              <a:round/>
              <a:headEnd/>
              <a:tailEnd type="triangle" w="med" len="med"/>
            </a:ln>
          </p:spPr>
        </p:cxnSp>
        <p:sp>
          <p:nvSpPr>
            <p:cNvPr id="57390" name="Oval 16"/>
            <p:cNvSpPr>
              <a:spLocks noChangeArrowheads="1"/>
            </p:cNvSpPr>
            <p:nvPr/>
          </p:nvSpPr>
          <p:spPr bwMode="auto">
            <a:xfrm>
              <a:off x="5144" y="1392"/>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391" name="AutoShape 17"/>
            <p:cNvCxnSpPr>
              <a:cxnSpLocks noChangeShapeType="1"/>
              <a:stCxn id="57386" idx="6"/>
              <a:endCxn id="57390" idx="0"/>
            </p:cNvCxnSpPr>
            <p:nvPr/>
          </p:nvCxnSpPr>
          <p:spPr bwMode="auto">
            <a:xfrm>
              <a:off x="4744" y="1300"/>
              <a:ext cx="516" cy="92"/>
            </a:xfrm>
            <a:prstGeom prst="straightConnector1">
              <a:avLst/>
            </a:prstGeom>
            <a:noFill/>
            <a:ln w="3175">
              <a:solidFill>
                <a:srgbClr val="FF0000"/>
              </a:solidFill>
              <a:round/>
              <a:headEnd/>
              <a:tailEnd type="triangle" w="med" len="med"/>
            </a:ln>
          </p:spPr>
        </p:cxnSp>
        <p:cxnSp>
          <p:nvCxnSpPr>
            <p:cNvPr id="57392" name="AutoShape 18"/>
            <p:cNvCxnSpPr>
              <a:cxnSpLocks noChangeShapeType="1"/>
              <a:stCxn id="57388" idx="6"/>
              <a:endCxn id="57390" idx="3"/>
            </p:cNvCxnSpPr>
            <p:nvPr/>
          </p:nvCxnSpPr>
          <p:spPr bwMode="auto">
            <a:xfrm>
              <a:off x="4744" y="1588"/>
              <a:ext cx="434" cy="2"/>
            </a:xfrm>
            <a:prstGeom prst="straightConnector1">
              <a:avLst/>
            </a:prstGeom>
            <a:noFill/>
            <a:ln w="3175">
              <a:solidFill>
                <a:srgbClr val="FF0000"/>
              </a:solidFill>
              <a:round/>
              <a:headEnd/>
              <a:tailEnd type="triangle" w="med" len="med"/>
            </a:ln>
          </p:spPr>
        </p:cxnSp>
        <p:cxnSp>
          <p:nvCxnSpPr>
            <p:cNvPr id="57393" name="AutoShape 19"/>
            <p:cNvCxnSpPr>
              <a:cxnSpLocks noChangeShapeType="1"/>
              <a:stCxn id="57390" idx="2"/>
            </p:cNvCxnSpPr>
            <p:nvPr/>
          </p:nvCxnSpPr>
          <p:spPr bwMode="auto">
            <a:xfrm flipH="1" flipV="1">
              <a:off x="4799" y="1496"/>
              <a:ext cx="345" cy="12"/>
            </a:xfrm>
            <a:prstGeom prst="straightConnector1">
              <a:avLst/>
            </a:prstGeom>
            <a:noFill/>
            <a:ln w="3175">
              <a:solidFill>
                <a:srgbClr val="FF0000"/>
              </a:solidFill>
              <a:round/>
              <a:headEnd/>
              <a:tailEnd type="triangle" w="med" len="med"/>
            </a:ln>
          </p:spPr>
        </p:cxnSp>
        <p:cxnSp>
          <p:nvCxnSpPr>
            <p:cNvPr id="57394" name="AutoShape 20"/>
            <p:cNvCxnSpPr>
              <a:cxnSpLocks noChangeShapeType="1"/>
              <a:stCxn id="57381" idx="7"/>
            </p:cNvCxnSpPr>
            <p:nvPr/>
          </p:nvCxnSpPr>
          <p:spPr bwMode="auto">
            <a:xfrm flipV="1">
              <a:off x="4038" y="1412"/>
              <a:ext cx="378" cy="22"/>
            </a:xfrm>
            <a:prstGeom prst="straightConnector1">
              <a:avLst/>
            </a:prstGeom>
            <a:noFill/>
            <a:ln w="3175">
              <a:solidFill>
                <a:srgbClr val="FF0000"/>
              </a:solidFill>
              <a:round/>
              <a:headEnd/>
              <a:tailEnd type="triangle" w="med" len="med"/>
            </a:ln>
          </p:spPr>
        </p:cxnSp>
        <p:cxnSp>
          <p:nvCxnSpPr>
            <p:cNvPr id="57395" name="AutoShape 21"/>
            <p:cNvCxnSpPr>
              <a:cxnSpLocks noChangeShapeType="1"/>
              <a:stCxn id="57390" idx="1"/>
            </p:cNvCxnSpPr>
            <p:nvPr/>
          </p:nvCxnSpPr>
          <p:spPr bwMode="auto">
            <a:xfrm flipH="1" flipV="1">
              <a:off x="4800" y="1392"/>
              <a:ext cx="378" cy="34"/>
            </a:xfrm>
            <a:prstGeom prst="straightConnector1">
              <a:avLst/>
            </a:prstGeom>
            <a:noFill/>
            <a:ln w="3175">
              <a:solidFill>
                <a:srgbClr val="FF0000"/>
              </a:solidFill>
              <a:round/>
              <a:headEnd/>
              <a:tailEnd type="triangle" w="med" len="med"/>
            </a:ln>
          </p:spPr>
        </p:cxnSp>
        <p:sp>
          <p:nvSpPr>
            <p:cNvPr id="57396" name="Oval 22"/>
            <p:cNvSpPr>
              <a:spLocks noChangeArrowheads="1"/>
            </p:cNvSpPr>
            <p:nvPr/>
          </p:nvSpPr>
          <p:spPr bwMode="auto">
            <a:xfrm>
              <a:off x="3840" y="1968"/>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397" name="AutoShape 23"/>
            <p:cNvCxnSpPr>
              <a:cxnSpLocks noChangeShapeType="1"/>
              <a:stCxn id="57396" idx="6"/>
            </p:cNvCxnSpPr>
            <p:nvPr/>
          </p:nvCxnSpPr>
          <p:spPr bwMode="auto">
            <a:xfrm flipV="1">
              <a:off x="4072" y="2056"/>
              <a:ext cx="345" cy="28"/>
            </a:xfrm>
            <a:prstGeom prst="straightConnector1">
              <a:avLst/>
            </a:prstGeom>
            <a:noFill/>
            <a:ln w="3175">
              <a:solidFill>
                <a:srgbClr val="FF0000"/>
              </a:solidFill>
              <a:round/>
              <a:headEnd/>
              <a:tailEnd type="triangle" w="med" len="med"/>
            </a:ln>
          </p:spPr>
        </p:cxnSp>
        <p:cxnSp>
          <p:nvCxnSpPr>
            <p:cNvPr id="57398" name="AutoShape 24"/>
            <p:cNvCxnSpPr>
              <a:cxnSpLocks noChangeShapeType="1"/>
              <a:stCxn id="57399" idx="2"/>
              <a:endCxn id="57396" idx="0"/>
            </p:cNvCxnSpPr>
            <p:nvPr/>
          </p:nvCxnSpPr>
          <p:spPr bwMode="auto">
            <a:xfrm flipH="1">
              <a:off x="3956" y="1876"/>
              <a:ext cx="556" cy="92"/>
            </a:xfrm>
            <a:prstGeom prst="straightConnector1">
              <a:avLst/>
            </a:prstGeom>
            <a:noFill/>
            <a:ln w="3175">
              <a:solidFill>
                <a:srgbClr val="FF0000"/>
              </a:solidFill>
              <a:round/>
              <a:headEnd/>
              <a:tailEnd type="triangle" w="med" len="med"/>
            </a:ln>
          </p:spPr>
        </p:cxnSp>
        <p:sp>
          <p:nvSpPr>
            <p:cNvPr id="57399" name="Oval 25"/>
            <p:cNvSpPr>
              <a:spLocks noChangeArrowheads="1"/>
            </p:cNvSpPr>
            <p:nvPr/>
          </p:nvSpPr>
          <p:spPr bwMode="auto">
            <a:xfrm>
              <a:off x="4512" y="1832"/>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400" name="Oval 26"/>
            <p:cNvSpPr>
              <a:spLocks noChangeArrowheads="1"/>
            </p:cNvSpPr>
            <p:nvPr/>
          </p:nvSpPr>
          <p:spPr bwMode="auto">
            <a:xfrm>
              <a:off x="4656" y="1832"/>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401" name="Oval 27"/>
            <p:cNvSpPr>
              <a:spLocks noChangeArrowheads="1"/>
            </p:cNvSpPr>
            <p:nvPr/>
          </p:nvSpPr>
          <p:spPr bwMode="auto">
            <a:xfrm>
              <a:off x="4512" y="2120"/>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402" name="Oval 28"/>
            <p:cNvSpPr>
              <a:spLocks noChangeArrowheads="1"/>
            </p:cNvSpPr>
            <p:nvPr/>
          </p:nvSpPr>
          <p:spPr bwMode="auto">
            <a:xfrm>
              <a:off x="4656" y="2120"/>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403" name="AutoShape 29"/>
            <p:cNvCxnSpPr>
              <a:cxnSpLocks noChangeShapeType="1"/>
              <a:stCxn id="57401" idx="2"/>
              <a:endCxn id="57396" idx="5"/>
            </p:cNvCxnSpPr>
            <p:nvPr/>
          </p:nvCxnSpPr>
          <p:spPr bwMode="auto">
            <a:xfrm flipH="1">
              <a:off x="4038" y="2164"/>
              <a:ext cx="474" cy="2"/>
            </a:xfrm>
            <a:prstGeom prst="straightConnector1">
              <a:avLst/>
            </a:prstGeom>
            <a:noFill/>
            <a:ln w="3175">
              <a:solidFill>
                <a:srgbClr val="FF0000"/>
              </a:solidFill>
              <a:round/>
              <a:headEnd/>
              <a:tailEnd type="triangle" w="med" len="med"/>
            </a:ln>
          </p:spPr>
        </p:cxnSp>
        <p:sp>
          <p:nvSpPr>
            <p:cNvPr id="57404" name="Oval 30"/>
            <p:cNvSpPr>
              <a:spLocks noChangeArrowheads="1"/>
            </p:cNvSpPr>
            <p:nvPr/>
          </p:nvSpPr>
          <p:spPr bwMode="auto">
            <a:xfrm>
              <a:off x="5144" y="1968"/>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405" name="AutoShape 31"/>
            <p:cNvCxnSpPr>
              <a:cxnSpLocks noChangeShapeType="1"/>
              <a:stCxn id="57400" idx="6"/>
              <a:endCxn id="57404" idx="0"/>
            </p:cNvCxnSpPr>
            <p:nvPr/>
          </p:nvCxnSpPr>
          <p:spPr bwMode="auto">
            <a:xfrm>
              <a:off x="4744" y="1876"/>
              <a:ext cx="516" cy="92"/>
            </a:xfrm>
            <a:prstGeom prst="straightConnector1">
              <a:avLst/>
            </a:prstGeom>
            <a:noFill/>
            <a:ln w="3175">
              <a:solidFill>
                <a:srgbClr val="FF0000"/>
              </a:solidFill>
              <a:round/>
              <a:headEnd/>
              <a:tailEnd type="triangle" w="med" len="med"/>
            </a:ln>
          </p:spPr>
        </p:cxnSp>
        <p:cxnSp>
          <p:nvCxnSpPr>
            <p:cNvPr id="57406" name="AutoShape 32"/>
            <p:cNvCxnSpPr>
              <a:cxnSpLocks noChangeShapeType="1"/>
              <a:stCxn id="57402" idx="6"/>
              <a:endCxn id="57404" idx="3"/>
            </p:cNvCxnSpPr>
            <p:nvPr/>
          </p:nvCxnSpPr>
          <p:spPr bwMode="auto">
            <a:xfrm>
              <a:off x="4744" y="2164"/>
              <a:ext cx="434" cy="2"/>
            </a:xfrm>
            <a:prstGeom prst="straightConnector1">
              <a:avLst/>
            </a:prstGeom>
            <a:noFill/>
            <a:ln w="3175">
              <a:solidFill>
                <a:srgbClr val="FF0000"/>
              </a:solidFill>
              <a:round/>
              <a:headEnd/>
              <a:tailEnd type="triangle" w="med" len="med"/>
            </a:ln>
          </p:spPr>
        </p:cxnSp>
        <p:cxnSp>
          <p:nvCxnSpPr>
            <p:cNvPr id="57407" name="AutoShape 33"/>
            <p:cNvCxnSpPr>
              <a:cxnSpLocks noChangeShapeType="1"/>
              <a:stCxn id="57404" idx="2"/>
            </p:cNvCxnSpPr>
            <p:nvPr/>
          </p:nvCxnSpPr>
          <p:spPr bwMode="auto">
            <a:xfrm flipH="1" flipV="1">
              <a:off x="4799" y="2072"/>
              <a:ext cx="345" cy="12"/>
            </a:xfrm>
            <a:prstGeom prst="straightConnector1">
              <a:avLst/>
            </a:prstGeom>
            <a:noFill/>
            <a:ln w="3175">
              <a:solidFill>
                <a:srgbClr val="FF0000"/>
              </a:solidFill>
              <a:round/>
              <a:headEnd/>
              <a:tailEnd type="triangle" w="med" len="med"/>
            </a:ln>
          </p:spPr>
        </p:cxnSp>
        <p:cxnSp>
          <p:nvCxnSpPr>
            <p:cNvPr id="57408" name="AutoShape 34"/>
            <p:cNvCxnSpPr>
              <a:cxnSpLocks noChangeShapeType="1"/>
              <a:stCxn id="57396" idx="7"/>
            </p:cNvCxnSpPr>
            <p:nvPr/>
          </p:nvCxnSpPr>
          <p:spPr bwMode="auto">
            <a:xfrm flipV="1">
              <a:off x="4038" y="1980"/>
              <a:ext cx="378" cy="22"/>
            </a:xfrm>
            <a:prstGeom prst="straightConnector1">
              <a:avLst/>
            </a:prstGeom>
            <a:noFill/>
            <a:ln w="3175">
              <a:solidFill>
                <a:srgbClr val="FF0000"/>
              </a:solidFill>
              <a:round/>
              <a:headEnd/>
              <a:tailEnd type="triangle" w="med" len="med"/>
            </a:ln>
          </p:spPr>
        </p:cxnSp>
        <p:cxnSp>
          <p:nvCxnSpPr>
            <p:cNvPr id="57409" name="AutoShape 35"/>
            <p:cNvCxnSpPr>
              <a:cxnSpLocks noChangeShapeType="1"/>
              <a:stCxn id="57404" idx="1"/>
            </p:cNvCxnSpPr>
            <p:nvPr/>
          </p:nvCxnSpPr>
          <p:spPr bwMode="auto">
            <a:xfrm flipH="1" flipV="1">
              <a:off x="4800" y="1968"/>
              <a:ext cx="378" cy="34"/>
            </a:xfrm>
            <a:prstGeom prst="straightConnector1">
              <a:avLst/>
            </a:prstGeom>
            <a:noFill/>
            <a:ln w="3175">
              <a:solidFill>
                <a:srgbClr val="FF0000"/>
              </a:solidFill>
              <a:round/>
              <a:headEnd/>
              <a:tailEnd type="triangle" w="med" len="med"/>
            </a:ln>
          </p:spPr>
        </p:cxnSp>
      </p:grpSp>
      <p:grpSp>
        <p:nvGrpSpPr>
          <p:cNvPr id="3" name="Group 36"/>
          <p:cNvGrpSpPr>
            <a:grpSpLocks/>
          </p:cNvGrpSpPr>
          <p:nvPr/>
        </p:nvGrpSpPr>
        <p:grpSpPr bwMode="auto">
          <a:xfrm>
            <a:off x="7620000" y="4114800"/>
            <a:ext cx="2438400" cy="1752600"/>
            <a:chOff x="3840" y="2592"/>
            <a:chExt cx="1536" cy="1104"/>
          </a:xfrm>
        </p:grpSpPr>
        <p:sp>
          <p:nvSpPr>
            <p:cNvPr id="57352" name="Oval 37"/>
            <p:cNvSpPr>
              <a:spLocks noChangeArrowheads="1"/>
            </p:cNvSpPr>
            <p:nvPr/>
          </p:nvSpPr>
          <p:spPr bwMode="auto">
            <a:xfrm>
              <a:off x="3840" y="2792"/>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sp>
          <p:nvSpPr>
            <p:cNvPr id="57353" name="Rectangle 38"/>
            <p:cNvSpPr>
              <a:spLocks noChangeArrowheads="1"/>
            </p:cNvSpPr>
            <p:nvPr/>
          </p:nvSpPr>
          <p:spPr bwMode="auto">
            <a:xfrm>
              <a:off x="4416" y="2592"/>
              <a:ext cx="384" cy="1104"/>
            </a:xfrm>
            <a:prstGeom prst="rect">
              <a:avLst/>
            </a:prstGeom>
            <a:solidFill>
              <a:schemeClr val="bg1"/>
            </a:solidFill>
            <a:ln w="12700">
              <a:solidFill>
                <a:schemeClr val="tx1"/>
              </a:solidFill>
              <a:miter lim="800000"/>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354" name="AutoShape 39"/>
            <p:cNvCxnSpPr>
              <a:cxnSpLocks noChangeShapeType="1"/>
              <a:stCxn id="57352" idx="6"/>
            </p:cNvCxnSpPr>
            <p:nvPr/>
          </p:nvCxnSpPr>
          <p:spPr bwMode="auto">
            <a:xfrm flipV="1">
              <a:off x="4072" y="2880"/>
              <a:ext cx="345" cy="28"/>
            </a:xfrm>
            <a:prstGeom prst="straightConnector1">
              <a:avLst/>
            </a:prstGeom>
            <a:noFill/>
            <a:ln w="3175">
              <a:solidFill>
                <a:srgbClr val="FF0000"/>
              </a:solidFill>
              <a:round/>
              <a:headEnd/>
              <a:tailEnd type="triangle" w="med" len="med"/>
            </a:ln>
          </p:spPr>
        </p:cxnSp>
        <p:cxnSp>
          <p:nvCxnSpPr>
            <p:cNvPr id="57355" name="AutoShape 40"/>
            <p:cNvCxnSpPr>
              <a:cxnSpLocks noChangeShapeType="1"/>
              <a:endCxn id="57352" idx="0"/>
            </p:cNvCxnSpPr>
            <p:nvPr/>
          </p:nvCxnSpPr>
          <p:spPr bwMode="auto">
            <a:xfrm flipH="1">
              <a:off x="3956" y="2692"/>
              <a:ext cx="460" cy="100"/>
            </a:xfrm>
            <a:prstGeom prst="straightConnector1">
              <a:avLst/>
            </a:prstGeom>
            <a:noFill/>
            <a:ln w="3175">
              <a:solidFill>
                <a:srgbClr val="0066FF"/>
              </a:solidFill>
              <a:round/>
              <a:headEnd type="triangle" w="med" len="med"/>
              <a:tailEnd/>
            </a:ln>
          </p:spPr>
        </p:cxnSp>
        <p:sp>
          <p:nvSpPr>
            <p:cNvPr id="57356" name="Oval 41"/>
            <p:cNvSpPr>
              <a:spLocks noChangeArrowheads="1"/>
            </p:cNvSpPr>
            <p:nvPr/>
          </p:nvSpPr>
          <p:spPr bwMode="auto">
            <a:xfrm>
              <a:off x="4512" y="2648"/>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57" name="Oval 42"/>
            <p:cNvSpPr>
              <a:spLocks noChangeArrowheads="1"/>
            </p:cNvSpPr>
            <p:nvPr/>
          </p:nvSpPr>
          <p:spPr bwMode="auto">
            <a:xfrm>
              <a:off x="4656" y="2648"/>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58" name="Oval 43"/>
            <p:cNvSpPr>
              <a:spLocks noChangeArrowheads="1"/>
            </p:cNvSpPr>
            <p:nvPr/>
          </p:nvSpPr>
          <p:spPr bwMode="auto">
            <a:xfrm>
              <a:off x="4512" y="2936"/>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59" name="Oval 44"/>
            <p:cNvSpPr>
              <a:spLocks noChangeArrowheads="1"/>
            </p:cNvSpPr>
            <p:nvPr/>
          </p:nvSpPr>
          <p:spPr bwMode="auto">
            <a:xfrm>
              <a:off x="4656" y="2936"/>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360" name="AutoShape 45"/>
            <p:cNvCxnSpPr>
              <a:cxnSpLocks noChangeShapeType="1"/>
              <a:stCxn id="57358" idx="2"/>
              <a:endCxn id="57352" idx="5"/>
            </p:cNvCxnSpPr>
            <p:nvPr/>
          </p:nvCxnSpPr>
          <p:spPr bwMode="auto">
            <a:xfrm flipH="1">
              <a:off x="4038" y="2980"/>
              <a:ext cx="474" cy="10"/>
            </a:xfrm>
            <a:prstGeom prst="straightConnector1">
              <a:avLst/>
            </a:prstGeom>
            <a:noFill/>
            <a:ln w="3175">
              <a:solidFill>
                <a:srgbClr val="FF0000"/>
              </a:solidFill>
              <a:round/>
              <a:headEnd/>
              <a:tailEnd type="triangle" w="med" len="med"/>
            </a:ln>
          </p:spPr>
        </p:cxnSp>
        <p:sp>
          <p:nvSpPr>
            <p:cNvPr id="57361" name="Oval 46"/>
            <p:cNvSpPr>
              <a:spLocks noChangeArrowheads="1"/>
            </p:cNvSpPr>
            <p:nvPr/>
          </p:nvSpPr>
          <p:spPr bwMode="auto">
            <a:xfrm>
              <a:off x="5144" y="2784"/>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362" name="AutoShape 47"/>
            <p:cNvCxnSpPr>
              <a:cxnSpLocks noChangeShapeType="1"/>
              <a:stCxn id="57357" idx="6"/>
              <a:endCxn id="57361" idx="0"/>
            </p:cNvCxnSpPr>
            <p:nvPr/>
          </p:nvCxnSpPr>
          <p:spPr bwMode="auto">
            <a:xfrm>
              <a:off x="4744" y="2692"/>
              <a:ext cx="516" cy="92"/>
            </a:xfrm>
            <a:prstGeom prst="straightConnector1">
              <a:avLst/>
            </a:prstGeom>
            <a:noFill/>
            <a:ln w="3175">
              <a:solidFill>
                <a:srgbClr val="FF0000"/>
              </a:solidFill>
              <a:round/>
              <a:headEnd/>
              <a:tailEnd type="triangle" w="med" len="med"/>
            </a:ln>
          </p:spPr>
        </p:cxnSp>
        <p:cxnSp>
          <p:nvCxnSpPr>
            <p:cNvPr id="57363" name="AutoShape 48"/>
            <p:cNvCxnSpPr>
              <a:cxnSpLocks noChangeShapeType="1"/>
              <a:stCxn id="57359" idx="6"/>
              <a:endCxn id="57361" idx="3"/>
            </p:cNvCxnSpPr>
            <p:nvPr/>
          </p:nvCxnSpPr>
          <p:spPr bwMode="auto">
            <a:xfrm>
              <a:off x="4744" y="2980"/>
              <a:ext cx="434" cy="2"/>
            </a:xfrm>
            <a:prstGeom prst="straightConnector1">
              <a:avLst/>
            </a:prstGeom>
            <a:noFill/>
            <a:ln w="3175">
              <a:solidFill>
                <a:srgbClr val="FF0000"/>
              </a:solidFill>
              <a:round/>
              <a:headEnd/>
              <a:tailEnd type="triangle" w="med" len="med"/>
            </a:ln>
          </p:spPr>
        </p:cxnSp>
        <p:cxnSp>
          <p:nvCxnSpPr>
            <p:cNvPr id="57364" name="AutoShape 49"/>
            <p:cNvCxnSpPr>
              <a:cxnSpLocks noChangeShapeType="1"/>
              <a:stCxn id="57361" idx="2"/>
            </p:cNvCxnSpPr>
            <p:nvPr/>
          </p:nvCxnSpPr>
          <p:spPr bwMode="auto">
            <a:xfrm flipH="1" flipV="1">
              <a:off x="4799" y="2888"/>
              <a:ext cx="345" cy="12"/>
            </a:xfrm>
            <a:prstGeom prst="straightConnector1">
              <a:avLst/>
            </a:prstGeom>
            <a:noFill/>
            <a:ln w="3175">
              <a:solidFill>
                <a:srgbClr val="FF0000"/>
              </a:solidFill>
              <a:round/>
              <a:headEnd/>
              <a:tailEnd type="triangle" w="med" len="med"/>
            </a:ln>
          </p:spPr>
        </p:cxnSp>
        <p:cxnSp>
          <p:nvCxnSpPr>
            <p:cNvPr id="57365" name="AutoShape 50"/>
            <p:cNvCxnSpPr>
              <a:cxnSpLocks noChangeShapeType="1"/>
              <a:stCxn id="57352" idx="7"/>
            </p:cNvCxnSpPr>
            <p:nvPr/>
          </p:nvCxnSpPr>
          <p:spPr bwMode="auto">
            <a:xfrm flipV="1">
              <a:off x="4038" y="2804"/>
              <a:ext cx="378" cy="22"/>
            </a:xfrm>
            <a:prstGeom prst="straightConnector1">
              <a:avLst/>
            </a:prstGeom>
            <a:noFill/>
            <a:ln w="3175">
              <a:solidFill>
                <a:srgbClr val="FF0000"/>
              </a:solidFill>
              <a:round/>
              <a:headEnd/>
              <a:tailEnd type="triangle" w="med" len="med"/>
            </a:ln>
          </p:spPr>
        </p:cxnSp>
        <p:cxnSp>
          <p:nvCxnSpPr>
            <p:cNvPr id="57366" name="AutoShape 51"/>
            <p:cNvCxnSpPr>
              <a:cxnSpLocks noChangeShapeType="1"/>
              <a:stCxn id="57361" idx="1"/>
              <a:endCxn id="57356" idx="4"/>
            </p:cNvCxnSpPr>
            <p:nvPr/>
          </p:nvCxnSpPr>
          <p:spPr bwMode="auto">
            <a:xfrm flipH="1" flipV="1">
              <a:off x="4556" y="2736"/>
              <a:ext cx="622" cy="82"/>
            </a:xfrm>
            <a:prstGeom prst="straightConnector1">
              <a:avLst/>
            </a:prstGeom>
            <a:noFill/>
            <a:ln w="3175">
              <a:solidFill>
                <a:srgbClr val="0066FF"/>
              </a:solidFill>
              <a:round/>
              <a:headEnd type="triangle" w="med" len="med"/>
              <a:tailEnd/>
            </a:ln>
          </p:spPr>
        </p:cxnSp>
        <p:sp>
          <p:nvSpPr>
            <p:cNvPr id="57367" name="Oval 52"/>
            <p:cNvSpPr>
              <a:spLocks noChangeArrowheads="1"/>
            </p:cNvSpPr>
            <p:nvPr/>
          </p:nvSpPr>
          <p:spPr bwMode="auto">
            <a:xfrm>
              <a:off x="3840" y="3360"/>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368" name="AutoShape 53"/>
            <p:cNvCxnSpPr>
              <a:cxnSpLocks noChangeShapeType="1"/>
              <a:stCxn id="57367" idx="6"/>
            </p:cNvCxnSpPr>
            <p:nvPr/>
          </p:nvCxnSpPr>
          <p:spPr bwMode="auto">
            <a:xfrm flipV="1">
              <a:off x="4072" y="3448"/>
              <a:ext cx="345" cy="28"/>
            </a:xfrm>
            <a:prstGeom prst="straightConnector1">
              <a:avLst/>
            </a:prstGeom>
            <a:noFill/>
            <a:ln w="3175">
              <a:solidFill>
                <a:srgbClr val="FF0000"/>
              </a:solidFill>
              <a:round/>
              <a:headEnd/>
              <a:tailEnd type="triangle" w="med" len="med"/>
            </a:ln>
          </p:spPr>
        </p:cxnSp>
        <p:cxnSp>
          <p:nvCxnSpPr>
            <p:cNvPr id="57369" name="AutoShape 54"/>
            <p:cNvCxnSpPr>
              <a:cxnSpLocks noChangeShapeType="1"/>
              <a:stCxn id="57370" idx="2"/>
              <a:endCxn id="57367" idx="0"/>
            </p:cNvCxnSpPr>
            <p:nvPr/>
          </p:nvCxnSpPr>
          <p:spPr bwMode="auto">
            <a:xfrm flipH="1">
              <a:off x="3956" y="3268"/>
              <a:ext cx="556" cy="92"/>
            </a:xfrm>
            <a:prstGeom prst="straightConnector1">
              <a:avLst/>
            </a:prstGeom>
            <a:noFill/>
            <a:ln w="3175">
              <a:solidFill>
                <a:srgbClr val="FF0000"/>
              </a:solidFill>
              <a:round/>
              <a:headEnd/>
              <a:tailEnd type="triangle" w="med" len="med"/>
            </a:ln>
          </p:spPr>
        </p:cxnSp>
        <p:sp>
          <p:nvSpPr>
            <p:cNvPr id="57370" name="Oval 55"/>
            <p:cNvSpPr>
              <a:spLocks noChangeArrowheads="1"/>
            </p:cNvSpPr>
            <p:nvPr/>
          </p:nvSpPr>
          <p:spPr bwMode="auto">
            <a:xfrm>
              <a:off x="4512" y="3224"/>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71" name="Oval 56"/>
            <p:cNvSpPr>
              <a:spLocks noChangeArrowheads="1"/>
            </p:cNvSpPr>
            <p:nvPr/>
          </p:nvSpPr>
          <p:spPr bwMode="auto">
            <a:xfrm>
              <a:off x="4656" y="3224"/>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72" name="Oval 57"/>
            <p:cNvSpPr>
              <a:spLocks noChangeArrowheads="1"/>
            </p:cNvSpPr>
            <p:nvPr/>
          </p:nvSpPr>
          <p:spPr bwMode="auto">
            <a:xfrm>
              <a:off x="4512" y="3512"/>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7373" name="Oval 58"/>
            <p:cNvSpPr>
              <a:spLocks noChangeArrowheads="1"/>
            </p:cNvSpPr>
            <p:nvPr/>
          </p:nvSpPr>
          <p:spPr bwMode="auto">
            <a:xfrm>
              <a:off x="4656" y="3512"/>
              <a:ext cx="88" cy="88"/>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7374" name="AutoShape 59"/>
            <p:cNvCxnSpPr>
              <a:cxnSpLocks noChangeShapeType="1"/>
              <a:stCxn id="57372" idx="2"/>
              <a:endCxn id="57367" idx="5"/>
            </p:cNvCxnSpPr>
            <p:nvPr/>
          </p:nvCxnSpPr>
          <p:spPr bwMode="auto">
            <a:xfrm flipH="1">
              <a:off x="4038" y="3556"/>
              <a:ext cx="474" cy="2"/>
            </a:xfrm>
            <a:prstGeom prst="straightConnector1">
              <a:avLst/>
            </a:prstGeom>
            <a:noFill/>
            <a:ln w="3175">
              <a:solidFill>
                <a:srgbClr val="FF0000"/>
              </a:solidFill>
              <a:round/>
              <a:headEnd/>
              <a:tailEnd type="triangle" w="med" len="med"/>
            </a:ln>
          </p:spPr>
        </p:cxnSp>
        <p:sp>
          <p:nvSpPr>
            <p:cNvPr id="57375" name="Oval 60"/>
            <p:cNvSpPr>
              <a:spLocks noChangeArrowheads="1"/>
            </p:cNvSpPr>
            <p:nvPr/>
          </p:nvSpPr>
          <p:spPr bwMode="auto">
            <a:xfrm>
              <a:off x="5144" y="3360"/>
              <a:ext cx="232" cy="232"/>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7376" name="AutoShape 61"/>
            <p:cNvCxnSpPr>
              <a:cxnSpLocks noChangeShapeType="1"/>
              <a:stCxn id="57371" idx="6"/>
              <a:endCxn id="57375" idx="0"/>
            </p:cNvCxnSpPr>
            <p:nvPr/>
          </p:nvCxnSpPr>
          <p:spPr bwMode="auto">
            <a:xfrm>
              <a:off x="4744" y="3268"/>
              <a:ext cx="516" cy="92"/>
            </a:xfrm>
            <a:prstGeom prst="straightConnector1">
              <a:avLst/>
            </a:prstGeom>
            <a:noFill/>
            <a:ln w="3175">
              <a:solidFill>
                <a:srgbClr val="FF0000"/>
              </a:solidFill>
              <a:round/>
              <a:headEnd/>
              <a:tailEnd type="triangle" w="med" len="med"/>
            </a:ln>
          </p:spPr>
        </p:cxnSp>
        <p:cxnSp>
          <p:nvCxnSpPr>
            <p:cNvPr id="57377" name="AutoShape 62"/>
            <p:cNvCxnSpPr>
              <a:cxnSpLocks noChangeShapeType="1"/>
              <a:stCxn id="57373" idx="6"/>
              <a:endCxn id="57375" idx="3"/>
            </p:cNvCxnSpPr>
            <p:nvPr/>
          </p:nvCxnSpPr>
          <p:spPr bwMode="auto">
            <a:xfrm>
              <a:off x="4744" y="3556"/>
              <a:ext cx="434" cy="2"/>
            </a:xfrm>
            <a:prstGeom prst="straightConnector1">
              <a:avLst/>
            </a:prstGeom>
            <a:noFill/>
            <a:ln w="3175">
              <a:solidFill>
                <a:srgbClr val="FF0000"/>
              </a:solidFill>
              <a:round/>
              <a:headEnd/>
              <a:tailEnd type="triangle" w="med" len="med"/>
            </a:ln>
          </p:spPr>
        </p:cxnSp>
        <p:cxnSp>
          <p:nvCxnSpPr>
            <p:cNvPr id="57378" name="AutoShape 63"/>
            <p:cNvCxnSpPr>
              <a:cxnSpLocks noChangeShapeType="1"/>
              <a:stCxn id="57375" idx="2"/>
            </p:cNvCxnSpPr>
            <p:nvPr/>
          </p:nvCxnSpPr>
          <p:spPr bwMode="auto">
            <a:xfrm flipH="1" flipV="1">
              <a:off x="4799" y="3464"/>
              <a:ext cx="345" cy="12"/>
            </a:xfrm>
            <a:prstGeom prst="straightConnector1">
              <a:avLst/>
            </a:prstGeom>
            <a:noFill/>
            <a:ln w="3175">
              <a:solidFill>
                <a:srgbClr val="FF0000"/>
              </a:solidFill>
              <a:round/>
              <a:headEnd/>
              <a:tailEnd type="triangle" w="med" len="med"/>
            </a:ln>
          </p:spPr>
        </p:cxnSp>
        <p:cxnSp>
          <p:nvCxnSpPr>
            <p:cNvPr id="57379" name="AutoShape 64"/>
            <p:cNvCxnSpPr>
              <a:cxnSpLocks noChangeShapeType="1"/>
              <a:stCxn id="57367" idx="7"/>
            </p:cNvCxnSpPr>
            <p:nvPr/>
          </p:nvCxnSpPr>
          <p:spPr bwMode="auto">
            <a:xfrm flipV="1">
              <a:off x="4038" y="3372"/>
              <a:ext cx="378" cy="22"/>
            </a:xfrm>
            <a:prstGeom prst="straightConnector1">
              <a:avLst/>
            </a:prstGeom>
            <a:noFill/>
            <a:ln w="3175">
              <a:solidFill>
                <a:srgbClr val="FF0000"/>
              </a:solidFill>
              <a:round/>
              <a:headEnd/>
              <a:tailEnd type="triangle" w="med" len="med"/>
            </a:ln>
          </p:spPr>
        </p:cxnSp>
        <p:cxnSp>
          <p:nvCxnSpPr>
            <p:cNvPr id="57380" name="AutoShape 65"/>
            <p:cNvCxnSpPr>
              <a:cxnSpLocks noChangeShapeType="1"/>
              <a:stCxn id="57375" idx="1"/>
            </p:cNvCxnSpPr>
            <p:nvPr/>
          </p:nvCxnSpPr>
          <p:spPr bwMode="auto">
            <a:xfrm flipH="1" flipV="1">
              <a:off x="4800" y="3360"/>
              <a:ext cx="378" cy="34"/>
            </a:xfrm>
            <a:prstGeom prst="straightConnector1">
              <a:avLst/>
            </a:prstGeom>
            <a:noFill/>
            <a:ln w="3175">
              <a:solidFill>
                <a:srgbClr val="FF0000"/>
              </a:solidFill>
              <a:round/>
              <a:headEn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609600" y="152400"/>
            <a:ext cx="10972800" cy="838200"/>
          </a:xfrm>
        </p:spPr>
        <p:txBody>
          <a:bodyPr/>
          <a:lstStyle/>
          <a:p>
            <a:r>
              <a:rPr lang="en-US" dirty="0"/>
              <a:t>Thrashing - How?</a:t>
            </a:r>
          </a:p>
        </p:txBody>
      </p:sp>
      <p:sp>
        <p:nvSpPr>
          <p:cNvPr id="1159171" name="Rectangle 3"/>
          <p:cNvSpPr>
            <a:spLocks noGrp="1" noChangeArrowheads="1"/>
          </p:cNvSpPr>
          <p:nvPr>
            <p:ph sz="half" idx="1"/>
          </p:nvPr>
        </p:nvSpPr>
        <p:spPr>
          <a:xfrm>
            <a:off x="609600" y="1295400"/>
            <a:ext cx="5384800" cy="5504688"/>
          </a:xfrm>
        </p:spPr>
        <p:txBody>
          <a:bodyPr/>
          <a:lstStyle/>
          <a:p>
            <a:r>
              <a:rPr lang="en-US" dirty="0">
                <a:sym typeface="Symbol" pitchFamily="18" charset="2"/>
              </a:rPr>
              <a:t>Prevent hold/wait</a:t>
            </a:r>
          </a:p>
          <a:p>
            <a:r>
              <a:rPr lang="en-US" dirty="0">
                <a:sym typeface="Symbol" pitchFamily="18" charset="2"/>
              </a:rPr>
              <a:t>Let some process fully hold enough frames but the others wait</a:t>
            </a:r>
          </a:p>
        </p:txBody>
      </p:sp>
      <p:sp>
        <p:nvSpPr>
          <p:cNvPr id="4" name="Slide Number Placeholder 3">
            <a:extLst>
              <a:ext uri="{FF2B5EF4-FFF2-40B4-BE49-F238E27FC236}">
                <a16:creationId xmlns:a16="http://schemas.microsoft.com/office/drawing/2014/main" id="{577AFB1B-767C-AD4F-A3B1-EAE37B6ED83F}"/>
              </a:ext>
            </a:extLst>
          </p:cNvPr>
          <p:cNvSpPr>
            <a:spLocks noGrp="1"/>
          </p:cNvSpPr>
          <p:nvPr>
            <p:ph type="sldNum" sz="quarter" idx="12"/>
          </p:nvPr>
        </p:nvSpPr>
        <p:spPr>
          <a:xfrm>
            <a:off x="10939195" y="6583680"/>
            <a:ext cx="978485" cy="274320"/>
          </a:xfrm>
        </p:spPr>
        <p:txBody>
          <a:bodyPr/>
          <a:lstStyle/>
          <a:p>
            <a:fld id="{E6A16A8C-2D22-4328-8F0C-A3AB0F93D1AC}" type="slidenum">
              <a:rPr lang="en-US" smtClean="0"/>
              <a:pPr/>
              <a:t>27</a:t>
            </a:fld>
            <a:endParaRPr lang="en-US" dirty="0"/>
          </a:p>
        </p:txBody>
      </p:sp>
      <p:sp>
        <p:nvSpPr>
          <p:cNvPr id="59396" name="Text Box 4"/>
          <p:cNvSpPr txBox="1">
            <a:spLocks noChangeArrowheads="1"/>
          </p:cNvSpPr>
          <p:nvPr/>
        </p:nvSpPr>
        <p:spPr bwMode="auto">
          <a:xfrm>
            <a:off x="7239001" y="1828801"/>
            <a:ext cx="939681" cy="307777"/>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sz="1400" dirty="0">
                <a:latin typeface="Candara" panose="020E0502030303020204" pitchFamily="34" charset="0"/>
              </a:rPr>
              <a:t>processes</a:t>
            </a:r>
          </a:p>
        </p:txBody>
      </p:sp>
      <p:sp>
        <p:nvSpPr>
          <p:cNvPr id="59397" name="Rectangle 5"/>
          <p:cNvSpPr>
            <a:spLocks noChangeArrowheads="1"/>
          </p:cNvSpPr>
          <p:nvPr/>
        </p:nvSpPr>
        <p:spPr bwMode="auto">
          <a:xfrm>
            <a:off x="8001000" y="1371601"/>
            <a:ext cx="1560042" cy="307777"/>
          </a:xfrm>
          <a:prstGeom prst="rect">
            <a:avLst/>
          </a:prstGeom>
          <a:noFill/>
          <a:ln w="9525">
            <a:noFill/>
            <a:miter lim="800000"/>
            <a:headEnd/>
            <a:tailEnd/>
          </a:ln>
        </p:spPr>
        <p:txBody>
          <a:bodyPr wrap="none">
            <a:spAutoFit/>
          </a:bodyPr>
          <a:lstStyle/>
          <a:p>
            <a:pPr>
              <a:spcBef>
                <a:spcPct val="75000"/>
              </a:spcBef>
              <a:buClr>
                <a:schemeClr val="folHlink"/>
              </a:buClr>
              <a:buSzPct val="80000"/>
              <a:buFont typeface="Wingdings" pitchFamily="2" charset="2"/>
              <a:buNone/>
            </a:pPr>
            <a:r>
              <a:rPr lang="en-US" sz="1400" dirty="0">
                <a:latin typeface="Candara" panose="020E0502030303020204" pitchFamily="34" charset="0"/>
              </a:rPr>
              <a:t>frames in memory</a:t>
            </a:r>
          </a:p>
        </p:txBody>
      </p:sp>
      <p:sp>
        <p:nvSpPr>
          <p:cNvPr id="59398" name="Oval 6"/>
          <p:cNvSpPr>
            <a:spLocks noChangeArrowheads="1"/>
          </p:cNvSpPr>
          <p:nvPr/>
        </p:nvSpPr>
        <p:spPr bwMode="auto">
          <a:xfrm>
            <a:off x="7620000" y="22225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sp>
        <p:nvSpPr>
          <p:cNvPr id="59399" name="Rectangle 7"/>
          <p:cNvSpPr>
            <a:spLocks noChangeArrowheads="1"/>
          </p:cNvSpPr>
          <p:nvPr/>
        </p:nvSpPr>
        <p:spPr bwMode="auto">
          <a:xfrm>
            <a:off x="8534400" y="1905000"/>
            <a:ext cx="609600" cy="1752600"/>
          </a:xfrm>
          <a:prstGeom prst="rect">
            <a:avLst/>
          </a:prstGeom>
          <a:solidFill>
            <a:schemeClr val="bg1"/>
          </a:solidFill>
          <a:ln w="12700">
            <a:solidFill>
              <a:schemeClr val="tx1"/>
            </a:solidFill>
            <a:miter lim="800000"/>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9400" name="AutoShape 8"/>
          <p:cNvCxnSpPr>
            <a:cxnSpLocks noChangeShapeType="1"/>
            <a:stCxn id="59401" idx="2"/>
            <a:endCxn id="59398" idx="0"/>
          </p:cNvCxnSpPr>
          <p:nvPr/>
        </p:nvCxnSpPr>
        <p:spPr bwMode="auto">
          <a:xfrm flipH="1">
            <a:off x="7804150" y="2063750"/>
            <a:ext cx="882650" cy="158750"/>
          </a:xfrm>
          <a:prstGeom prst="straightConnector1">
            <a:avLst/>
          </a:prstGeom>
          <a:noFill/>
          <a:ln w="3175">
            <a:solidFill>
              <a:srgbClr val="FF0000"/>
            </a:solidFill>
            <a:round/>
            <a:headEnd/>
            <a:tailEnd type="triangle" w="med" len="med"/>
          </a:ln>
        </p:spPr>
      </p:cxnSp>
      <p:sp>
        <p:nvSpPr>
          <p:cNvPr id="59401" name="Oval 9"/>
          <p:cNvSpPr>
            <a:spLocks noChangeArrowheads="1"/>
          </p:cNvSpPr>
          <p:nvPr/>
        </p:nvSpPr>
        <p:spPr bwMode="auto">
          <a:xfrm>
            <a:off x="8686800" y="19939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02" name="Oval 10"/>
          <p:cNvSpPr>
            <a:spLocks noChangeArrowheads="1"/>
          </p:cNvSpPr>
          <p:nvPr/>
        </p:nvSpPr>
        <p:spPr bwMode="auto">
          <a:xfrm>
            <a:off x="8915400" y="19939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03" name="Oval 11"/>
          <p:cNvSpPr>
            <a:spLocks noChangeArrowheads="1"/>
          </p:cNvSpPr>
          <p:nvPr/>
        </p:nvSpPr>
        <p:spPr bwMode="auto">
          <a:xfrm>
            <a:off x="8686800" y="24511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04" name="Oval 12"/>
          <p:cNvSpPr>
            <a:spLocks noChangeArrowheads="1"/>
          </p:cNvSpPr>
          <p:nvPr/>
        </p:nvSpPr>
        <p:spPr bwMode="auto">
          <a:xfrm>
            <a:off x="8915400" y="24511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9405" name="AutoShape 13"/>
          <p:cNvCxnSpPr>
            <a:cxnSpLocks noChangeShapeType="1"/>
            <a:stCxn id="59403" idx="2"/>
            <a:endCxn id="59398" idx="5"/>
          </p:cNvCxnSpPr>
          <p:nvPr/>
        </p:nvCxnSpPr>
        <p:spPr bwMode="auto">
          <a:xfrm flipH="1">
            <a:off x="7934326" y="2520951"/>
            <a:ext cx="752475" cy="15875"/>
          </a:xfrm>
          <a:prstGeom prst="straightConnector1">
            <a:avLst/>
          </a:prstGeom>
          <a:noFill/>
          <a:ln w="3175">
            <a:solidFill>
              <a:srgbClr val="FF0000"/>
            </a:solidFill>
            <a:round/>
            <a:headEnd/>
            <a:tailEnd type="triangle" w="med" len="med"/>
          </a:ln>
        </p:spPr>
      </p:cxnSp>
      <p:sp>
        <p:nvSpPr>
          <p:cNvPr id="59406" name="Oval 14"/>
          <p:cNvSpPr>
            <a:spLocks noChangeArrowheads="1"/>
          </p:cNvSpPr>
          <p:nvPr/>
        </p:nvSpPr>
        <p:spPr bwMode="auto">
          <a:xfrm>
            <a:off x="9690100" y="21463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9407" name="AutoShape 15"/>
          <p:cNvCxnSpPr>
            <a:cxnSpLocks noChangeShapeType="1"/>
            <a:stCxn id="59406" idx="2"/>
          </p:cNvCxnSpPr>
          <p:nvPr/>
        </p:nvCxnSpPr>
        <p:spPr bwMode="auto">
          <a:xfrm flipH="1" flipV="1">
            <a:off x="9142414" y="2311400"/>
            <a:ext cx="547687" cy="19050"/>
          </a:xfrm>
          <a:prstGeom prst="straightConnector1">
            <a:avLst/>
          </a:prstGeom>
          <a:noFill/>
          <a:ln w="3175">
            <a:solidFill>
              <a:srgbClr val="FF0000"/>
            </a:solidFill>
            <a:round/>
            <a:headEnd/>
            <a:tailEnd type="triangle" w="med" len="med"/>
          </a:ln>
        </p:spPr>
      </p:cxnSp>
      <p:cxnSp>
        <p:nvCxnSpPr>
          <p:cNvPr id="59408" name="AutoShape 16"/>
          <p:cNvCxnSpPr>
            <a:cxnSpLocks noChangeShapeType="1"/>
            <a:stCxn id="59406" idx="1"/>
          </p:cNvCxnSpPr>
          <p:nvPr/>
        </p:nvCxnSpPr>
        <p:spPr bwMode="auto">
          <a:xfrm flipH="1" flipV="1">
            <a:off x="9144001" y="2146301"/>
            <a:ext cx="600075" cy="53975"/>
          </a:xfrm>
          <a:prstGeom prst="straightConnector1">
            <a:avLst/>
          </a:prstGeom>
          <a:noFill/>
          <a:ln w="3175">
            <a:solidFill>
              <a:srgbClr val="FF0000"/>
            </a:solidFill>
            <a:round/>
            <a:headEnd/>
            <a:tailEnd type="triangle" w="med" len="med"/>
          </a:ln>
        </p:spPr>
      </p:cxnSp>
      <p:sp>
        <p:nvSpPr>
          <p:cNvPr id="59409" name="Oval 17"/>
          <p:cNvSpPr>
            <a:spLocks noChangeArrowheads="1"/>
          </p:cNvSpPr>
          <p:nvPr/>
        </p:nvSpPr>
        <p:spPr bwMode="auto">
          <a:xfrm>
            <a:off x="7620000" y="312420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9410" name="AutoShape 18"/>
          <p:cNvCxnSpPr>
            <a:cxnSpLocks noChangeShapeType="1"/>
            <a:stCxn id="59411" idx="2"/>
            <a:endCxn id="59409" idx="0"/>
          </p:cNvCxnSpPr>
          <p:nvPr/>
        </p:nvCxnSpPr>
        <p:spPr bwMode="auto">
          <a:xfrm flipH="1">
            <a:off x="7804150" y="2978150"/>
            <a:ext cx="882650" cy="146050"/>
          </a:xfrm>
          <a:prstGeom prst="straightConnector1">
            <a:avLst/>
          </a:prstGeom>
          <a:noFill/>
          <a:ln w="3175">
            <a:solidFill>
              <a:srgbClr val="FF0000"/>
            </a:solidFill>
            <a:round/>
            <a:headEnd/>
            <a:tailEnd type="triangle" w="med" len="med"/>
          </a:ln>
        </p:spPr>
      </p:cxnSp>
      <p:sp>
        <p:nvSpPr>
          <p:cNvPr id="59411" name="Oval 19"/>
          <p:cNvSpPr>
            <a:spLocks noChangeArrowheads="1"/>
          </p:cNvSpPr>
          <p:nvPr/>
        </p:nvSpPr>
        <p:spPr bwMode="auto">
          <a:xfrm>
            <a:off x="8686800" y="29083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12" name="Oval 20"/>
          <p:cNvSpPr>
            <a:spLocks noChangeArrowheads="1"/>
          </p:cNvSpPr>
          <p:nvPr/>
        </p:nvSpPr>
        <p:spPr bwMode="auto">
          <a:xfrm>
            <a:off x="8915400" y="29083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13" name="Oval 21"/>
          <p:cNvSpPr>
            <a:spLocks noChangeArrowheads="1"/>
          </p:cNvSpPr>
          <p:nvPr/>
        </p:nvSpPr>
        <p:spPr bwMode="auto">
          <a:xfrm>
            <a:off x="8686800" y="33655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sp>
        <p:nvSpPr>
          <p:cNvPr id="59414" name="Oval 22"/>
          <p:cNvSpPr>
            <a:spLocks noChangeArrowheads="1"/>
          </p:cNvSpPr>
          <p:nvPr/>
        </p:nvSpPr>
        <p:spPr bwMode="auto">
          <a:xfrm>
            <a:off x="8915400" y="3365500"/>
            <a:ext cx="139700" cy="139700"/>
          </a:xfrm>
          <a:prstGeom prst="ellipse">
            <a:avLst/>
          </a:prstGeom>
          <a:noFill/>
          <a:ln w="12700">
            <a:solidFill>
              <a:schemeClr val="tx1"/>
            </a:solidFill>
            <a:round/>
            <a:headEnd/>
            <a:tailEnd/>
          </a:ln>
        </p:spPr>
        <p:txBody>
          <a:bodyPr wrap="none" anchor="ctr"/>
          <a:lstStyle/>
          <a:p>
            <a:pPr>
              <a:spcBef>
                <a:spcPct val="75000"/>
              </a:spcBef>
              <a:buClr>
                <a:schemeClr val="folHlink"/>
              </a:buClr>
              <a:buSzPct val="80000"/>
              <a:buFont typeface="Wingdings" pitchFamily="2" charset="2"/>
              <a:buChar char="q"/>
            </a:pPr>
            <a:endParaRPr lang="en-US" sz="2800" dirty="0">
              <a:latin typeface="Candara" panose="020E0502030303020204" pitchFamily="34" charset="0"/>
            </a:endParaRPr>
          </a:p>
        </p:txBody>
      </p:sp>
      <p:cxnSp>
        <p:nvCxnSpPr>
          <p:cNvPr id="59415" name="AutoShape 23"/>
          <p:cNvCxnSpPr>
            <a:cxnSpLocks noChangeShapeType="1"/>
            <a:stCxn id="59413" idx="2"/>
            <a:endCxn id="59409" idx="5"/>
          </p:cNvCxnSpPr>
          <p:nvPr/>
        </p:nvCxnSpPr>
        <p:spPr bwMode="auto">
          <a:xfrm flipH="1">
            <a:off x="7934326" y="3435351"/>
            <a:ext cx="752475" cy="3175"/>
          </a:xfrm>
          <a:prstGeom prst="straightConnector1">
            <a:avLst/>
          </a:prstGeom>
          <a:noFill/>
          <a:ln w="3175">
            <a:solidFill>
              <a:srgbClr val="FF0000"/>
            </a:solidFill>
            <a:round/>
            <a:headEnd/>
            <a:tailEnd type="triangle" w="med" len="med"/>
          </a:ln>
        </p:spPr>
      </p:cxnSp>
      <p:sp>
        <p:nvSpPr>
          <p:cNvPr id="59416" name="Oval 24"/>
          <p:cNvSpPr>
            <a:spLocks noChangeArrowheads="1"/>
          </p:cNvSpPr>
          <p:nvPr/>
        </p:nvSpPr>
        <p:spPr bwMode="auto">
          <a:xfrm>
            <a:off x="9690100" y="3067050"/>
            <a:ext cx="368300" cy="368300"/>
          </a:xfrm>
          <a:prstGeom prst="ellipse">
            <a:avLst/>
          </a:prstGeom>
          <a:solidFill>
            <a:schemeClr val="bg1"/>
          </a:solidFill>
          <a:ln w="12700">
            <a:solidFill>
              <a:schemeClr val="tx1"/>
            </a:solidFill>
            <a:round/>
            <a:headEnd/>
            <a:tailEnd/>
          </a:ln>
        </p:spPr>
        <p:txBody>
          <a:bodyPr wrap="none" lIns="90488" tIns="44450" rIns="90488" bIns="44450" anchor="ctr"/>
          <a:lstStyle/>
          <a:p>
            <a:pPr algn="ctr" eaLnBrk="0" hangingPunct="0"/>
            <a:endParaRPr lang="en-US" baseline="-25000" dirty="0">
              <a:solidFill>
                <a:schemeClr val="accent2"/>
              </a:solidFill>
              <a:latin typeface="Candara" panose="020E0502030303020204" pitchFamily="34" charset="0"/>
            </a:endParaRPr>
          </a:p>
        </p:txBody>
      </p:sp>
      <p:cxnSp>
        <p:nvCxnSpPr>
          <p:cNvPr id="59417" name="AutoShape 25"/>
          <p:cNvCxnSpPr>
            <a:cxnSpLocks noChangeShapeType="1"/>
            <a:stCxn id="59416" idx="2"/>
          </p:cNvCxnSpPr>
          <p:nvPr/>
        </p:nvCxnSpPr>
        <p:spPr bwMode="auto">
          <a:xfrm flipH="1" flipV="1">
            <a:off x="9142414" y="3232150"/>
            <a:ext cx="547687" cy="19050"/>
          </a:xfrm>
          <a:prstGeom prst="straightConnector1">
            <a:avLst/>
          </a:prstGeom>
          <a:noFill/>
          <a:ln w="3175">
            <a:solidFill>
              <a:srgbClr val="FF0000"/>
            </a:solidFill>
            <a:round/>
            <a:headEnd/>
            <a:tailEnd type="triangle" w="med" len="med"/>
          </a:ln>
        </p:spPr>
      </p:cxnSp>
      <p:cxnSp>
        <p:nvCxnSpPr>
          <p:cNvPr id="59418" name="AutoShape 26"/>
          <p:cNvCxnSpPr>
            <a:cxnSpLocks noChangeShapeType="1"/>
            <a:stCxn id="59416" idx="1"/>
          </p:cNvCxnSpPr>
          <p:nvPr/>
        </p:nvCxnSpPr>
        <p:spPr bwMode="auto">
          <a:xfrm flipH="1" flipV="1">
            <a:off x="9144001" y="3068639"/>
            <a:ext cx="600075" cy="52387"/>
          </a:xfrm>
          <a:prstGeom prst="straightConnector1">
            <a:avLst/>
          </a:prstGeom>
          <a:noFill/>
          <a:ln w="3175">
            <a:solidFill>
              <a:srgbClr val="FF0000"/>
            </a:solidFill>
            <a:round/>
            <a:headEnd/>
            <a:tailEnd type="triangle" w="med" len="med"/>
          </a:ln>
        </p:spPr>
      </p:cxnSp>
      <p:cxnSp>
        <p:nvCxnSpPr>
          <p:cNvPr id="59419" name="AutoShape 27"/>
          <p:cNvCxnSpPr>
            <a:cxnSpLocks noChangeShapeType="1"/>
            <a:stCxn id="59404" idx="1"/>
            <a:endCxn id="59398" idx="6"/>
          </p:cNvCxnSpPr>
          <p:nvPr/>
        </p:nvCxnSpPr>
        <p:spPr bwMode="auto">
          <a:xfrm flipH="1" flipV="1">
            <a:off x="7988300" y="2406650"/>
            <a:ext cx="947738" cy="65088"/>
          </a:xfrm>
          <a:prstGeom prst="straightConnector1">
            <a:avLst/>
          </a:prstGeom>
          <a:noFill/>
          <a:ln w="3175">
            <a:solidFill>
              <a:srgbClr val="FF0000"/>
            </a:solidFill>
            <a:round/>
            <a:headEnd/>
            <a:tailEnd type="triangle" w="med" len="med"/>
          </a:ln>
        </p:spPr>
      </p:cxnSp>
      <p:cxnSp>
        <p:nvCxnSpPr>
          <p:cNvPr id="59420" name="AutoShape 28"/>
          <p:cNvCxnSpPr>
            <a:cxnSpLocks noChangeShapeType="1"/>
            <a:stCxn id="59402" idx="3"/>
            <a:endCxn id="59398" idx="7"/>
          </p:cNvCxnSpPr>
          <p:nvPr/>
        </p:nvCxnSpPr>
        <p:spPr bwMode="auto">
          <a:xfrm flipH="1">
            <a:off x="7934326" y="2112963"/>
            <a:ext cx="1001713" cy="163512"/>
          </a:xfrm>
          <a:prstGeom prst="straightConnector1">
            <a:avLst/>
          </a:prstGeom>
          <a:noFill/>
          <a:ln w="3175">
            <a:solidFill>
              <a:srgbClr val="FF0000"/>
            </a:solidFill>
            <a:round/>
            <a:headEnd/>
            <a:tailEnd type="triangle" w="med" len="med"/>
          </a:ln>
        </p:spPr>
      </p:cxnSp>
      <p:cxnSp>
        <p:nvCxnSpPr>
          <p:cNvPr id="59421" name="AutoShape 29"/>
          <p:cNvCxnSpPr>
            <a:cxnSpLocks noChangeShapeType="1"/>
            <a:stCxn id="59412" idx="3"/>
            <a:endCxn id="59409" idx="7"/>
          </p:cNvCxnSpPr>
          <p:nvPr/>
        </p:nvCxnSpPr>
        <p:spPr bwMode="auto">
          <a:xfrm flipH="1">
            <a:off x="7934326" y="3027363"/>
            <a:ext cx="1001713" cy="150812"/>
          </a:xfrm>
          <a:prstGeom prst="straightConnector1">
            <a:avLst/>
          </a:prstGeom>
          <a:noFill/>
          <a:ln w="3175">
            <a:solidFill>
              <a:srgbClr val="FF0000"/>
            </a:solidFill>
            <a:round/>
            <a:headEnd/>
            <a:tailEnd type="triangle" w="med" len="med"/>
          </a:ln>
        </p:spPr>
      </p:cxnSp>
      <p:cxnSp>
        <p:nvCxnSpPr>
          <p:cNvPr id="59422" name="AutoShape 30"/>
          <p:cNvCxnSpPr>
            <a:cxnSpLocks noChangeShapeType="1"/>
            <a:stCxn id="59414" idx="1"/>
            <a:endCxn id="59409" idx="6"/>
          </p:cNvCxnSpPr>
          <p:nvPr/>
        </p:nvCxnSpPr>
        <p:spPr bwMode="auto">
          <a:xfrm flipH="1" flipV="1">
            <a:off x="7988300" y="3308350"/>
            <a:ext cx="947738" cy="77788"/>
          </a:xfrm>
          <a:prstGeom prst="straightConnector1">
            <a:avLst/>
          </a:prstGeom>
          <a:noFill/>
          <a:ln w="3175">
            <a:solidFill>
              <a:srgbClr val="FF0000"/>
            </a:solidFill>
            <a:round/>
            <a:headEnd/>
            <a:tailEnd type="triangle" w="med" len="med"/>
          </a:ln>
        </p:spPr>
      </p:cxnSp>
      <p:cxnSp>
        <p:nvCxnSpPr>
          <p:cNvPr id="59423" name="AutoShape 31"/>
          <p:cNvCxnSpPr>
            <a:cxnSpLocks noChangeShapeType="1"/>
            <a:stCxn id="59416" idx="4"/>
          </p:cNvCxnSpPr>
          <p:nvPr/>
        </p:nvCxnSpPr>
        <p:spPr bwMode="auto">
          <a:xfrm flipH="1">
            <a:off x="9144000" y="3435350"/>
            <a:ext cx="730250" cy="69850"/>
          </a:xfrm>
          <a:prstGeom prst="straightConnector1">
            <a:avLst/>
          </a:prstGeom>
          <a:noFill/>
          <a:ln w="3175">
            <a:solidFill>
              <a:srgbClr val="FF0000"/>
            </a:solidFill>
            <a:round/>
            <a:headEnd/>
            <a:tailEnd type="triangle" w="med" len="med"/>
          </a:ln>
        </p:spPr>
      </p:cxnSp>
      <p:cxnSp>
        <p:nvCxnSpPr>
          <p:cNvPr id="59424" name="AutoShape 32"/>
          <p:cNvCxnSpPr>
            <a:cxnSpLocks noChangeShapeType="1"/>
            <a:stCxn id="59416" idx="3"/>
          </p:cNvCxnSpPr>
          <p:nvPr/>
        </p:nvCxnSpPr>
        <p:spPr bwMode="auto">
          <a:xfrm flipH="1" flipV="1">
            <a:off x="9145589" y="3340101"/>
            <a:ext cx="598487" cy="41275"/>
          </a:xfrm>
          <a:prstGeom prst="straightConnector1">
            <a:avLst/>
          </a:prstGeom>
          <a:noFill/>
          <a:ln w="3175">
            <a:solidFill>
              <a:srgbClr val="FF0000"/>
            </a:solidFill>
            <a:round/>
            <a:headEnd/>
            <a:tailEnd type="triangle" w="med" len="med"/>
          </a:ln>
        </p:spPr>
      </p:cxnSp>
      <p:cxnSp>
        <p:nvCxnSpPr>
          <p:cNvPr id="59425" name="AutoShape 33"/>
          <p:cNvCxnSpPr>
            <a:cxnSpLocks noChangeShapeType="1"/>
            <a:stCxn id="59406" idx="4"/>
          </p:cNvCxnSpPr>
          <p:nvPr/>
        </p:nvCxnSpPr>
        <p:spPr bwMode="auto">
          <a:xfrm flipH="1">
            <a:off x="9144000" y="2514600"/>
            <a:ext cx="730250" cy="146050"/>
          </a:xfrm>
          <a:prstGeom prst="straightConnector1">
            <a:avLst/>
          </a:prstGeom>
          <a:noFill/>
          <a:ln w="3175">
            <a:solidFill>
              <a:srgbClr val="FF0000"/>
            </a:solidFill>
            <a:round/>
            <a:headEnd/>
            <a:tailEnd type="triangle" w="med" len="med"/>
          </a:ln>
        </p:spPr>
      </p:cxnSp>
      <p:cxnSp>
        <p:nvCxnSpPr>
          <p:cNvPr id="59426" name="AutoShape 34"/>
          <p:cNvCxnSpPr>
            <a:cxnSpLocks noChangeShapeType="1"/>
            <a:stCxn id="59406" idx="3"/>
          </p:cNvCxnSpPr>
          <p:nvPr/>
        </p:nvCxnSpPr>
        <p:spPr bwMode="auto">
          <a:xfrm flipH="1">
            <a:off x="9145589" y="2460626"/>
            <a:ext cx="598487" cy="34925"/>
          </a:xfrm>
          <a:prstGeom prst="straightConnector1">
            <a:avLst/>
          </a:prstGeom>
          <a:noFill/>
          <a:ln w="3175">
            <a:solidFill>
              <a:srgbClr val="FF0000"/>
            </a:solidFill>
            <a:round/>
            <a:headEn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9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91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lang="en-US" dirty="0"/>
              <a:t>Dinning philosophers</a:t>
            </a:r>
          </a:p>
        </p:txBody>
      </p:sp>
      <p:sp>
        <p:nvSpPr>
          <p:cNvPr id="61442" name="Rectangle 3"/>
          <p:cNvSpPr>
            <a:spLocks noGrp="1" noChangeArrowheads="1"/>
          </p:cNvSpPr>
          <p:nvPr>
            <p:ph idx="1"/>
          </p:nvPr>
        </p:nvSpPr>
        <p:spPr/>
        <p:txBody>
          <a:bodyPr/>
          <a:lstStyle/>
          <a:p>
            <a:r>
              <a:rPr lang="en-US" dirty="0"/>
              <a:t>If anyone wants to eat, make sure both chopsticks are available.</a:t>
            </a:r>
          </a:p>
          <a:p>
            <a:pPr lvl="1"/>
            <a:r>
              <a:rPr lang="en-US" dirty="0"/>
              <a:t>If only one is available, wait.</a:t>
            </a:r>
          </a:p>
          <a:p>
            <a:pPr lvl="1"/>
            <a:r>
              <a:rPr lang="en-US" dirty="0"/>
              <a:t>Don’t pick one and wait for the other.</a:t>
            </a:r>
          </a:p>
        </p:txBody>
      </p:sp>
      <p:sp>
        <p:nvSpPr>
          <p:cNvPr id="4" name="Slide Number Placeholder 3">
            <a:extLst>
              <a:ext uri="{FF2B5EF4-FFF2-40B4-BE49-F238E27FC236}">
                <a16:creationId xmlns:a16="http://schemas.microsoft.com/office/drawing/2014/main" id="{9C05523C-1D5D-7742-815A-29CEB576283C}"/>
              </a:ext>
            </a:extLst>
          </p:cNvPr>
          <p:cNvSpPr>
            <a:spLocks noGrp="1"/>
          </p:cNvSpPr>
          <p:nvPr>
            <p:ph type="sldNum" sz="quarter" idx="12"/>
          </p:nvPr>
        </p:nvSpPr>
        <p:spPr/>
        <p:txBody>
          <a:bodyPr/>
          <a:lstStyle/>
          <a:p>
            <a:pPr>
              <a:defRPr/>
            </a:pPr>
            <a:fld id="{C91549CA-3F3E-4863-879C-314BFB2A8436}"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1"/>
          <p:cNvSpPr>
            <a:spLocks noGrp="1" noChangeArrowheads="1"/>
          </p:cNvSpPr>
          <p:nvPr>
            <p:ph type="title"/>
          </p:nvPr>
        </p:nvSpPr>
        <p:spPr/>
        <p:txBody>
          <a:bodyPr/>
          <a:lstStyle/>
          <a:p>
            <a:r>
              <a:rPr lang="en-US" dirty="0"/>
              <a:t>Limitations</a:t>
            </a:r>
          </a:p>
        </p:txBody>
      </p:sp>
      <p:sp>
        <p:nvSpPr>
          <p:cNvPr id="54274" name="Rectangle 22"/>
          <p:cNvSpPr>
            <a:spLocks noGrp="1" noChangeArrowheads="1"/>
          </p:cNvSpPr>
          <p:nvPr>
            <p:ph idx="1"/>
          </p:nvPr>
        </p:nvSpPr>
        <p:spPr/>
        <p:txBody>
          <a:bodyPr/>
          <a:lstStyle/>
          <a:p>
            <a:r>
              <a:rPr lang="en-US" dirty="0"/>
              <a:t>Encapsulation works against us: </a:t>
            </a:r>
          </a:p>
          <a:p>
            <a:pPr lvl="1"/>
            <a:r>
              <a:rPr lang="en-US" dirty="0"/>
              <a:t>It requires us to know when calling a routine exactly which locks must be held and to acquire them ahead of time. </a:t>
            </a:r>
          </a:p>
          <a:p>
            <a:r>
              <a:rPr lang="en-US" dirty="0"/>
              <a:t>It likely decreases concurrency </a:t>
            </a:r>
          </a:p>
          <a:p>
            <a:pPr lvl="1"/>
            <a:r>
              <a:rPr lang="en-US" dirty="0"/>
              <a:t>All locks must be acquired early on (at once) instead of when they are truly needed. </a:t>
            </a:r>
          </a:p>
        </p:txBody>
      </p:sp>
      <p:sp>
        <p:nvSpPr>
          <p:cNvPr id="4" name="Slide Number Placeholder 3">
            <a:extLst>
              <a:ext uri="{FF2B5EF4-FFF2-40B4-BE49-F238E27FC236}">
                <a16:creationId xmlns:a16="http://schemas.microsoft.com/office/drawing/2014/main" id="{510C35B9-544F-FC40-9F8E-82A4DD136E73}"/>
              </a:ext>
            </a:extLst>
          </p:cNvPr>
          <p:cNvSpPr>
            <a:spLocks noGrp="1"/>
          </p:cNvSpPr>
          <p:nvPr>
            <p:ph type="sldNum" sz="quarter" idx="12"/>
          </p:nvPr>
        </p:nvSpPr>
        <p:spPr/>
        <p:txBody>
          <a:bodyPr/>
          <a:lstStyle/>
          <a:p>
            <a:pPr>
              <a:defRPr/>
            </a:pPr>
            <a:fld id="{C91549CA-3F3E-4863-879C-314BFB2A8436}" type="slidenum">
              <a:rPr lang="en-US" smtClean="0"/>
              <a:pPr>
                <a:defRPr/>
              </a:pPr>
              <a:t>29</a:t>
            </a:fld>
            <a:endParaRPr lang="en-US" dirty="0"/>
          </a:p>
        </p:txBody>
      </p:sp>
    </p:spTree>
    <p:extLst>
      <p:ext uri="{BB962C8B-B14F-4D97-AF65-F5344CB8AC3E}">
        <p14:creationId xmlns:p14="http://schemas.microsoft.com/office/powerpoint/2010/main" val="297895154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4"/>
          <p:cNvSpPr>
            <a:spLocks noGrp="1" noChangeArrowheads="1"/>
          </p:cNvSpPr>
          <p:nvPr>
            <p:ph type="title"/>
          </p:nvPr>
        </p:nvSpPr>
        <p:spPr/>
        <p:txBody>
          <a:bodyPr/>
          <a:lstStyle/>
          <a:p>
            <a:r>
              <a:rPr lang="en-US" dirty="0"/>
              <a:t>(3) no preemption</a:t>
            </a:r>
          </a:p>
        </p:txBody>
      </p:sp>
      <p:sp>
        <p:nvSpPr>
          <p:cNvPr id="62466" name="Rectangle 5"/>
          <p:cNvSpPr>
            <a:spLocks noGrp="1" noChangeArrowheads="1"/>
          </p:cNvSpPr>
          <p:nvPr>
            <p:ph idx="1"/>
          </p:nvPr>
        </p:nvSpPr>
        <p:spPr/>
        <p:txBody>
          <a:bodyPr>
            <a:normAutofit/>
          </a:bodyPr>
          <a:lstStyle/>
          <a:p>
            <a:r>
              <a:rPr lang="en-US" dirty="0"/>
              <a:t>Cause: we generally view locks as held until unlock is called</a:t>
            </a:r>
          </a:p>
          <a:p>
            <a:pPr lvl="1"/>
            <a:r>
              <a:rPr lang="en-US" dirty="0"/>
              <a:t>Multiple lock acquisition often gets us into trouble because when waiting for one lock we are holding another. </a:t>
            </a:r>
          </a:p>
          <a:p>
            <a:r>
              <a:rPr lang="en-US" dirty="0"/>
              <a:t>Many thread libraries provide a more flexible set of interfaces to help avoid this situation. </a:t>
            </a:r>
          </a:p>
          <a:p>
            <a:pPr lvl="1"/>
            <a:r>
              <a:rPr lang="en-US" dirty="0"/>
              <a:t>Specifically, a </a:t>
            </a:r>
            <a:r>
              <a:rPr lang="en-US" dirty="0" err="1"/>
              <a:t>trylock</a:t>
            </a:r>
            <a:r>
              <a:rPr lang="en-US" dirty="0"/>
              <a:t>() routine will grab the lock (if it is available) or return -1 indicating that the lock is held right now and that you should try again later if you want to grab that lock. </a:t>
            </a:r>
          </a:p>
        </p:txBody>
      </p:sp>
      <p:sp>
        <p:nvSpPr>
          <p:cNvPr id="4" name="Slide Number Placeholder 3">
            <a:extLst>
              <a:ext uri="{FF2B5EF4-FFF2-40B4-BE49-F238E27FC236}">
                <a16:creationId xmlns:a16="http://schemas.microsoft.com/office/drawing/2014/main" id="{C50F494B-F1E1-9C4B-9A2F-185317C370A1}"/>
              </a:ext>
            </a:extLst>
          </p:cNvPr>
          <p:cNvSpPr>
            <a:spLocks noGrp="1"/>
          </p:cNvSpPr>
          <p:nvPr>
            <p:ph type="sldNum" sz="quarter" idx="12"/>
          </p:nvPr>
        </p:nvSpPr>
        <p:spPr/>
        <p:txBody>
          <a:bodyPr/>
          <a:lstStyle/>
          <a:p>
            <a:pPr>
              <a:defRPr/>
            </a:pPr>
            <a:fld id="{C91549CA-3F3E-4863-879C-314BFB2A8436}" type="slidenum">
              <a:rPr lang="en-US" smtClean="0"/>
              <a:pPr>
                <a:defRPr/>
              </a:pPr>
              <a:t>30</a:t>
            </a:fld>
            <a:endParaRPr 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4"/>
          <p:cNvSpPr>
            <a:spLocks noGrp="1" noChangeArrowheads="1"/>
          </p:cNvSpPr>
          <p:nvPr>
            <p:ph type="title"/>
          </p:nvPr>
        </p:nvSpPr>
        <p:spPr/>
        <p:txBody>
          <a:bodyPr/>
          <a:lstStyle/>
          <a:p>
            <a:r>
              <a:rPr lang="en-US" dirty="0"/>
              <a:t>(4) circular wait</a:t>
            </a:r>
          </a:p>
        </p:txBody>
      </p:sp>
      <p:sp>
        <p:nvSpPr>
          <p:cNvPr id="64514" name="Rectangle 5"/>
          <p:cNvSpPr>
            <a:spLocks noGrp="1" noChangeArrowheads="1"/>
          </p:cNvSpPr>
          <p:nvPr>
            <p:ph idx="1"/>
          </p:nvPr>
        </p:nvSpPr>
        <p:spPr/>
        <p:txBody>
          <a:bodyPr/>
          <a:lstStyle/>
          <a:p>
            <a:r>
              <a:rPr lang="en-US" dirty="0"/>
              <a:t>Impose a total ordering on lock acquisition:</a:t>
            </a:r>
          </a:p>
          <a:p>
            <a:pPr lvl="1"/>
            <a:r>
              <a:rPr lang="en-US" dirty="0"/>
              <a:t>tape drive: order 1</a:t>
            </a:r>
          </a:p>
          <a:p>
            <a:pPr lvl="1"/>
            <a:r>
              <a:rPr lang="en-US" dirty="0"/>
              <a:t>disk drive: order 5</a:t>
            </a:r>
          </a:p>
          <a:p>
            <a:pPr lvl="1"/>
            <a:r>
              <a:rPr lang="en-US" dirty="0"/>
              <a:t>printer: order 12</a:t>
            </a:r>
          </a:p>
          <a:p>
            <a:pPr lvl="1"/>
            <a:r>
              <a:rPr lang="en-US" dirty="0"/>
              <a:t>…</a:t>
            </a:r>
          </a:p>
          <a:p>
            <a:r>
              <a:rPr lang="en-US" dirty="0"/>
              <a:t>Action:</a:t>
            </a:r>
          </a:p>
          <a:p>
            <a:pPr lvl="1"/>
            <a:r>
              <a:rPr lang="en-US" dirty="0"/>
              <a:t>Request resources in an increasing order.</a:t>
            </a:r>
          </a:p>
          <a:p>
            <a:pPr lvl="1"/>
            <a:r>
              <a:rPr lang="en-US" dirty="0"/>
              <a:t>No circular wait condition can occur.</a:t>
            </a:r>
          </a:p>
        </p:txBody>
      </p:sp>
      <p:sp>
        <p:nvSpPr>
          <p:cNvPr id="4" name="Slide Number Placeholder 3">
            <a:extLst>
              <a:ext uri="{FF2B5EF4-FFF2-40B4-BE49-F238E27FC236}">
                <a16:creationId xmlns:a16="http://schemas.microsoft.com/office/drawing/2014/main" id="{A30A71AA-7443-C741-829A-3E0FAA93AA9A}"/>
              </a:ext>
            </a:extLst>
          </p:cNvPr>
          <p:cNvSpPr>
            <a:spLocks noGrp="1"/>
          </p:cNvSpPr>
          <p:nvPr>
            <p:ph type="sldNum" sz="quarter" idx="12"/>
          </p:nvPr>
        </p:nvSpPr>
        <p:spPr/>
        <p:txBody>
          <a:bodyPr/>
          <a:lstStyle/>
          <a:p>
            <a:pPr>
              <a:defRPr/>
            </a:pPr>
            <a:fld id="{C91549CA-3F3E-4863-879C-314BFB2A8436}" type="slidenum">
              <a:rPr lang="en-US" smtClean="0"/>
              <a:pPr>
                <a:defRPr/>
              </a:pPr>
              <a:t>31</a:t>
            </a:fld>
            <a:endParaRPr lang="en-US"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pPr eaLnBrk="1" hangingPunct="1"/>
            <a:r>
              <a:rPr lang="en-US" dirty="0">
                <a:ea typeface="ＭＳ Ｐゴシック" pitchFamily="34" charset="-128"/>
              </a:rPr>
              <a:t>Outline</a:t>
            </a:r>
          </a:p>
        </p:txBody>
      </p:sp>
      <p:sp>
        <p:nvSpPr>
          <p:cNvPr id="66562" name="Rectangle 3"/>
          <p:cNvSpPr>
            <a:spLocks noGrp="1" noChangeArrowheads="1"/>
          </p:cNvSpPr>
          <p:nvPr>
            <p:ph idx="1"/>
          </p:nvPr>
        </p:nvSpPr>
        <p:spPr/>
        <p:txBody>
          <a:bodyPr/>
          <a:lstStyle/>
          <a:p>
            <a:pPr eaLnBrk="1" hangingPunct="1"/>
            <a:r>
              <a:rPr lang="en-US" dirty="0">
                <a:ea typeface="ＭＳ Ｐゴシック" pitchFamily="34" charset="-128"/>
              </a:rPr>
              <a:t>Why?</a:t>
            </a:r>
          </a:p>
          <a:p>
            <a:pPr lvl="1" eaLnBrk="1" hangingPunct="1"/>
            <a:r>
              <a:rPr lang="en-US" dirty="0">
                <a:ea typeface="ＭＳ Ｐゴシック" pitchFamily="34" charset="-128"/>
              </a:rPr>
              <a:t>The deadlock problem</a:t>
            </a:r>
          </a:p>
          <a:p>
            <a:pPr eaLnBrk="1" hangingPunct="1"/>
            <a:r>
              <a:rPr lang="en-US" dirty="0">
                <a:ea typeface="ＭＳ Ｐゴシック" pitchFamily="34" charset="-128"/>
              </a:rPr>
              <a:t>What?</a:t>
            </a:r>
          </a:p>
          <a:p>
            <a:pPr lvl="1" eaLnBrk="1" hangingPunct="1"/>
            <a:r>
              <a:rPr lang="en-US" dirty="0">
                <a:ea typeface="ＭＳ Ｐゴシック" pitchFamily="34" charset="-128"/>
              </a:rPr>
              <a:t>The exact definition</a:t>
            </a:r>
          </a:p>
          <a:p>
            <a:pPr eaLnBrk="1" hangingPunct="1"/>
            <a:r>
              <a:rPr lang="en-US" dirty="0">
                <a:solidFill>
                  <a:schemeClr val="tx2"/>
                </a:solidFill>
                <a:ea typeface="ＭＳ Ｐゴシック" pitchFamily="34" charset="-128"/>
              </a:rPr>
              <a:t>How?</a:t>
            </a:r>
          </a:p>
          <a:p>
            <a:pPr lvl="1" eaLnBrk="1" hangingPunct="1"/>
            <a:r>
              <a:rPr lang="en-US" dirty="0">
                <a:ea typeface="ＭＳ Ｐゴシック" pitchFamily="34" charset="-128"/>
              </a:rPr>
              <a:t>Prevention </a:t>
            </a:r>
          </a:p>
          <a:p>
            <a:pPr lvl="1" eaLnBrk="1" hangingPunct="1"/>
            <a:r>
              <a:rPr lang="en-US" dirty="0">
                <a:solidFill>
                  <a:srgbClr val="FF0000"/>
                </a:solidFill>
                <a:ea typeface="ＭＳ Ｐゴシック" pitchFamily="34" charset="-128"/>
              </a:rPr>
              <a:t>Avoidance </a:t>
            </a:r>
          </a:p>
        </p:txBody>
      </p:sp>
      <p:sp>
        <p:nvSpPr>
          <p:cNvPr id="4" name="Slide Number Placeholder 3">
            <a:extLst>
              <a:ext uri="{FF2B5EF4-FFF2-40B4-BE49-F238E27FC236}">
                <a16:creationId xmlns:a16="http://schemas.microsoft.com/office/drawing/2014/main" id="{66F81707-9875-3F40-8503-BFFAE5B1C6A1}"/>
              </a:ext>
            </a:extLst>
          </p:cNvPr>
          <p:cNvSpPr>
            <a:spLocks noGrp="1"/>
          </p:cNvSpPr>
          <p:nvPr>
            <p:ph type="sldNum" sz="quarter" idx="12"/>
          </p:nvPr>
        </p:nvSpPr>
        <p:spPr/>
        <p:txBody>
          <a:bodyPr/>
          <a:lstStyle/>
          <a:p>
            <a:pPr>
              <a:defRPr/>
            </a:pPr>
            <a:fld id="{C91549CA-3F3E-4863-879C-314BFB2A8436}" type="slidenum">
              <a:rPr lang="en-US" smtClean="0"/>
              <a:pPr>
                <a:defRPr/>
              </a:pPr>
              <a:t>32</a:t>
            </a:fld>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10"/>
          <p:cNvSpPr>
            <a:spLocks noGrp="1" noChangeArrowheads="1"/>
          </p:cNvSpPr>
          <p:nvPr>
            <p:ph type="title"/>
          </p:nvPr>
        </p:nvSpPr>
        <p:spPr/>
        <p:txBody>
          <a:bodyPr/>
          <a:lstStyle/>
          <a:p>
            <a:pPr eaLnBrk="1" hangingPunct="1"/>
            <a:r>
              <a:rPr lang="en-US" sz="3600" dirty="0">
                <a:ea typeface="ＭＳ Ｐゴシック" pitchFamily="34" charset="-128"/>
              </a:rPr>
              <a:t>Deadlock avoidance via scheduling</a:t>
            </a:r>
          </a:p>
        </p:txBody>
      </p:sp>
      <p:sp>
        <p:nvSpPr>
          <p:cNvPr id="68610" name="Rectangle 11"/>
          <p:cNvSpPr>
            <a:spLocks noGrp="1" noChangeArrowheads="1"/>
          </p:cNvSpPr>
          <p:nvPr>
            <p:ph idx="1"/>
          </p:nvPr>
        </p:nvSpPr>
        <p:spPr/>
        <p:txBody>
          <a:bodyPr>
            <a:normAutofit/>
          </a:bodyPr>
          <a:lstStyle/>
          <a:p>
            <a:pPr eaLnBrk="1" hangingPunct="1"/>
            <a:r>
              <a:rPr lang="en-US" dirty="0">
                <a:ea typeface="ＭＳ Ｐゴシック" pitchFamily="34" charset="-128"/>
              </a:rPr>
              <a:t>Deadlock prevention</a:t>
            </a:r>
          </a:p>
          <a:p>
            <a:pPr lvl="1" eaLnBrk="1" hangingPunct="1"/>
            <a:r>
              <a:rPr lang="en-GB" dirty="0">
                <a:ea typeface="ＭＳ Ｐゴシック" pitchFamily="34" charset="-128"/>
              </a:rPr>
              <a:t>Pass a law against one of four </a:t>
            </a:r>
            <a:r>
              <a:rPr lang="en-US" dirty="0">
                <a:ea typeface="ＭＳ Ｐゴシック" pitchFamily="34" charset="-128"/>
              </a:rPr>
              <a:t>necessary conditions </a:t>
            </a:r>
          </a:p>
          <a:p>
            <a:pPr lvl="1" eaLnBrk="1" hangingPunct="1"/>
            <a:r>
              <a:rPr lang="en-US" dirty="0">
                <a:ea typeface="ＭＳ Ｐゴシック" pitchFamily="34" charset="-128"/>
              </a:rPr>
              <a:t>Problem: low device utilization</a:t>
            </a:r>
          </a:p>
          <a:p>
            <a:pPr eaLnBrk="1" hangingPunct="1"/>
            <a:r>
              <a:rPr lang="en-US" dirty="0">
                <a:ea typeface="ＭＳ Ｐゴシック" pitchFamily="34" charset="-128"/>
              </a:rPr>
              <a:t>Alternative: deadlock avoidance via scheduling</a:t>
            </a:r>
          </a:p>
          <a:p>
            <a:pPr lvl="1"/>
            <a:r>
              <a:rPr lang="en-US" dirty="0"/>
              <a:t>Require some global knowledge of resource usage.</a:t>
            </a:r>
          </a:p>
          <a:p>
            <a:pPr lvl="1"/>
            <a:r>
              <a:rPr lang="en-US" dirty="0"/>
              <a:t>Schedule all requests carefully (maybe delay some requests).</a:t>
            </a:r>
          </a:p>
        </p:txBody>
      </p:sp>
      <p:sp>
        <p:nvSpPr>
          <p:cNvPr id="4" name="Slide Number Placeholder 3">
            <a:extLst>
              <a:ext uri="{FF2B5EF4-FFF2-40B4-BE49-F238E27FC236}">
                <a16:creationId xmlns:a16="http://schemas.microsoft.com/office/drawing/2014/main" id="{5B76775A-8983-0B43-9DE7-9B7C14F4D1B6}"/>
              </a:ext>
            </a:extLst>
          </p:cNvPr>
          <p:cNvSpPr>
            <a:spLocks noGrp="1"/>
          </p:cNvSpPr>
          <p:nvPr>
            <p:ph type="sldNum" sz="quarter" idx="12"/>
          </p:nvPr>
        </p:nvSpPr>
        <p:spPr/>
        <p:txBody>
          <a:bodyPr/>
          <a:lstStyle/>
          <a:p>
            <a:pPr>
              <a:defRPr/>
            </a:pPr>
            <a:fld id="{C91549CA-3F3E-4863-879C-314BFB2A8436}" type="slidenum">
              <a:rPr lang="en-US" smtClean="0"/>
              <a:pPr>
                <a:defRPr/>
              </a:pPr>
              <a:t>33</a:t>
            </a:fld>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dirty="0">
                <a:ea typeface="ＭＳ Ｐゴシック" pitchFamily="34" charset="-128"/>
              </a:rPr>
              <a:t>Example</a:t>
            </a:r>
          </a:p>
        </p:txBody>
      </p:sp>
      <p:sp>
        <p:nvSpPr>
          <p:cNvPr id="70658" name="Content Placeholder 2"/>
          <p:cNvSpPr>
            <a:spLocks noGrp="1"/>
          </p:cNvSpPr>
          <p:nvPr>
            <p:ph sz="half" idx="1"/>
          </p:nvPr>
        </p:nvSpPr>
        <p:spPr/>
        <p:txBody>
          <a:bodyPr/>
          <a:lstStyle/>
          <a:p>
            <a:pPr eaLnBrk="1" hangingPunct="1"/>
            <a:r>
              <a:rPr lang="en-US" dirty="0">
                <a:ea typeface="ＭＳ Ｐゴシック" pitchFamily="34" charset="-128"/>
              </a:rPr>
              <a:t>Thread A:</a:t>
            </a:r>
          </a:p>
          <a:p>
            <a:pPr lvl="1" eaLnBrk="1" hangingPunct="1"/>
            <a:r>
              <a:rPr lang="en-US" dirty="0">
                <a:ea typeface="ＭＳ Ｐゴシック" pitchFamily="34" charset="-128"/>
              </a:rPr>
              <a:t>needs the printer from X1 to X3; </a:t>
            </a:r>
          </a:p>
          <a:p>
            <a:pPr lvl="1" eaLnBrk="1" hangingPunct="1"/>
            <a:r>
              <a:rPr lang="en-US" dirty="0">
                <a:ea typeface="ＭＳ Ｐゴシック" pitchFamily="34" charset="-128"/>
              </a:rPr>
              <a:t>needs the plotter from X2 to X4.</a:t>
            </a:r>
          </a:p>
          <a:p>
            <a:pPr eaLnBrk="1" hangingPunct="1"/>
            <a:r>
              <a:rPr lang="en-US" dirty="0">
                <a:ea typeface="ＭＳ Ｐゴシック" pitchFamily="34" charset="-128"/>
              </a:rPr>
              <a:t>Thread B:</a:t>
            </a:r>
          </a:p>
          <a:p>
            <a:pPr lvl="1" eaLnBrk="1" hangingPunct="1"/>
            <a:r>
              <a:rPr lang="en-US" dirty="0">
                <a:ea typeface="ＭＳ Ｐゴシック" pitchFamily="34" charset="-128"/>
              </a:rPr>
              <a:t>needs the plotter from Y1 to Y3; </a:t>
            </a:r>
          </a:p>
          <a:p>
            <a:pPr lvl="1" eaLnBrk="1" hangingPunct="1"/>
            <a:r>
              <a:rPr lang="en-US" dirty="0">
                <a:ea typeface="ＭＳ Ｐゴシック" pitchFamily="34" charset="-128"/>
              </a:rPr>
              <a:t>needs the printer from Y2 to Y4.</a:t>
            </a:r>
          </a:p>
        </p:txBody>
      </p:sp>
      <p:sp>
        <p:nvSpPr>
          <p:cNvPr id="4" name="Slide Number Placeholder 3">
            <a:extLst>
              <a:ext uri="{FF2B5EF4-FFF2-40B4-BE49-F238E27FC236}">
                <a16:creationId xmlns:a16="http://schemas.microsoft.com/office/drawing/2014/main" id="{3D7E0AE6-771E-A945-8392-CEB4B1918FF5}"/>
              </a:ext>
            </a:extLst>
          </p:cNvPr>
          <p:cNvSpPr>
            <a:spLocks noGrp="1"/>
          </p:cNvSpPr>
          <p:nvPr>
            <p:ph type="sldNum" sz="quarter" idx="12"/>
          </p:nvPr>
        </p:nvSpPr>
        <p:spPr/>
        <p:txBody>
          <a:bodyPr/>
          <a:lstStyle/>
          <a:p>
            <a:pPr>
              <a:defRPr/>
            </a:pPr>
            <a:fld id="{E6A16A8C-2D22-4328-8F0C-A3AB0F93D1AC}" type="slidenum">
              <a:rPr lang="en-US" smtClean="0"/>
              <a:pPr>
                <a:defRPr/>
              </a:pPr>
              <a:t>34</a:t>
            </a:fld>
            <a:endParaRPr lang="en-US" dirty="0"/>
          </a:p>
        </p:txBody>
      </p:sp>
      <p:pic>
        <p:nvPicPr>
          <p:cNvPr id="12" name="Picture 6">
            <a:extLst>
              <a:ext uri="{FF2B5EF4-FFF2-40B4-BE49-F238E27FC236}">
                <a16:creationId xmlns:a16="http://schemas.microsoft.com/office/drawing/2014/main" id="{48B12FAF-CC30-6941-A275-CAAA5B32E243}"/>
              </a:ext>
            </a:extLst>
          </p:cNvPr>
          <p:cNvPicPr>
            <a:picLocks noChangeAspect="1"/>
          </p:cNvPicPr>
          <p:nvPr/>
        </p:nvPicPr>
        <p:blipFill>
          <a:blip r:embed="rId2"/>
          <a:srcRect/>
          <a:stretch>
            <a:fillRect/>
          </a:stretch>
        </p:blipFill>
        <p:spPr bwMode="auto">
          <a:xfrm>
            <a:off x="6204357" y="1905000"/>
            <a:ext cx="4205287" cy="2590800"/>
          </a:xfrm>
          <a:prstGeom prst="rect">
            <a:avLst/>
          </a:prstGeom>
          <a:noFill/>
          <a:ln w="9525">
            <a:noFill/>
            <a:miter lim="800000"/>
            <a:headEnd/>
            <a:tailEnd/>
          </a:ln>
        </p:spPr>
      </p:pic>
      <p:sp>
        <p:nvSpPr>
          <p:cNvPr id="13" name="TextBox 12">
            <a:extLst>
              <a:ext uri="{FF2B5EF4-FFF2-40B4-BE49-F238E27FC236}">
                <a16:creationId xmlns:a16="http://schemas.microsoft.com/office/drawing/2014/main" id="{A6A2AF9A-DD69-324E-884C-68993597D778}"/>
              </a:ext>
            </a:extLst>
          </p:cNvPr>
          <p:cNvSpPr txBox="1"/>
          <p:nvPr/>
        </p:nvSpPr>
        <p:spPr>
          <a:xfrm>
            <a:off x="6195257" y="1905000"/>
            <a:ext cx="632986" cy="184666"/>
          </a:xfrm>
          <a:prstGeom prst="rect">
            <a:avLst/>
          </a:prstGeom>
          <a:solidFill>
            <a:schemeClr val="bg1"/>
          </a:solidFill>
        </p:spPr>
        <p:txBody>
          <a:bodyPr wrap="none" lIns="0" tIns="0" rIns="0" bIns="0" rtlCol="0">
            <a:spAutoFit/>
          </a:bodyPr>
          <a:lstStyle/>
          <a:p>
            <a:r>
              <a:rPr lang="en-US" sz="1200" dirty="0">
                <a:latin typeface="Arial"/>
                <a:cs typeface="Arial"/>
              </a:rPr>
              <a:t>Thread B</a:t>
            </a:r>
          </a:p>
        </p:txBody>
      </p:sp>
      <p:sp>
        <p:nvSpPr>
          <p:cNvPr id="14" name="TextBox 13">
            <a:extLst>
              <a:ext uri="{FF2B5EF4-FFF2-40B4-BE49-F238E27FC236}">
                <a16:creationId xmlns:a16="http://schemas.microsoft.com/office/drawing/2014/main" id="{0B69F756-7F89-4940-AFAE-B4A242AB22A0}"/>
              </a:ext>
            </a:extLst>
          </p:cNvPr>
          <p:cNvSpPr txBox="1"/>
          <p:nvPr/>
        </p:nvSpPr>
        <p:spPr>
          <a:xfrm>
            <a:off x="9776657" y="4191000"/>
            <a:ext cx="632986" cy="184666"/>
          </a:xfrm>
          <a:prstGeom prst="rect">
            <a:avLst/>
          </a:prstGeom>
          <a:solidFill>
            <a:schemeClr val="bg1"/>
          </a:solidFill>
        </p:spPr>
        <p:txBody>
          <a:bodyPr wrap="none" lIns="0" tIns="0" rIns="0" bIns="0" rtlCol="0">
            <a:spAutoFit/>
          </a:bodyPr>
          <a:lstStyle/>
          <a:p>
            <a:r>
              <a:rPr lang="en-US" sz="1200" dirty="0">
                <a:latin typeface="Arial"/>
                <a:cs typeface="Arial"/>
              </a:rPr>
              <a:t>Thread 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Picture 6"/>
          <p:cNvPicPr>
            <a:picLocks noChangeAspect="1"/>
          </p:cNvPicPr>
          <p:nvPr/>
        </p:nvPicPr>
        <p:blipFill>
          <a:blip r:embed="rId3"/>
          <a:srcRect/>
          <a:stretch>
            <a:fillRect/>
          </a:stretch>
        </p:blipFill>
        <p:spPr bwMode="auto">
          <a:xfrm>
            <a:off x="7300913" y="762000"/>
            <a:ext cx="4205287" cy="2590800"/>
          </a:xfrm>
          <a:prstGeom prst="rect">
            <a:avLst/>
          </a:prstGeom>
          <a:noFill/>
          <a:ln w="9525">
            <a:noFill/>
            <a:miter lim="800000"/>
            <a:headEnd/>
            <a:tailEnd/>
          </a:ln>
        </p:spPr>
      </p:pic>
      <p:sp>
        <p:nvSpPr>
          <p:cNvPr id="71682" name="Title 1"/>
          <p:cNvSpPr>
            <a:spLocks noGrp="1"/>
          </p:cNvSpPr>
          <p:nvPr>
            <p:ph type="title"/>
          </p:nvPr>
        </p:nvSpPr>
        <p:spPr/>
        <p:txBody>
          <a:bodyPr/>
          <a:lstStyle/>
          <a:p>
            <a:r>
              <a:rPr lang="en-US" dirty="0"/>
              <a:t>Example (cont’d)</a:t>
            </a:r>
          </a:p>
        </p:txBody>
      </p:sp>
      <p:sp>
        <p:nvSpPr>
          <p:cNvPr id="71683" name="Content Placeholder 2"/>
          <p:cNvSpPr>
            <a:spLocks noGrp="1"/>
          </p:cNvSpPr>
          <p:nvPr>
            <p:ph idx="1"/>
          </p:nvPr>
        </p:nvSpPr>
        <p:spPr/>
        <p:txBody>
          <a:bodyPr>
            <a:normAutofit fontScale="77500" lnSpcReduction="20000"/>
          </a:bodyPr>
          <a:lstStyle/>
          <a:p>
            <a:r>
              <a:rPr lang="en-US" dirty="0"/>
              <a:t>If the system ever enters the </a:t>
            </a:r>
            <a:br>
              <a:rPr lang="en-US" dirty="0"/>
            </a:br>
            <a:r>
              <a:rPr lang="en-US" dirty="0"/>
              <a:t>red-bordered state, it will </a:t>
            </a:r>
            <a:br>
              <a:rPr lang="en-US" dirty="0"/>
            </a:br>
            <a:r>
              <a:rPr lang="en-US" dirty="0"/>
              <a:t>deadlock.</a:t>
            </a:r>
          </a:p>
          <a:p>
            <a:pPr lvl="1"/>
            <a:r>
              <a:rPr lang="en-US" dirty="0"/>
              <a:t>Later, A requests the </a:t>
            </a:r>
            <a:br>
              <a:rPr lang="en-US" dirty="0"/>
            </a:br>
            <a:r>
              <a:rPr lang="en-US" dirty="0"/>
              <a:t>plotter and B requests the </a:t>
            </a:r>
            <a:br>
              <a:rPr lang="en-US" dirty="0"/>
            </a:br>
            <a:r>
              <a:rPr lang="en-US" dirty="0"/>
              <a:t>printer, and both are already assigned. </a:t>
            </a:r>
          </a:p>
          <a:p>
            <a:pPr lvl="1"/>
            <a:r>
              <a:rPr lang="en-US" dirty="0"/>
              <a:t>The entire box is unsafe and must not be entered. </a:t>
            </a:r>
          </a:p>
          <a:p>
            <a:r>
              <a:rPr lang="en-US" dirty="0"/>
              <a:t>The important thing to see here is that at point T, B is requesting a resource. </a:t>
            </a:r>
          </a:p>
          <a:p>
            <a:pPr lvl="1"/>
            <a:r>
              <a:rPr lang="en-US" dirty="0"/>
              <a:t>The system must decide whether to grant it or not. </a:t>
            </a:r>
          </a:p>
          <a:p>
            <a:pPr lvl="1"/>
            <a:r>
              <a:rPr lang="en-US" dirty="0"/>
              <a:t>If the grant is made, the system will enter an unsafe region and eventually deadlock. </a:t>
            </a:r>
          </a:p>
          <a:p>
            <a:pPr lvl="1"/>
            <a:r>
              <a:rPr lang="en-US" dirty="0"/>
              <a:t>To avoid the deadlock, B should be suspended until A has requested and released the plotter.</a:t>
            </a:r>
          </a:p>
        </p:txBody>
      </p:sp>
      <p:sp>
        <p:nvSpPr>
          <p:cNvPr id="6" name="TextBox 5"/>
          <p:cNvSpPr txBox="1"/>
          <p:nvPr/>
        </p:nvSpPr>
        <p:spPr>
          <a:xfrm>
            <a:off x="7291813" y="762000"/>
            <a:ext cx="632986" cy="184666"/>
          </a:xfrm>
          <a:prstGeom prst="rect">
            <a:avLst/>
          </a:prstGeom>
          <a:solidFill>
            <a:schemeClr val="bg1"/>
          </a:solidFill>
        </p:spPr>
        <p:txBody>
          <a:bodyPr wrap="none" lIns="0" tIns="0" rIns="0" bIns="0" rtlCol="0">
            <a:spAutoFit/>
          </a:bodyPr>
          <a:lstStyle/>
          <a:p>
            <a:r>
              <a:rPr lang="en-US" sz="1200" dirty="0">
                <a:latin typeface="Arial"/>
                <a:cs typeface="Arial"/>
              </a:rPr>
              <a:t>Thread B</a:t>
            </a:r>
          </a:p>
        </p:txBody>
      </p:sp>
      <p:sp>
        <p:nvSpPr>
          <p:cNvPr id="7" name="TextBox 6"/>
          <p:cNvSpPr txBox="1"/>
          <p:nvPr/>
        </p:nvSpPr>
        <p:spPr>
          <a:xfrm>
            <a:off x="10873213" y="3048000"/>
            <a:ext cx="632986" cy="184666"/>
          </a:xfrm>
          <a:prstGeom prst="rect">
            <a:avLst/>
          </a:prstGeom>
          <a:solidFill>
            <a:schemeClr val="bg1"/>
          </a:solidFill>
        </p:spPr>
        <p:txBody>
          <a:bodyPr wrap="none" lIns="0" tIns="0" rIns="0" bIns="0" rtlCol="0">
            <a:spAutoFit/>
          </a:bodyPr>
          <a:lstStyle/>
          <a:p>
            <a:r>
              <a:rPr lang="en-US" sz="1200" dirty="0">
                <a:latin typeface="Arial"/>
                <a:cs typeface="Arial"/>
              </a:rPr>
              <a:t>Thread A</a:t>
            </a:r>
          </a:p>
        </p:txBody>
      </p:sp>
      <p:sp>
        <p:nvSpPr>
          <p:cNvPr id="4" name="Slide Number Placeholder 3">
            <a:extLst>
              <a:ext uri="{FF2B5EF4-FFF2-40B4-BE49-F238E27FC236}">
                <a16:creationId xmlns:a16="http://schemas.microsoft.com/office/drawing/2014/main" id="{7F340CAF-67F2-AD42-B98C-996D10F74F14}"/>
              </a:ext>
            </a:extLst>
          </p:cNvPr>
          <p:cNvSpPr>
            <a:spLocks noGrp="1"/>
          </p:cNvSpPr>
          <p:nvPr>
            <p:ph type="sldNum" sz="quarter" idx="12"/>
          </p:nvPr>
        </p:nvSpPr>
        <p:spPr/>
        <p:txBody>
          <a:bodyPr/>
          <a:lstStyle/>
          <a:p>
            <a:pPr>
              <a:defRPr/>
            </a:pPr>
            <a:fld id="{C91549CA-3F3E-4863-879C-314BFB2A8436}" type="slidenum">
              <a:rPr lang="en-US" smtClean="0"/>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4"/>
          <p:cNvSpPr>
            <a:spLocks noGrp="1" noChangeArrowheads="1"/>
          </p:cNvSpPr>
          <p:nvPr>
            <p:ph type="title"/>
          </p:nvPr>
        </p:nvSpPr>
        <p:spPr/>
        <p:txBody>
          <a:bodyPr>
            <a:normAutofit/>
          </a:bodyPr>
          <a:lstStyle/>
          <a:p>
            <a:r>
              <a:rPr lang="en-US" dirty="0"/>
              <a:t>The Banker’s algorithm (Dijkstra, Haberman)</a:t>
            </a:r>
          </a:p>
        </p:txBody>
      </p:sp>
      <p:sp>
        <p:nvSpPr>
          <p:cNvPr id="83970" name="Rectangle 5"/>
          <p:cNvSpPr>
            <a:spLocks noGrp="1" noChangeArrowheads="1"/>
          </p:cNvSpPr>
          <p:nvPr>
            <p:ph idx="1"/>
          </p:nvPr>
        </p:nvSpPr>
        <p:spPr/>
        <p:txBody>
          <a:bodyPr/>
          <a:lstStyle/>
          <a:p>
            <a:r>
              <a:rPr lang="en-US" dirty="0"/>
              <a:t>Have every thread declare its maximum resource requirements (i.e. maximum number of units required for each resource).</a:t>
            </a:r>
          </a:p>
          <a:p>
            <a:r>
              <a:rPr lang="en-US" dirty="0"/>
              <a:t>Whenever thread requests resources, determine if granting the request at this time leaves system in a safe state (no potential deadlock) . </a:t>
            </a:r>
          </a:p>
          <a:p>
            <a:pPr lvl="1"/>
            <a:r>
              <a:rPr lang="en-US" dirty="0"/>
              <a:t>If not, delay the request.</a:t>
            </a:r>
          </a:p>
        </p:txBody>
      </p:sp>
      <p:sp>
        <p:nvSpPr>
          <p:cNvPr id="4" name="Slide Number Placeholder 3">
            <a:extLst>
              <a:ext uri="{FF2B5EF4-FFF2-40B4-BE49-F238E27FC236}">
                <a16:creationId xmlns:a16="http://schemas.microsoft.com/office/drawing/2014/main" id="{D6F07AA7-0028-BA4F-95E4-90E456563511}"/>
              </a:ext>
            </a:extLst>
          </p:cNvPr>
          <p:cNvSpPr>
            <a:spLocks noGrp="1"/>
          </p:cNvSpPr>
          <p:nvPr>
            <p:ph type="sldNum" sz="quarter" idx="12"/>
          </p:nvPr>
        </p:nvSpPr>
        <p:spPr/>
        <p:txBody>
          <a:bodyPr/>
          <a:lstStyle/>
          <a:p>
            <a:pPr>
              <a:defRPr/>
            </a:pPr>
            <a:fld id="{C91549CA-3F3E-4863-879C-314BFB2A8436}" type="slidenum">
              <a:rPr lang="en-US" smtClean="0"/>
              <a:pPr>
                <a:defRPr/>
              </a:pPr>
              <a:t>36</a:t>
            </a:fld>
            <a:endParaRPr lang="en-US" dirty="0"/>
          </a:p>
        </p:txBody>
      </p:sp>
    </p:spTree>
    <p:extLst>
      <p:ext uri="{BB962C8B-B14F-4D97-AF65-F5344CB8AC3E}">
        <p14:creationId xmlns:p14="http://schemas.microsoft.com/office/powerpoint/2010/main" val="373917981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p:txBody>
          <a:bodyPr/>
          <a:lstStyle/>
          <a:p>
            <a:pPr eaLnBrk="1" hangingPunct="1"/>
            <a:r>
              <a:rPr lang="en-US" dirty="0">
                <a:ea typeface="ＭＳ Ｐゴシック" pitchFamily="34" charset="-128"/>
              </a:rPr>
              <a:t>Outline</a:t>
            </a:r>
          </a:p>
        </p:txBody>
      </p:sp>
      <p:sp>
        <p:nvSpPr>
          <p:cNvPr id="100354" name="Rectangle 3"/>
          <p:cNvSpPr>
            <a:spLocks noGrp="1" noChangeArrowheads="1"/>
          </p:cNvSpPr>
          <p:nvPr>
            <p:ph idx="1"/>
          </p:nvPr>
        </p:nvSpPr>
        <p:spPr/>
        <p:txBody>
          <a:bodyPr/>
          <a:lstStyle/>
          <a:p>
            <a:pPr eaLnBrk="1" hangingPunct="1"/>
            <a:r>
              <a:rPr lang="en-US" dirty="0">
                <a:ea typeface="ＭＳ Ｐゴシック" pitchFamily="34" charset="-128"/>
              </a:rPr>
              <a:t>Why?</a:t>
            </a:r>
          </a:p>
          <a:p>
            <a:pPr lvl="1" eaLnBrk="1" hangingPunct="1"/>
            <a:r>
              <a:rPr lang="en-US" dirty="0">
                <a:ea typeface="ＭＳ Ｐゴシック" pitchFamily="34" charset="-128"/>
              </a:rPr>
              <a:t>The deadlock problem</a:t>
            </a:r>
          </a:p>
          <a:p>
            <a:pPr eaLnBrk="1" hangingPunct="1"/>
            <a:r>
              <a:rPr lang="en-US" dirty="0">
                <a:ea typeface="ＭＳ Ｐゴシック" pitchFamily="34" charset="-128"/>
              </a:rPr>
              <a:t>What?</a:t>
            </a:r>
          </a:p>
          <a:p>
            <a:pPr lvl="1" eaLnBrk="1" hangingPunct="1"/>
            <a:r>
              <a:rPr lang="en-US" dirty="0">
                <a:ea typeface="ＭＳ Ｐゴシック" pitchFamily="34" charset="-128"/>
              </a:rPr>
              <a:t>The exact definition</a:t>
            </a:r>
          </a:p>
          <a:p>
            <a:pPr eaLnBrk="1" hangingPunct="1"/>
            <a:r>
              <a:rPr lang="en-US" dirty="0">
                <a:solidFill>
                  <a:schemeClr val="tx2"/>
                </a:solidFill>
                <a:ea typeface="ＭＳ Ｐゴシック" pitchFamily="34" charset="-128"/>
              </a:rPr>
              <a:t>How?</a:t>
            </a:r>
          </a:p>
          <a:p>
            <a:pPr lvl="1" eaLnBrk="1" hangingPunct="1"/>
            <a:r>
              <a:rPr lang="en-US" dirty="0">
                <a:ea typeface="ＭＳ Ｐゴシック" pitchFamily="34" charset="-128"/>
              </a:rPr>
              <a:t>Prevention </a:t>
            </a:r>
          </a:p>
          <a:p>
            <a:pPr lvl="1" eaLnBrk="1" hangingPunct="1"/>
            <a:r>
              <a:rPr lang="en-US" dirty="0">
                <a:ea typeface="ＭＳ Ｐゴシック" pitchFamily="34" charset="-128"/>
              </a:rPr>
              <a:t>Avoidance </a:t>
            </a:r>
          </a:p>
          <a:p>
            <a:pPr lvl="1" eaLnBrk="1" hangingPunct="1"/>
            <a:r>
              <a:rPr lang="en-US" dirty="0">
                <a:solidFill>
                  <a:srgbClr val="FF0000"/>
                </a:solidFill>
                <a:ea typeface="ＭＳ Ｐゴシック" pitchFamily="34" charset="-128"/>
              </a:rPr>
              <a:t>Detection and recovery </a:t>
            </a:r>
          </a:p>
        </p:txBody>
      </p:sp>
      <p:sp>
        <p:nvSpPr>
          <p:cNvPr id="4" name="Slide Number Placeholder 3">
            <a:extLst>
              <a:ext uri="{FF2B5EF4-FFF2-40B4-BE49-F238E27FC236}">
                <a16:creationId xmlns:a16="http://schemas.microsoft.com/office/drawing/2014/main" id="{EED027EF-D535-FD47-A28C-B9E54E61A0CE}"/>
              </a:ext>
            </a:extLst>
          </p:cNvPr>
          <p:cNvSpPr>
            <a:spLocks noGrp="1"/>
          </p:cNvSpPr>
          <p:nvPr>
            <p:ph type="sldNum" sz="quarter" idx="12"/>
          </p:nvPr>
        </p:nvSpPr>
        <p:spPr/>
        <p:txBody>
          <a:bodyPr/>
          <a:lstStyle/>
          <a:p>
            <a:pPr>
              <a:defRPr/>
            </a:pPr>
            <a:fld id="{C91549CA-3F3E-4863-879C-314BFB2A8436}" type="slidenum">
              <a:rPr lang="en-US" smtClean="0"/>
              <a:pPr>
                <a:defRPr/>
              </a:pPr>
              <a:t>37</a:t>
            </a:fld>
            <a:endParaRPr 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4"/>
          <p:cNvSpPr>
            <a:spLocks noGrp="1" noChangeArrowheads="1"/>
          </p:cNvSpPr>
          <p:nvPr>
            <p:ph type="title"/>
          </p:nvPr>
        </p:nvSpPr>
        <p:spPr/>
        <p:txBody>
          <a:bodyPr/>
          <a:lstStyle/>
          <a:p>
            <a:r>
              <a:rPr lang="en-US" dirty="0"/>
              <a:t>Deadlock detection &amp; recovery</a:t>
            </a:r>
          </a:p>
        </p:txBody>
      </p:sp>
      <p:sp>
        <p:nvSpPr>
          <p:cNvPr id="60420" name="Rectangle 5"/>
          <p:cNvSpPr>
            <a:spLocks noGrp="1" noChangeArrowheads="1"/>
          </p:cNvSpPr>
          <p:nvPr>
            <p:ph idx="1"/>
          </p:nvPr>
        </p:nvSpPr>
        <p:spPr/>
        <p:txBody>
          <a:bodyPr>
            <a:normAutofit fontScale="92500"/>
          </a:bodyPr>
          <a:lstStyle/>
          <a:p>
            <a:r>
              <a:rPr lang="en-US" dirty="0"/>
              <a:t>Deadlock prevention and avoidance are cautious approaches.  </a:t>
            </a:r>
          </a:p>
          <a:p>
            <a:pPr lvl="1"/>
            <a:r>
              <a:rPr lang="en-US" dirty="0"/>
              <a:t>May overly reduce resource utilization.</a:t>
            </a:r>
          </a:p>
          <a:p>
            <a:r>
              <a:rPr lang="en-US" dirty="0"/>
              <a:t>Alternative</a:t>
            </a:r>
          </a:p>
          <a:p>
            <a:pPr lvl="1"/>
            <a:r>
              <a:rPr lang="en-US" dirty="0"/>
              <a:t>Periodically analyze RAG, detect deadlocks, and initiate recovery.</a:t>
            </a:r>
          </a:p>
          <a:p>
            <a:r>
              <a:rPr lang="en-US" dirty="0"/>
              <a:t>Advantages:</a:t>
            </a:r>
          </a:p>
          <a:p>
            <a:pPr lvl="1"/>
            <a:r>
              <a:rPr lang="en-US" dirty="0"/>
              <a:t>A priori knowledge of resource requirements not needed.</a:t>
            </a:r>
          </a:p>
          <a:p>
            <a:pPr lvl="1"/>
            <a:r>
              <a:rPr lang="en-US" dirty="0"/>
              <a:t>Higher resource utilization</a:t>
            </a:r>
          </a:p>
          <a:p>
            <a:r>
              <a:rPr lang="en-US" dirty="0"/>
              <a:t>Disadvantages:</a:t>
            </a:r>
          </a:p>
          <a:p>
            <a:pPr lvl="1"/>
            <a:r>
              <a:rPr lang="en-US" dirty="0"/>
              <a:t>Cost of recovery</a:t>
            </a:r>
          </a:p>
        </p:txBody>
      </p:sp>
      <p:sp>
        <p:nvSpPr>
          <p:cNvPr id="4" name="Slide Number Placeholder 3">
            <a:extLst>
              <a:ext uri="{FF2B5EF4-FFF2-40B4-BE49-F238E27FC236}">
                <a16:creationId xmlns:a16="http://schemas.microsoft.com/office/drawing/2014/main" id="{48718142-65F3-E547-A015-D31344516208}"/>
              </a:ext>
            </a:extLst>
          </p:cNvPr>
          <p:cNvSpPr>
            <a:spLocks noGrp="1"/>
          </p:cNvSpPr>
          <p:nvPr>
            <p:ph type="sldNum" sz="quarter" idx="12"/>
          </p:nvPr>
        </p:nvSpPr>
        <p:spPr/>
        <p:txBody>
          <a:bodyPr/>
          <a:lstStyle/>
          <a:p>
            <a:pPr>
              <a:defRPr/>
            </a:pPr>
            <a:fld id="{C91549CA-3F3E-4863-879C-314BFB2A8436}" type="slidenum">
              <a:rPr lang="en-US" smtClean="0"/>
              <a:pPr>
                <a:defRPr/>
              </a:pPr>
              <a:t>38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2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2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042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4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2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2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42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420">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4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4"/>
          <p:cNvSpPr>
            <a:spLocks noGrp="1" noChangeArrowheads="1"/>
          </p:cNvSpPr>
          <p:nvPr>
            <p:ph type="title"/>
          </p:nvPr>
        </p:nvSpPr>
        <p:spPr/>
        <p:txBody>
          <a:bodyPr>
            <a:normAutofit fontScale="90000"/>
          </a:bodyPr>
          <a:lstStyle/>
          <a:p>
            <a:r>
              <a:rPr lang="en-US" dirty="0"/>
              <a:t>One more thing about deadlock</a:t>
            </a:r>
            <a:r>
              <a:rPr lang="en-US"/>
              <a:t>: </a:t>
            </a:r>
            <a:br>
              <a:rPr lang="en-US"/>
            </a:br>
            <a:r>
              <a:rPr lang="en-US"/>
              <a:t>the </a:t>
            </a:r>
            <a:r>
              <a:rPr lang="en-US" dirty="0"/>
              <a:t>engineer’s approach</a:t>
            </a:r>
          </a:p>
        </p:txBody>
      </p:sp>
      <p:sp>
        <p:nvSpPr>
          <p:cNvPr id="76804" name="Rectangle 5"/>
          <p:cNvSpPr>
            <a:spLocks noGrp="1" noChangeArrowheads="1"/>
          </p:cNvSpPr>
          <p:nvPr>
            <p:ph idx="1"/>
          </p:nvPr>
        </p:nvSpPr>
        <p:spPr/>
        <p:txBody>
          <a:bodyPr/>
          <a:lstStyle/>
          <a:p>
            <a:r>
              <a:rPr lang="en-US" dirty="0"/>
              <a:t>Q: Why not ignore deadlocks altogether?</a:t>
            </a:r>
          </a:p>
          <a:p>
            <a:pPr lvl="1"/>
            <a:r>
              <a:rPr lang="en-US" dirty="0"/>
              <a:t>The Ostrich Algorithm: pretend there is no problem</a:t>
            </a:r>
          </a:p>
          <a:p>
            <a:r>
              <a:rPr lang="en-US" dirty="0"/>
              <a:t>Deadlocks in Unix:</a:t>
            </a:r>
          </a:p>
          <a:p>
            <a:pPr lvl="1"/>
            <a:r>
              <a:rPr lang="en-US" dirty="0"/>
              <a:t>Process table: size limits total number of processes</a:t>
            </a:r>
          </a:p>
          <a:p>
            <a:pPr lvl="1"/>
            <a:r>
              <a:rPr lang="en-US" dirty="0" err="1"/>
              <a:t>i</a:t>
            </a:r>
            <a:r>
              <a:rPr lang="en-US" dirty="0"/>
              <a:t>-node table: size limits the number of open files.</a:t>
            </a:r>
          </a:p>
          <a:p>
            <a:r>
              <a:rPr lang="en-US" dirty="0"/>
              <a:t>Most users prefer an occasional deadlock to a rule that unduly restricts them.</a:t>
            </a:r>
          </a:p>
        </p:txBody>
      </p:sp>
      <p:sp>
        <p:nvSpPr>
          <p:cNvPr id="4" name="Slide Number Placeholder 3">
            <a:extLst>
              <a:ext uri="{FF2B5EF4-FFF2-40B4-BE49-F238E27FC236}">
                <a16:creationId xmlns:a16="http://schemas.microsoft.com/office/drawing/2014/main" id="{9FCF5503-65DF-B848-8BC7-7E9A9F20C762}"/>
              </a:ext>
            </a:extLst>
          </p:cNvPr>
          <p:cNvSpPr>
            <a:spLocks noGrp="1"/>
          </p:cNvSpPr>
          <p:nvPr>
            <p:ph type="sldNum" sz="quarter" idx="12"/>
          </p:nvPr>
        </p:nvSpPr>
        <p:spPr/>
        <p:txBody>
          <a:bodyPr/>
          <a:lstStyle/>
          <a:p>
            <a:pPr>
              <a:defRPr/>
            </a:pPr>
            <a:fld id="{C91549CA-3F3E-4863-879C-314BFB2A8436}" type="slidenum">
              <a:rPr lang="en-US" smtClean="0"/>
              <a:pPr>
                <a:defRPr/>
              </a:pPr>
              <a:t>39</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80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680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80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80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80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bodyPr vert="horz" lIns="91440" tIns="0" rIns="45720" bIns="0" rtlCol="0" anchor="t">
        <a:normAutofit/>
        <a:scene3d>
          <a:camera prst="orthographicFront"/>
          <a:lightRig rig="threePt" dir="t">
            <a:rot lat="0" lon="0" rev="4800000"/>
          </a:lightRig>
        </a:scene3d>
        <a:sp3d prstMaterial="matte">
          <a:bevelT w="50800" h="10160"/>
        </a:sp3d>
      </a:bodyPr>
      <a:lstStyle>
        <a:defPPr algn="ctr">
          <a:defRPr sz="3200" dirty="0" smtClean="0"/>
        </a:defPPr>
      </a:lstStyle>
    </a:txDef>
  </a:objectDefaults>
  <a:extraClrSchemeLst/>
  <a:extLst>
    <a:ext uri="{05A4C25C-085E-4340-85A3-A5531E510DB2}">
      <thm15:themeFamily xmlns:thm15="http://schemas.microsoft.com/office/thememl/2012/main" name="course-2019-09" id="{B316ACE2-95DC-AC4D-9B1C-A91C775734BE}" vid="{64A54FAB-7894-1E4A-B404-E7ABACBA122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course-2019-09</Template>
  <TotalTime>4173</TotalTime>
  <Words>2143</Words>
  <Application>Microsoft Office PowerPoint</Application>
  <PresentationFormat>Widescreen</PresentationFormat>
  <Paragraphs>374</Paragraphs>
  <Slides>39</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Candara</vt:lpstr>
      <vt:lpstr>Comic Sans MS</vt:lpstr>
      <vt:lpstr>Times New Roman</vt:lpstr>
      <vt:lpstr>Wingdings</vt:lpstr>
      <vt:lpstr>Wingdings 2</vt:lpstr>
      <vt:lpstr>Module</vt:lpstr>
      <vt:lpstr>Concurrency: Deadlock</vt:lpstr>
      <vt:lpstr>PowerPoint Presentation</vt:lpstr>
      <vt:lpstr>PowerPoint Presentation</vt:lpstr>
      <vt:lpstr>Mars Pathfinder</vt:lpstr>
      <vt:lpstr>Software glitches </vt:lpstr>
      <vt:lpstr>What’s wrong?</vt:lpstr>
      <vt:lpstr>Outline</vt:lpstr>
      <vt:lpstr>The deadlock problem</vt:lpstr>
      <vt:lpstr>Deadlock in a law</vt:lpstr>
      <vt:lpstr>Examples of deadlocks: dining-philosophers</vt:lpstr>
      <vt:lpstr>Examples of deadlocks: file sharing</vt:lpstr>
      <vt:lpstr>Examples of deadlocks: traffic</vt:lpstr>
      <vt:lpstr>Outline</vt:lpstr>
      <vt:lpstr>The resource model</vt:lpstr>
      <vt:lpstr>Resource Allocation Graph (RAG)</vt:lpstr>
      <vt:lpstr>Example of RAG</vt:lpstr>
      <vt:lpstr>Quiz (RAG)</vt:lpstr>
      <vt:lpstr>Solution (RAG)</vt:lpstr>
      <vt:lpstr>Necessary conditions for deadlocks</vt:lpstr>
      <vt:lpstr>RAG and deadlocks</vt:lpstr>
      <vt:lpstr>Quiz</vt:lpstr>
      <vt:lpstr>Outline</vt:lpstr>
      <vt:lpstr>Deadlock prevention</vt:lpstr>
      <vt:lpstr>(1) mutual exclusion</vt:lpstr>
      <vt:lpstr>(2) hold and wait</vt:lpstr>
      <vt:lpstr>Thrashing - Why?</vt:lpstr>
      <vt:lpstr>Thrashing - How?</vt:lpstr>
      <vt:lpstr>Dinning philosophers</vt:lpstr>
      <vt:lpstr>Limitations</vt:lpstr>
      <vt:lpstr>(3) no preemption</vt:lpstr>
      <vt:lpstr>(4) circular wait</vt:lpstr>
      <vt:lpstr>Outline</vt:lpstr>
      <vt:lpstr>Deadlock avoidance via scheduling</vt:lpstr>
      <vt:lpstr>Example</vt:lpstr>
      <vt:lpstr>Example (cont’d)</vt:lpstr>
      <vt:lpstr>The Banker’s algorithm (Dijkstra, Haberman)</vt:lpstr>
      <vt:lpstr>Outline</vt:lpstr>
      <vt:lpstr>Deadlock detection &amp; recovery</vt:lpstr>
      <vt:lpstr>One more thing about deadlock:  the engineer’s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Probir Roy</dc:creator>
  <cp:lastModifiedBy>Probir Roy</cp:lastModifiedBy>
  <cp:revision>622</cp:revision>
  <cp:lastPrinted>2008-01-09T20:50:56Z</cp:lastPrinted>
  <dcterms:created xsi:type="dcterms:W3CDTF">2010-09-02T17:38:46Z</dcterms:created>
  <dcterms:modified xsi:type="dcterms:W3CDTF">2021-11-01T17:51:20Z</dcterms:modified>
</cp:coreProperties>
</file>